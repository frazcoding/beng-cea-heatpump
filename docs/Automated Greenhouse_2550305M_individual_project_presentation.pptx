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70" r:id="rId9"/>
    <p:sldId id="263" r:id="rId10"/>
    <p:sldId id="264" r:id="rId11"/>
    <p:sldId id="265" r:id="rId12"/>
    <p:sldId id="266" r:id="rId13"/>
    <p:sldId id="267" r:id="rId14"/>
    <p:sldId id="268"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Canva Sans" panose="020B0604020202020204" charset="0"/>
      <p:regular r:id="rId29"/>
    </p:embeddedFont>
    <p:embeddedFont>
      <p:font typeface="Canva Sans Bold" panose="020B0604020202020204" charset="0"/>
      <p:regular r:id="rId30"/>
    </p:embeddedFont>
    <p:embeddedFont>
      <p:font typeface="Now Bold" panose="020B0604020202020204" charset="0"/>
      <p:regular r:id="rId31"/>
    </p:embeddedFont>
    <p:embeddedFont>
      <p:font typeface="Now Heavy" panose="020B0604020202020204" charset="0"/>
      <p:regular r:id="rId32"/>
    </p:embeddedFont>
    <p:embeddedFont>
      <p:font typeface="Raleway Bold" pitchFamily="2" charset="0"/>
      <p:regular r:id="rId33"/>
      <p:bold r:id="rId34"/>
    </p:embeddedFont>
    <p:embeddedFont>
      <p:font typeface="Raleway Heavy" panose="020B0604020202020204"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B617D8-08EA-F228-6637-A8D7D156A005}" v="10" dt="2024-03-16T14:08:25.329"/>
    <p1510:client id="{4C9678B7-DA29-BE5D-1450-4721DAAE3462}" v="43" dt="2024-03-16T21:38:35.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ser Mclellan (student)" userId="S::2550305m@student.gla.ac.uk::ce5a9270-4cc5-4e86-9f6e-07514278199b" providerId="AD" clId="Web-{19B617D8-08EA-F228-6637-A8D7D156A005}"/>
    <pc:docChg chg="addSld delSld modSld">
      <pc:chgData name="Fraser Mclellan (student)" userId="S::2550305m@student.gla.ac.uk::ce5a9270-4cc5-4e86-9f6e-07514278199b" providerId="AD" clId="Web-{19B617D8-08EA-F228-6637-A8D7D156A005}" dt="2024-03-16T14:08:25.329" v="9" actId="1076"/>
      <pc:docMkLst>
        <pc:docMk/>
      </pc:docMkLst>
      <pc:sldChg chg="modSp">
        <pc:chgData name="Fraser Mclellan (student)" userId="S::2550305m@student.gla.ac.uk::ce5a9270-4cc5-4e86-9f6e-07514278199b" providerId="AD" clId="Web-{19B617D8-08EA-F228-6637-A8D7D156A005}" dt="2024-03-16T14:08:25.329" v="9" actId="1076"/>
        <pc:sldMkLst>
          <pc:docMk/>
          <pc:sldMk cId="0" sldId="258"/>
        </pc:sldMkLst>
        <pc:spChg chg="mod">
          <ac:chgData name="Fraser Mclellan (student)" userId="S::2550305m@student.gla.ac.uk::ce5a9270-4cc5-4e86-9f6e-07514278199b" providerId="AD" clId="Web-{19B617D8-08EA-F228-6637-A8D7D156A005}" dt="2024-03-16T14:08:25.329" v="9" actId="1076"/>
          <ac:spMkLst>
            <pc:docMk/>
            <pc:sldMk cId="0" sldId="258"/>
            <ac:spMk id="2" creationId="{00000000-0000-0000-0000-000000000000}"/>
          </ac:spMkLst>
        </pc:spChg>
      </pc:sldChg>
      <pc:sldChg chg="new del">
        <pc:chgData name="Fraser Mclellan (student)" userId="S::2550305m@student.gla.ac.uk::ce5a9270-4cc5-4e86-9f6e-07514278199b" providerId="AD" clId="Web-{19B617D8-08EA-F228-6637-A8D7D156A005}" dt="2024-03-16T13:46:41.902" v="7"/>
        <pc:sldMkLst>
          <pc:docMk/>
          <pc:sldMk cId="444617434" sldId="282"/>
        </pc:sldMkLst>
      </pc:sldChg>
      <pc:sldChg chg="new del">
        <pc:chgData name="Fraser Mclellan (student)" userId="S::2550305m@student.gla.ac.uk::ce5a9270-4cc5-4e86-9f6e-07514278199b" providerId="AD" clId="Web-{19B617D8-08EA-F228-6637-A8D7D156A005}" dt="2024-03-16T13:32:36.080" v="1"/>
        <pc:sldMkLst>
          <pc:docMk/>
          <pc:sldMk cId="1022931706" sldId="282"/>
        </pc:sldMkLst>
      </pc:sldChg>
      <pc:sldChg chg="new del">
        <pc:chgData name="Fraser Mclellan (student)" userId="S::2550305m@student.gla.ac.uk::ce5a9270-4cc5-4e86-9f6e-07514278199b" providerId="AD" clId="Web-{19B617D8-08EA-F228-6637-A8D7D156A005}" dt="2024-03-16T13:43:24.154" v="5"/>
        <pc:sldMkLst>
          <pc:docMk/>
          <pc:sldMk cId="1282142157" sldId="282"/>
        </pc:sldMkLst>
      </pc:sldChg>
      <pc:sldChg chg="new">
        <pc:chgData name="Fraser Mclellan (student)" userId="S::2550305m@student.gla.ac.uk::ce5a9270-4cc5-4e86-9f6e-07514278199b" providerId="AD" clId="Web-{19B617D8-08EA-F228-6637-A8D7D156A005}" dt="2024-03-16T13:59:22.697" v="8"/>
        <pc:sldMkLst>
          <pc:docMk/>
          <pc:sldMk cId="1603473758" sldId="282"/>
        </pc:sldMkLst>
      </pc:sldChg>
      <pc:sldChg chg="new del">
        <pc:chgData name="Fraser Mclellan (student)" userId="S::2550305m@student.gla.ac.uk::ce5a9270-4cc5-4e86-9f6e-07514278199b" providerId="AD" clId="Web-{19B617D8-08EA-F228-6637-A8D7D156A005}" dt="2024-03-16T13:43:17.779" v="3"/>
        <pc:sldMkLst>
          <pc:docMk/>
          <pc:sldMk cId="4107295431" sldId="282"/>
        </pc:sldMkLst>
      </pc:sldChg>
    </pc:docChg>
  </pc:docChgLst>
  <pc:docChgLst>
    <pc:chgData name="Fraser Mclellan (student)" userId="S::2550305m@student.gla.ac.uk::ce5a9270-4cc5-4e86-9f6e-07514278199b" providerId="AD" clId="Web-{4C9678B7-DA29-BE5D-1450-4721DAAE3462}"/>
    <pc:docChg chg="delSld modSld sldOrd">
      <pc:chgData name="Fraser Mclellan (student)" userId="S::2550305m@student.gla.ac.uk::ce5a9270-4cc5-4e86-9f6e-07514278199b" providerId="AD" clId="Web-{4C9678B7-DA29-BE5D-1450-4721DAAE3462}" dt="2024-03-16T21:38:35.713" v="33" actId="14100"/>
      <pc:docMkLst>
        <pc:docMk/>
      </pc:docMkLst>
      <pc:sldChg chg="modSp">
        <pc:chgData name="Fraser Mclellan (student)" userId="S::2550305m@student.gla.ac.uk::ce5a9270-4cc5-4e86-9f6e-07514278199b" providerId="AD" clId="Web-{4C9678B7-DA29-BE5D-1450-4721DAAE3462}" dt="2024-03-16T20:54:31.676" v="1" actId="20577"/>
        <pc:sldMkLst>
          <pc:docMk/>
          <pc:sldMk cId="0" sldId="263"/>
        </pc:sldMkLst>
        <pc:spChg chg="mod">
          <ac:chgData name="Fraser Mclellan (student)" userId="S::2550305m@student.gla.ac.uk::ce5a9270-4cc5-4e86-9f6e-07514278199b" providerId="AD" clId="Web-{4C9678B7-DA29-BE5D-1450-4721DAAE3462}" dt="2024-03-16T20:54:31.676" v="1" actId="20577"/>
          <ac:spMkLst>
            <pc:docMk/>
            <pc:sldMk cId="0" sldId="263"/>
            <ac:spMk id="4" creationId="{00000000-0000-0000-0000-000000000000}"/>
          </ac:spMkLst>
        </pc:spChg>
      </pc:sldChg>
      <pc:sldChg chg="addSp modSp">
        <pc:chgData name="Fraser Mclellan (student)" userId="S::2550305m@student.gla.ac.uk::ce5a9270-4cc5-4e86-9f6e-07514278199b" providerId="AD" clId="Web-{4C9678B7-DA29-BE5D-1450-4721DAAE3462}" dt="2024-03-16T21:25:03.782" v="10" actId="1076"/>
        <pc:sldMkLst>
          <pc:docMk/>
          <pc:sldMk cId="0" sldId="264"/>
        </pc:sldMkLst>
        <pc:picChg chg="add mod">
          <ac:chgData name="Fraser Mclellan (student)" userId="S::2550305m@student.gla.ac.uk::ce5a9270-4cc5-4e86-9f6e-07514278199b" providerId="AD" clId="Web-{4C9678B7-DA29-BE5D-1450-4721DAAE3462}" dt="2024-03-16T21:25:03.782" v="10" actId="1076"/>
          <ac:picMkLst>
            <pc:docMk/>
            <pc:sldMk cId="0" sldId="264"/>
            <ac:picMk id="6" creationId="{FC9AD1C0-599A-5273-E71C-014965DC3FC5}"/>
          </ac:picMkLst>
        </pc:picChg>
      </pc:sldChg>
      <pc:sldChg chg="addSp modSp">
        <pc:chgData name="Fraser Mclellan (student)" userId="S::2550305m@student.gla.ac.uk::ce5a9270-4cc5-4e86-9f6e-07514278199b" providerId="AD" clId="Web-{4C9678B7-DA29-BE5D-1450-4721DAAE3462}" dt="2024-03-16T21:25:41.752" v="13" actId="1076"/>
        <pc:sldMkLst>
          <pc:docMk/>
          <pc:sldMk cId="0" sldId="265"/>
        </pc:sldMkLst>
        <pc:picChg chg="add mod">
          <ac:chgData name="Fraser Mclellan (student)" userId="S::2550305m@student.gla.ac.uk::ce5a9270-4cc5-4e86-9f6e-07514278199b" providerId="AD" clId="Web-{4C9678B7-DA29-BE5D-1450-4721DAAE3462}" dt="2024-03-16T21:25:41.752" v="13" actId="1076"/>
          <ac:picMkLst>
            <pc:docMk/>
            <pc:sldMk cId="0" sldId="265"/>
            <ac:picMk id="6" creationId="{06A50D8C-97A8-31E7-B41D-E327EB814B7E}"/>
          </ac:picMkLst>
        </pc:picChg>
      </pc:sldChg>
      <pc:sldChg chg="addSp modSp">
        <pc:chgData name="Fraser Mclellan (student)" userId="S::2550305m@student.gla.ac.uk::ce5a9270-4cc5-4e86-9f6e-07514278199b" providerId="AD" clId="Web-{4C9678B7-DA29-BE5D-1450-4721DAAE3462}" dt="2024-03-16T21:38:35.713" v="33" actId="14100"/>
        <pc:sldMkLst>
          <pc:docMk/>
          <pc:sldMk cId="0" sldId="266"/>
        </pc:sldMkLst>
        <pc:spChg chg="mod">
          <ac:chgData name="Fraser Mclellan (student)" userId="S::2550305m@student.gla.ac.uk::ce5a9270-4cc5-4e86-9f6e-07514278199b" providerId="AD" clId="Web-{4C9678B7-DA29-BE5D-1450-4721DAAE3462}" dt="2024-03-16T21:15:35.688" v="4" actId="1076"/>
          <ac:spMkLst>
            <pc:docMk/>
            <pc:sldMk cId="0" sldId="266"/>
            <ac:spMk id="5" creationId="{00000000-0000-0000-0000-000000000000}"/>
          </ac:spMkLst>
        </pc:spChg>
        <pc:picChg chg="add mod">
          <ac:chgData name="Fraser Mclellan (student)" userId="S::2550305m@student.gla.ac.uk::ce5a9270-4cc5-4e86-9f6e-07514278199b" providerId="AD" clId="Web-{4C9678B7-DA29-BE5D-1450-4721DAAE3462}" dt="2024-03-16T21:26:19.112" v="15" actId="1076"/>
          <ac:picMkLst>
            <pc:docMk/>
            <pc:sldMk cId="0" sldId="266"/>
            <ac:picMk id="6" creationId="{8A730721-8517-6C57-8CDC-EAB4AA636749}"/>
          </ac:picMkLst>
        </pc:picChg>
        <pc:picChg chg="add mod modCrop">
          <ac:chgData name="Fraser Mclellan (student)" userId="S::2550305m@student.gla.ac.uk::ce5a9270-4cc5-4e86-9f6e-07514278199b" providerId="AD" clId="Web-{4C9678B7-DA29-BE5D-1450-4721DAAE3462}" dt="2024-03-16T21:38:35.713" v="33" actId="14100"/>
          <ac:picMkLst>
            <pc:docMk/>
            <pc:sldMk cId="0" sldId="266"/>
            <ac:picMk id="7" creationId="{CE05F7D3-250C-AA5F-F608-D1200CEBC12F}"/>
          </ac:picMkLst>
        </pc:picChg>
      </pc:sldChg>
      <pc:sldChg chg="addSp modSp">
        <pc:chgData name="Fraser Mclellan (student)" userId="S::2550305m@student.gla.ac.uk::ce5a9270-4cc5-4e86-9f6e-07514278199b" providerId="AD" clId="Web-{4C9678B7-DA29-BE5D-1450-4721DAAE3462}" dt="2024-03-16T21:27:26.786" v="17" actId="1076"/>
        <pc:sldMkLst>
          <pc:docMk/>
          <pc:sldMk cId="0" sldId="268"/>
        </pc:sldMkLst>
        <pc:picChg chg="add mod">
          <ac:chgData name="Fraser Mclellan (student)" userId="S::2550305m@student.gla.ac.uk::ce5a9270-4cc5-4e86-9f6e-07514278199b" providerId="AD" clId="Web-{4C9678B7-DA29-BE5D-1450-4721DAAE3462}" dt="2024-03-16T21:27:26.786" v="17" actId="1076"/>
          <ac:picMkLst>
            <pc:docMk/>
            <pc:sldMk cId="0" sldId="268"/>
            <ac:picMk id="14" creationId="{C0DEB024-A3E0-7C6F-CEF1-44E2BCABB8D8}"/>
          </ac:picMkLst>
        </pc:picChg>
      </pc:sldChg>
      <pc:sldChg chg="addSp modSp">
        <pc:chgData name="Fraser Mclellan (student)" userId="S::2550305m@student.gla.ac.uk::ce5a9270-4cc5-4e86-9f6e-07514278199b" providerId="AD" clId="Web-{4C9678B7-DA29-BE5D-1450-4721DAAE3462}" dt="2024-03-16T21:28:03.943" v="20" actId="1076"/>
        <pc:sldMkLst>
          <pc:docMk/>
          <pc:sldMk cId="0" sldId="269"/>
        </pc:sldMkLst>
        <pc:picChg chg="add mod">
          <ac:chgData name="Fraser Mclellan (student)" userId="S::2550305m@student.gla.ac.uk::ce5a9270-4cc5-4e86-9f6e-07514278199b" providerId="AD" clId="Web-{4C9678B7-DA29-BE5D-1450-4721DAAE3462}" dt="2024-03-16T21:28:03.943" v="20" actId="1076"/>
          <ac:picMkLst>
            <pc:docMk/>
            <pc:sldMk cId="0" sldId="269"/>
            <ac:picMk id="9" creationId="{8200212D-D1C2-FA85-0C37-8968CDD494AE}"/>
          </ac:picMkLst>
        </pc:picChg>
      </pc:sldChg>
      <pc:sldChg chg="ord">
        <pc:chgData name="Fraser Mclellan (student)" userId="S::2550305m@student.gla.ac.uk::ce5a9270-4cc5-4e86-9f6e-07514278199b" providerId="AD" clId="Web-{4C9678B7-DA29-BE5D-1450-4721DAAE3462}" dt="2024-03-16T21:24:06.890" v="5"/>
        <pc:sldMkLst>
          <pc:docMk/>
          <pc:sldMk cId="0" sldId="270"/>
        </pc:sldMkLst>
      </pc:sldChg>
      <pc:sldChg chg="del">
        <pc:chgData name="Fraser Mclellan (student)" userId="S::2550305m@student.gla.ac.uk::ce5a9270-4cc5-4e86-9f6e-07514278199b" providerId="AD" clId="Web-{4C9678B7-DA29-BE5D-1450-4721DAAE3462}" dt="2024-03-16T21:02:37.076" v="2"/>
        <pc:sldMkLst>
          <pc:docMk/>
          <pc:sldMk cId="1603473758" sldId="2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16.03.2024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With temperatures around the world risnig, many sub-saharan and equatorial regions will become non-arable. Many of the crops we import regions where we grow, soyabean, avacados and many of the fruits and vegetables we in our society cook and eat every day. If we are going to continue without change in our diets, we most change our production methods.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 a country we currently import  ? amount of fruit and veg on an annual basis. This results in a large carbon footprint ? . however this can be changed if we were able to replicate the environment in the UK and massively cut down carbon emmissions from transport, and deforestation. The only question is how do we do so sustainably. Currently 71% of uk land used for agriculture. Much of that is livestock cultivation. food and drink inflatoin as of last year was at 18%. With rising prices and running out of space. tThere must be a way to become self sufficient in fruit and vegetable production. </a:t>
            </a:r>
          </a:p>
          <a:p>
            <a:r>
              <a:rPr lang="en-US"/>
              <a:t>32% of our imports come from moderately to highly vulnerable locatoins. 2020, 44% vegetables imported</a:t>
            </a:r>
          </a:p>
          <a:p>
            <a:r>
              <a:rPr lang="en-US"/>
              <a:t>84% for fruits.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present the study we will follow this process. first the initial design parameters of the greenhous.</a:t>
            </a:r>
          </a:p>
          <a:p>
            <a:r>
              <a:rPr lang="en-US"/>
              <a:t>secondly the external environments effects on the greenhous.</a:t>
            </a:r>
          </a:p>
          <a:p>
            <a:r>
              <a:rPr lang="en-US"/>
              <a:t>followed by the heat pumps contributions to maintaining the required temperature.</a:t>
            </a:r>
          </a:p>
          <a:p>
            <a:r>
              <a:rPr lang="en-US"/>
              <a:t>And finally the overall effects and feasibility.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site chosen for the greenhouse was close to Chelmsford, I'm not sure any of you will of been or heard of it but it is a small town on the coast north east of london. It sits near the river Crouch which would supply the water source heat pump, along with year round temperature data going back to 200?. The daily highs and lows of both ground and air temp were extracted and manipulated by the equation seen on screen to form a day night cycle. This data is essential in calculating the heat losses due to the external surroundings as you will see.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greenhouse itself is 400m^2 in area with a height of 5m this is on the large end of the industrial scale. This is to assume replicating the imports from abroad would take multiple (how many) greenhouses of this size to match the demand. The wall material chosen is transparent polycarbonate panels. it's thermal conduction coefficient is 0.23, representing good insulating properties while allowing sunlight in to help heat the greenhouse in the summer. This material is already being substitued in many countries for the more expensive glass. The floor is currently made of 15cm concrete concrete slabs. posessing a conduction coefficient of 0.87.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sz="1200" dirty="0">
                <a:solidFill>
                  <a:srgbClr val="1D1D1F"/>
                </a:solidFill>
                <a:latin typeface="Canva Sans"/>
              </a:rPr>
              <a:t>through connections between panels, and ground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D1D1F"/>
                </a:solidFill>
                <a:latin typeface="Canva Sans"/>
              </a:rPr>
              <a:t>within the greenhouse</a:t>
            </a:r>
          </a:p>
          <a:p>
            <a:r>
              <a:rPr lang="en-GB" sz="1200" dirty="0">
                <a:solidFill>
                  <a:srgbClr val="1D1D1F"/>
                </a:solidFill>
                <a:latin typeface="Canva Sans"/>
              </a:rPr>
              <a:t>with no internal heat sources and uniform material properties across panel.</a:t>
            </a:r>
          </a:p>
          <a:p>
            <a:r>
              <a:rPr lang="en-US" sz="1200" dirty="0">
                <a:solidFill>
                  <a:srgbClr val="1D1D1F"/>
                </a:solidFill>
                <a:latin typeface="Canva Sans"/>
              </a:rPr>
              <a:t>at evaporator, condenser and </a:t>
            </a:r>
            <a:r>
              <a:rPr lang="en-US" sz="1200" dirty="0" err="1">
                <a:solidFill>
                  <a:srgbClr val="1D1D1F"/>
                </a:solidFill>
                <a:latin typeface="Canva Sans"/>
              </a:rPr>
              <a:t>flashtank</a:t>
            </a:r>
            <a:endParaRPr lang="en-GB" dirty="0"/>
          </a:p>
        </p:txBody>
      </p:sp>
      <p:sp>
        <p:nvSpPr>
          <p:cNvPr id="4" name="Slide Number Placeholder 3"/>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1950407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Moving onto the heat transfer calculations. the heat lost through the walls was calculated using the equation shown on screen. </a:t>
            </a:r>
          </a:p>
          <a:p>
            <a:r>
              <a:rPr lang="en-US"/>
              <a:t>Next the sunlight energy was provided in kWh which was converted to W for calculation reasons. and finally a total was found by summing these values which was used to calculate the new internal temperature based off of the heat losses/gains to the external environment. as seen on screen.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result. following the calculations on the previous slide, the unregulated internal temperature over a 6 year period was plotted. This is the basis for the study. From these temperatures we can calculate the necessary heating requirements to maintain a pleasant environment for a given crop growth.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heating element employed for this greenhouse was a multistage heat pump containing a flashtank intercooler. This was chosen for a variety reasons. first being the relatively low temperatures employed. with heating required to be 30 degrees. I will not walk you through each individual stage however the importance of the flashtank is due to the relatively low temperatures employed. it ensures that the refrigerant entering the subesquent stages is predominantly in the vapor phase. preventing dmage and encouraging stability. acting almost like a buffer against variations in the refrigerants composition.A flashtank intercooler operaitng heat pump was employed. This is due to the ability to operate at lare temperature differences, which occurs occure throughout the winter. Vital for year round productio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100kw</a:t>
            </a:r>
          </a:p>
          <a:p>
            <a:r>
              <a:rPr lang="en-US"/>
              <a:t>10M radius</a:t>
            </a:r>
          </a:p>
          <a:p>
            <a:r>
              <a:rPr lang="en-US"/>
              <a:t>produces enough with mean wind speed of 3.9m/s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october-march, requires additional lighting. </a:t>
            </a:r>
          </a:p>
          <a:p>
            <a:r>
              <a:rPr lang="en-US"/>
              <a:t>1 avacado tree needs 171.73w/m^2</a:t>
            </a:r>
          </a:p>
          <a:p>
            <a:r>
              <a:rPr lang="en-US"/>
              <a:t>do not get that in november december january,, therefore extra lighting of maximum 90w/m^2 multiply by area of room, therefore 36kW of lighting, can be supplied by excess in turbine as max for compressor is 60kW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gif"/><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png"/><Relationship Id="rId9"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18" Type="http://schemas.openxmlformats.org/officeDocument/2006/relationships/image" Target="../media/image53.png"/><Relationship Id="rId3" Type="http://schemas.openxmlformats.org/officeDocument/2006/relationships/image" Target="../media/image49.png"/><Relationship Id="rId7" Type="http://schemas.openxmlformats.org/officeDocument/2006/relationships/image" Target="../media/image25.png"/><Relationship Id="rId12" Type="http://schemas.openxmlformats.org/officeDocument/2006/relationships/image" Target="../media/image30.svg"/><Relationship Id="rId17" Type="http://schemas.openxmlformats.org/officeDocument/2006/relationships/image" Target="../media/image35.gif"/><Relationship Id="rId2" Type="http://schemas.openxmlformats.org/officeDocument/2006/relationships/notesSlide" Target="../notesSlides/notesSlide10.xml"/><Relationship Id="rId16" Type="http://schemas.openxmlformats.org/officeDocument/2006/relationships/image" Target="../media/image34.svg"/><Relationship Id="rId1" Type="http://schemas.openxmlformats.org/officeDocument/2006/relationships/slideLayout" Target="../slideLayouts/slideLayout7.xml"/><Relationship Id="rId6" Type="http://schemas.openxmlformats.org/officeDocument/2006/relationships/image" Target="../media/image52.svg"/><Relationship Id="rId11" Type="http://schemas.openxmlformats.org/officeDocument/2006/relationships/image" Target="../media/image29.png"/><Relationship Id="rId5" Type="http://schemas.openxmlformats.org/officeDocument/2006/relationships/image" Target="../media/image51.png"/><Relationship Id="rId15" Type="http://schemas.openxmlformats.org/officeDocument/2006/relationships/image" Target="../media/image33.png"/><Relationship Id="rId10" Type="http://schemas.openxmlformats.org/officeDocument/2006/relationships/image" Target="../media/image28.svg"/><Relationship Id="rId4" Type="http://schemas.openxmlformats.org/officeDocument/2006/relationships/image" Target="../media/image50.svg"/><Relationship Id="rId9" Type="http://schemas.openxmlformats.org/officeDocument/2006/relationships/image" Target="../media/image27.png"/><Relationship Id="rId14" Type="http://schemas.openxmlformats.org/officeDocument/2006/relationships/image" Target="../media/image32.svg"/></Relationships>
</file>

<file path=ppt/slides/_rels/slide17.xml.rels><?xml version="1.0" encoding="UTF-8" standalone="yes"?>
<Relationships xmlns="http://schemas.openxmlformats.org/package/2006/relationships"><Relationship Id="rId8" Type="http://schemas.openxmlformats.org/officeDocument/2006/relationships/hyperlink" Target="https://ssrn.com/abstract=4665264" TargetMode="External"/><Relationship Id="rId3" Type="http://schemas.openxmlformats.org/officeDocument/2006/relationships/image" Target="../media/image54.png"/><Relationship Id="rId7" Type="http://schemas.openxmlformats.org/officeDocument/2006/relationships/image" Target="../media/image57.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3.jpeg"/><Relationship Id="rId4" Type="http://schemas.openxmlformats.org/officeDocument/2006/relationships/image" Target="../media/image55.svg"/><Relationship Id="rId9" Type="http://schemas.openxmlformats.org/officeDocument/2006/relationships/hyperlink" Target="http://dx.doi.org/10.2139/ssrn.4665264"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svg"/><Relationship Id="rId18" Type="http://schemas.openxmlformats.org/officeDocument/2006/relationships/image" Target="../media/image74.png"/><Relationship Id="rId3" Type="http://schemas.openxmlformats.org/officeDocument/2006/relationships/image" Target="../media/image59.svg"/><Relationship Id="rId21" Type="http://schemas.openxmlformats.org/officeDocument/2006/relationships/image" Target="../media/image77.svg"/><Relationship Id="rId7" Type="http://schemas.openxmlformats.org/officeDocument/2006/relationships/image" Target="../media/image63.svg"/><Relationship Id="rId12" Type="http://schemas.openxmlformats.org/officeDocument/2006/relationships/image" Target="../media/image68.png"/><Relationship Id="rId17" Type="http://schemas.openxmlformats.org/officeDocument/2006/relationships/image" Target="../media/image73.svg"/><Relationship Id="rId25" Type="http://schemas.openxmlformats.org/officeDocument/2006/relationships/image" Target="../media/image81.svg"/><Relationship Id="rId2" Type="http://schemas.openxmlformats.org/officeDocument/2006/relationships/image" Target="../media/image58.png"/><Relationship Id="rId16" Type="http://schemas.openxmlformats.org/officeDocument/2006/relationships/image" Target="../media/image72.png"/><Relationship Id="rId20"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7.svg"/><Relationship Id="rId24" Type="http://schemas.openxmlformats.org/officeDocument/2006/relationships/image" Target="../media/image80.png"/><Relationship Id="rId5" Type="http://schemas.openxmlformats.org/officeDocument/2006/relationships/image" Target="../media/image61.svg"/><Relationship Id="rId15" Type="http://schemas.openxmlformats.org/officeDocument/2006/relationships/image" Target="../media/image71.svg"/><Relationship Id="rId23" Type="http://schemas.openxmlformats.org/officeDocument/2006/relationships/image" Target="../media/image79.svg"/><Relationship Id="rId10" Type="http://schemas.openxmlformats.org/officeDocument/2006/relationships/image" Target="../media/image66.png"/><Relationship Id="rId19" Type="http://schemas.openxmlformats.org/officeDocument/2006/relationships/image" Target="../media/image75.svg"/><Relationship Id="rId4" Type="http://schemas.openxmlformats.org/officeDocument/2006/relationships/image" Target="../media/image60.png"/><Relationship Id="rId9" Type="http://schemas.openxmlformats.org/officeDocument/2006/relationships/image" Target="../media/image65.svg"/><Relationship Id="rId14" Type="http://schemas.openxmlformats.org/officeDocument/2006/relationships/image" Target="../media/image70.png"/><Relationship Id="rId22" Type="http://schemas.openxmlformats.org/officeDocument/2006/relationships/image" Target="../media/image78.png"/></Relationships>
</file>

<file path=ppt/slides/_rels/slide20.xml.rels><?xml version="1.0" encoding="UTF-8" standalone="yes"?>
<Relationships xmlns="http://schemas.openxmlformats.org/package/2006/relationships"><Relationship Id="rId13" Type="http://schemas.openxmlformats.org/officeDocument/2006/relationships/image" Target="../media/image93.svg"/><Relationship Id="rId18" Type="http://schemas.openxmlformats.org/officeDocument/2006/relationships/image" Target="../media/image98.png"/><Relationship Id="rId26" Type="http://schemas.openxmlformats.org/officeDocument/2006/relationships/image" Target="../media/image106.png"/><Relationship Id="rId3" Type="http://schemas.openxmlformats.org/officeDocument/2006/relationships/image" Target="../media/image83.svg"/><Relationship Id="rId21" Type="http://schemas.openxmlformats.org/officeDocument/2006/relationships/image" Target="../media/image101.svg"/><Relationship Id="rId7" Type="http://schemas.openxmlformats.org/officeDocument/2006/relationships/image" Target="../media/image87.svg"/><Relationship Id="rId12" Type="http://schemas.openxmlformats.org/officeDocument/2006/relationships/image" Target="../media/image92.png"/><Relationship Id="rId17" Type="http://schemas.openxmlformats.org/officeDocument/2006/relationships/image" Target="../media/image97.svg"/><Relationship Id="rId25" Type="http://schemas.openxmlformats.org/officeDocument/2006/relationships/image" Target="../media/image105.svg"/><Relationship Id="rId33" Type="http://schemas.openxmlformats.org/officeDocument/2006/relationships/image" Target="../media/image113.png"/><Relationship Id="rId2" Type="http://schemas.openxmlformats.org/officeDocument/2006/relationships/image" Target="../media/image82.png"/><Relationship Id="rId16" Type="http://schemas.openxmlformats.org/officeDocument/2006/relationships/image" Target="../media/image96.png"/><Relationship Id="rId20" Type="http://schemas.openxmlformats.org/officeDocument/2006/relationships/image" Target="../media/image100.png"/><Relationship Id="rId29" Type="http://schemas.openxmlformats.org/officeDocument/2006/relationships/image" Target="../media/image109.sv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svg"/><Relationship Id="rId24" Type="http://schemas.openxmlformats.org/officeDocument/2006/relationships/image" Target="../media/image104.png"/><Relationship Id="rId32" Type="http://schemas.openxmlformats.org/officeDocument/2006/relationships/image" Target="../media/image112.png"/><Relationship Id="rId5" Type="http://schemas.openxmlformats.org/officeDocument/2006/relationships/image" Target="../media/image85.svg"/><Relationship Id="rId15" Type="http://schemas.openxmlformats.org/officeDocument/2006/relationships/image" Target="../media/image95.svg"/><Relationship Id="rId23" Type="http://schemas.openxmlformats.org/officeDocument/2006/relationships/image" Target="../media/image103.svg"/><Relationship Id="rId28" Type="http://schemas.openxmlformats.org/officeDocument/2006/relationships/image" Target="../media/image108.png"/><Relationship Id="rId10" Type="http://schemas.openxmlformats.org/officeDocument/2006/relationships/image" Target="../media/image90.png"/><Relationship Id="rId19" Type="http://schemas.openxmlformats.org/officeDocument/2006/relationships/image" Target="../media/image99.svg"/><Relationship Id="rId31" Type="http://schemas.openxmlformats.org/officeDocument/2006/relationships/image" Target="../media/image111.svg"/><Relationship Id="rId4" Type="http://schemas.openxmlformats.org/officeDocument/2006/relationships/image" Target="../media/image84.png"/><Relationship Id="rId9" Type="http://schemas.openxmlformats.org/officeDocument/2006/relationships/image" Target="../media/image89.svg"/><Relationship Id="rId14" Type="http://schemas.openxmlformats.org/officeDocument/2006/relationships/image" Target="../media/image94.png"/><Relationship Id="rId22" Type="http://schemas.openxmlformats.org/officeDocument/2006/relationships/image" Target="../media/image102.png"/><Relationship Id="rId27" Type="http://schemas.openxmlformats.org/officeDocument/2006/relationships/image" Target="../media/image107.svg"/><Relationship Id="rId30" Type="http://schemas.openxmlformats.org/officeDocument/2006/relationships/image" Target="../media/image110.png"/><Relationship Id="rId8" Type="http://schemas.openxmlformats.org/officeDocument/2006/relationships/image" Target="../media/image88.png"/></Relationships>
</file>

<file path=ppt/slides/_rels/slide21.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svg"/><Relationship Id="rId7" Type="http://schemas.openxmlformats.org/officeDocument/2006/relationships/image" Target="../media/image119.svg"/><Relationship Id="rId2" Type="http://schemas.openxmlformats.org/officeDocument/2006/relationships/image" Target="../media/image114.png"/><Relationship Id="rId1" Type="http://schemas.openxmlformats.org/officeDocument/2006/relationships/slideLayout" Target="../slideLayouts/slideLayout7.xml"/><Relationship Id="rId6" Type="http://schemas.openxmlformats.org/officeDocument/2006/relationships/image" Target="../media/image118.png"/><Relationship Id="rId5" Type="http://schemas.openxmlformats.org/officeDocument/2006/relationships/image" Target="../media/image117.svg"/><Relationship Id="rId4" Type="http://schemas.openxmlformats.org/officeDocument/2006/relationships/image" Target="../media/image116.png"/><Relationship Id="rId9" Type="http://schemas.openxmlformats.org/officeDocument/2006/relationships/image" Target="../media/image121.svg"/></Relationships>
</file>

<file path=ppt/slides/_rels/slide22.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svg"/><Relationship Id="rId18" Type="http://schemas.openxmlformats.org/officeDocument/2006/relationships/image" Target="../media/image138.png"/><Relationship Id="rId3" Type="http://schemas.openxmlformats.org/officeDocument/2006/relationships/image" Target="../media/image123.svg"/><Relationship Id="rId21" Type="http://schemas.openxmlformats.org/officeDocument/2006/relationships/image" Target="../media/image141.svg"/><Relationship Id="rId7" Type="http://schemas.openxmlformats.org/officeDocument/2006/relationships/image" Target="../media/image127.svg"/><Relationship Id="rId12" Type="http://schemas.openxmlformats.org/officeDocument/2006/relationships/image" Target="../media/image132.png"/><Relationship Id="rId17" Type="http://schemas.openxmlformats.org/officeDocument/2006/relationships/image" Target="../media/image137.svg"/><Relationship Id="rId2" Type="http://schemas.openxmlformats.org/officeDocument/2006/relationships/image" Target="../media/image122.png"/><Relationship Id="rId16" Type="http://schemas.openxmlformats.org/officeDocument/2006/relationships/image" Target="../media/image136.png"/><Relationship Id="rId20" Type="http://schemas.openxmlformats.org/officeDocument/2006/relationships/image" Target="../media/image140.png"/><Relationship Id="rId1" Type="http://schemas.openxmlformats.org/officeDocument/2006/relationships/slideLayout" Target="../slideLayouts/slideLayout7.xml"/><Relationship Id="rId6" Type="http://schemas.openxmlformats.org/officeDocument/2006/relationships/image" Target="../media/image126.png"/><Relationship Id="rId11" Type="http://schemas.openxmlformats.org/officeDocument/2006/relationships/image" Target="../media/image131.svg"/><Relationship Id="rId5" Type="http://schemas.openxmlformats.org/officeDocument/2006/relationships/image" Target="../media/image125.svg"/><Relationship Id="rId15" Type="http://schemas.openxmlformats.org/officeDocument/2006/relationships/image" Target="../media/image135.svg"/><Relationship Id="rId23" Type="http://schemas.openxmlformats.org/officeDocument/2006/relationships/image" Target="../media/image143.svg"/><Relationship Id="rId10" Type="http://schemas.openxmlformats.org/officeDocument/2006/relationships/image" Target="../media/image130.png"/><Relationship Id="rId19" Type="http://schemas.openxmlformats.org/officeDocument/2006/relationships/image" Target="../media/image139.svg"/><Relationship Id="rId4" Type="http://schemas.openxmlformats.org/officeDocument/2006/relationships/image" Target="../media/image124.png"/><Relationship Id="rId9" Type="http://schemas.openxmlformats.org/officeDocument/2006/relationships/image" Target="../media/image129.svg"/><Relationship Id="rId14" Type="http://schemas.openxmlformats.org/officeDocument/2006/relationships/image" Target="../media/image134.png"/><Relationship Id="rId22" Type="http://schemas.openxmlformats.org/officeDocument/2006/relationships/image" Target="../media/image142.png"/></Relationships>
</file>

<file path=ppt/slides/_rels/slide23.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128872" y="3702631"/>
            <a:ext cx="18545744" cy="1651635"/>
          </a:xfrm>
          <a:prstGeom prst="rect">
            <a:avLst/>
          </a:prstGeom>
        </p:spPr>
        <p:txBody>
          <a:bodyPr lIns="0" tIns="0" rIns="0" bIns="0" rtlCol="0" anchor="t">
            <a:spAutoFit/>
          </a:bodyPr>
          <a:lstStyle/>
          <a:p>
            <a:pPr algn="ctr">
              <a:lnSpc>
                <a:spcPts val="13439"/>
              </a:lnSpc>
            </a:pPr>
            <a:r>
              <a:rPr lang="en-US" sz="9600">
                <a:solidFill>
                  <a:srgbClr val="1D1D1F"/>
                </a:solidFill>
                <a:latin typeface="Raleway Bold"/>
              </a:rPr>
              <a:t>AUTOMATED GREENHOUSE</a:t>
            </a:r>
          </a:p>
        </p:txBody>
      </p:sp>
      <p:sp>
        <p:nvSpPr>
          <p:cNvPr id="3" name="TextBox 3"/>
          <p:cNvSpPr txBox="1"/>
          <p:nvPr/>
        </p:nvSpPr>
        <p:spPr>
          <a:xfrm>
            <a:off x="5406845" y="6014600"/>
            <a:ext cx="7474309" cy="396240"/>
          </a:xfrm>
          <a:prstGeom prst="rect">
            <a:avLst/>
          </a:prstGeom>
        </p:spPr>
        <p:txBody>
          <a:bodyPr lIns="0" tIns="0" rIns="0" bIns="0" rtlCol="0" anchor="t">
            <a:spAutoFit/>
          </a:bodyPr>
          <a:lstStyle/>
          <a:p>
            <a:pPr algn="ctr">
              <a:lnSpc>
                <a:spcPts val="3359"/>
              </a:lnSpc>
            </a:pPr>
            <a:r>
              <a:rPr lang="en-US" sz="2400" spc="480">
                <a:solidFill>
                  <a:srgbClr val="1D1D1F"/>
                </a:solidFill>
                <a:latin typeface="Now Bold"/>
              </a:rPr>
              <a:t>2550305M-FRASER MCLELLAN</a:t>
            </a:r>
          </a:p>
        </p:txBody>
      </p:sp>
      <p:sp>
        <p:nvSpPr>
          <p:cNvPr id="4" name="AutoShape 4"/>
          <p:cNvSpPr/>
          <p:nvPr/>
        </p:nvSpPr>
        <p:spPr>
          <a:xfrm>
            <a:off x="5553087" y="5678116"/>
            <a:ext cx="7181826" cy="0"/>
          </a:xfrm>
          <a:prstGeom prst="line">
            <a:avLst/>
          </a:prstGeom>
          <a:ln w="47625" cap="flat">
            <a:solidFill>
              <a:srgbClr val="A28231"/>
            </a:solidFill>
            <a:prstDash val="solid"/>
            <a:headEnd type="none" w="sm" len="sm"/>
            <a:tailEnd type="none" w="sm" len="sm"/>
          </a:ln>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1028700" y="217170"/>
            <a:ext cx="3009900" cy="803361"/>
          </a:xfrm>
          <a:prstGeom prst="rect">
            <a:avLst/>
          </a:prstGeom>
        </p:spPr>
        <p:txBody>
          <a:bodyPr wrap="square" lIns="0" tIns="0" rIns="0" bIns="0" rtlCol="0" anchor="t">
            <a:spAutoFit/>
          </a:bodyPr>
          <a:lstStyle/>
          <a:p>
            <a:pPr algn="ctr">
              <a:lnSpc>
                <a:spcPts val="6719"/>
              </a:lnSpc>
            </a:pPr>
            <a:r>
              <a:rPr lang="en-US" sz="4800" dirty="0">
                <a:solidFill>
                  <a:srgbClr val="000000"/>
                </a:solidFill>
                <a:latin typeface="Canva Sans Bold"/>
              </a:rPr>
              <a:t>Contents</a:t>
            </a:r>
          </a:p>
        </p:txBody>
      </p:sp>
      <p:sp>
        <p:nvSpPr>
          <p:cNvPr id="3" name="AutoShape 3"/>
          <p:cNvSpPr/>
          <p:nvPr/>
        </p:nvSpPr>
        <p:spPr>
          <a:xfrm flipV="1">
            <a:off x="1028700" y="1028700"/>
            <a:ext cx="16230600" cy="23812"/>
          </a:xfrm>
          <a:prstGeom prst="line">
            <a:avLst/>
          </a:prstGeom>
          <a:ln w="47625" cap="flat">
            <a:solidFill>
              <a:srgbClr val="A28231"/>
            </a:solidFill>
            <a:prstDash val="solid"/>
            <a:headEnd type="none" w="sm" len="sm"/>
            <a:tailEnd type="none" w="sm" len="sm"/>
          </a:ln>
        </p:spPr>
        <p:txBody>
          <a:bodyPr/>
          <a:lstStyle/>
          <a:p>
            <a:endParaRPr lang="en-GB"/>
          </a:p>
        </p:txBody>
      </p:sp>
      <p:sp>
        <p:nvSpPr>
          <p:cNvPr id="4" name="TextBox 4"/>
          <p:cNvSpPr txBox="1"/>
          <p:nvPr/>
        </p:nvSpPr>
        <p:spPr>
          <a:xfrm>
            <a:off x="1028700" y="1088390"/>
            <a:ext cx="6896100" cy="9191940"/>
          </a:xfrm>
          <a:prstGeom prst="rect">
            <a:avLst/>
          </a:prstGeom>
        </p:spPr>
        <p:txBody>
          <a:bodyPr wrap="square" lIns="0" tIns="0" rIns="0" bIns="0" rtlCol="0" anchor="t">
            <a:spAutoFit/>
          </a:bodyPr>
          <a:lstStyle/>
          <a:p>
            <a:pPr marL="367029" lvl="1">
              <a:lnSpc>
                <a:spcPts val="4759"/>
              </a:lnSpc>
            </a:pPr>
            <a:r>
              <a:rPr lang="en-US" sz="3399" dirty="0">
                <a:solidFill>
                  <a:srgbClr val="000000"/>
                </a:solidFill>
                <a:latin typeface="Canva Sans Bold"/>
              </a:rPr>
              <a:t>1. Why</a:t>
            </a:r>
          </a:p>
          <a:p>
            <a:pPr marL="367029" lvl="1">
              <a:lnSpc>
                <a:spcPts val="4759"/>
              </a:lnSpc>
            </a:pPr>
            <a:r>
              <a:rPr lang="en-US" sz="3399" dirty="0">
                <a:solidFill>
                  <a:srgbClr val="000000"/>
                </a:solidFill>
                <a:latin typeface="Canva Sans Bold"/>
              </a:rPr>
              <a:t>2. Food imports</a:t>
            </a:r>
          </a:p>
          <a:p>
            <a:pPr marL="367029" lvl="1">
              <a:lnSpc>
                <a:spcPts val="4759"/>
              </a:lnSpc>
            </a:pPr>
            <a:r>
              <a:rPr lang="en-US" sz="3399" dirty="0">
                <a:solidFill>
                  <a:srgbClr val="000000"/>
                </a:solidFill>
                <a:latin typeface="Canva Sans Bold"/>
              </a:rPr>
              <a:t>3. Method</a:t>
            </a:r>
          </a:p>
          <a:p>
            <a:pPr marL="367029" lvl="1">
              <a:lnSpc>
                <a:spcPts val="4759"/>
              </a:lnSpc>
            </a:pPr>
            <a:r>
              <a:rPr lang="en-US" sz="3399" dirty="0">
                <a:solidFill>
                  <a:srgbClr val="000000"/>
                </a:solidFill>
                <a:latin typeface="Canva Sans Bold"/>
              </a:rPr>
              <a:t>4. Site</a:t>
            </a:r>
          </a:p>
          <a:p>
            <a:pPr marL="367029" lvl="1">
              <a:lnSpc>
                <a:spcPts val="4759"/>
              </a:lnSpc>
            </a:pPr>
            <a:r>
              <a:rPr lang="en-US" sz="3399" dirty="0">
                <a:solidFill>
                  <a:srgbClr val="000000"/>
                </a:solidFill>
                <a:latin typeface="Canva Sans Bold"/>
              </a:rPr>
              <a:t>5. Greenhouse</a:t>
            </a:r>
          </a:p>
          <a:p>
            <a:pPr marL="367029" lvl="1">
              <a:lnSpc>
                <a:spcPts val="4759"/>
              </a:lnSpc>
            </a:pPr>
            <a:r>
              <a:rPr lang="en-US" sz="3399" dirty="0">
                <a:solidFill>
                  <a:srgbClr val="000000"/>
                </a:solidFill>
                <a:latin typeface="Canva Sans Bold"/>
              </a:rPr>
              <a:t>6. Assumptions</a:t>
            </a:r>
          </a:p>
          <a:p>
            <a:pPr marL="367029" lvl="1">
              <a:lnSpc>
                <a:spcPts val="4759"/>
              </a:lnSpc>
            </a:pPr>
            <a:r>
              <a:rPr lang="en-US" sz="3399" dirty="0">
                <a:solidFill>
                  <a:srgbClr val="000000"/>
                </a:solidFill>
                <a:latin typeface="Canva Sans Bold"/>
              </a:rPr>
              <a:t>7. External conditions</a:t>
            </a:r>
          </a:p>
          <a:p>
            <a:pPr marL="367029" lvl="1">
              <a:lnSpc>
                <a:spcPts val="4759"/>
              </a:lnSpc>
            </a:pPr>
            <a:r>
              <a:rPr lang="en-US" sz="3399" dirty="0">
                <a:solidFill>
                  <a:srgbClr val="000000"/>
                </a:solidFill>
                <a:latin typeface="Canva Sans Bold"/>
              </a:rPr>
              <a:t>8. Heat transfer</a:t>
            </a:r>
          </a:p>
          <a:p>
            <a:pPr marL="367029" lvl="1">
              <a:lnSpc>
                <a:spcPts val="4759"/>
              </a:lnSpc>
            </a:pPr>
            <a:r>
              <a:rPr lang="en-US" sz="3399" dirty="0">
                <a:solidFill>
                  <a:srgbClr val="000000"/>
                </a:solidFill>
                <a:latin typeface="Canva Sans Bold"/>
              </a:rPr>
              <a:t>9. Greenhouse Temperatures</a:t>
            </a:r>
          </a:p>
          <a:p>
            <a:pPr marL="367029" lvl="1">
              <a:lnSpc>
                <a:spcPts val="4759"/>
              </a:lnSpc>
            </a:pPr>
            <a:r>
              <a:rPr lang="en-US" sz="3399" dirty="0">
                <a:solidFill>
                  <a:srgbClr val="000000"/>
                </a:solidFill>
                <a:latin typeface="Canva Sans Bold"/>
              </a:rPr>
              <a:t>10. Heat pump</a:t>
            </a:r>
          </a:p>
          <a:p>
            <a:pPr marL="367029" lvl="1">
              <a:lnSpc>
                <a:spcPts val="4759"/>
              </a:lnSpc>
            </a:pPr>
            <a:r>
              <a:rPr lang="en-US" sz="3399" dirty="0">
                <a:solidFill>
                  <a:srgbClr val="000000"/>
                </a:solidFill>
                <a:latin typeface="Canva Sans Bold"/>
              </a:rPr>
              <a:t>11. Refrigerant</a:t>
            </a:r>
          </a:p>
          <a:p>
            <a:pPr marL="367029" lvl="1">
              <a:lnSpc>
                <a:spcPts val="4759"/>
              </a:lnSpc>
            </a:pPr>
            <a:r>
              <a:rPr lang="en-US" sz="3399" dirty="0">
                <a:solidFill>
                  <a:srgbClr val="000000"/>
                </a:solidFill>
                <a:latin typeface="Canva Sans Bold"/>
              </a:rPr>
              <a:t>12. Heat pump analysis</a:t>
            </a:r>
          </a:p>
          <a:p>
            <a:pPr marL="367029" lvl="1">
              <a:lnSpc>
                <a:spcPts val="4759"/>
              </a:lnSpc>
            </a:pPr>
            <a:r>
              <a:rPr lang="en-US" sz="3399" dirty="0">
                <a:solidFill>
                  <a:srgbClr val="000000"/>
                </a:solidFill>
                <a:latin typeface="Canva Sans Bold"/>
              </a:rPr>
              <a:t>13. Simulation process</a:t>
            </a:r>
          </a:p>
          <a:p>
            <a:pPr marL="367029" lvl="1">
              <a:lnSpc>
                <a:spcPts val="4759"/>
              </a:lnSpc>
            </a:pPr>
            <a:r>
              <a:rPr lang="en-US" sz="3399" dirty="0">
                <a:solidFill>
                  <a:srgbClr val="000000"/>
                </a:solidFill>
                <a:latin typeface="Canva Sans Bold"/>
              </a:rPr>
              <a:t>14. Power supply</a:t>
            </a:r>
          </a:p>
          <a:p>
            <a:pPr marL="367029" lvl="1">
              <a:lnSpc>
                <a:spcPts val="4759"/>
              </a:lnSpc>
            </a:pPr>
            <a:r>
              <a:rPr lang="en-US" sz="3399" dirty="0">
                <a:solidFill>
                  <a:srgbClr val="000000"/>
                </a:solidFill>
                <a:latin typeface="Canva Sans Bold"/>
              </a:rPr>
              <a:t>15. Impact</a:t>
            </a:r>
          </a:p>
        </p:txBody>
      </p:sp>
      <p:sp>
        <p:nvSpPr>
          <p:cNvPr id="5" name="TextBox 5"/>
          <p:cNvSpPr txBox="1"/>
          <p:nvPr/>
        </p:nvSpPr>
        <p:spPr>
          <a:xfrm>
            <a:off x="5791200" y="9683611"/>
            <a:ext cx="3908673" cy="580390"/>
          </a:xfrm>
          <a:prstGeom prst="rect">
            <a:avLst/>
          </a:prstGeom>
        </p:spPr>
        <p:txBody>
          <a:bodyPr lIns="0" tIns="0" rIns="0" bIns="0" rtlCol="0" anchor="t">
            <a:spAutoFit/>
          </a:bodyPr>
          <a:lstStyle/>
          <a:p>
            <a:pPr algn="ctr">
              <a:lnSpc>
                <a:spcPts val="4759"/>
              </a:lnSpc>
            </a:pPr>
            <a:r>
              <a:rPr lang="en-US" sz="3399" b="1" dirty="0">
                <a:solidFill>
                  <a:srgbClr val="000000"/>
                </a:solidFill>
                <a:latin typeface="Canva Sans"/>
              </a:rPr>
              <a:t>16-22. </a:t>
            </a:r>
            <a:r>
              <a:rPr lang="en-US" sz="3399" dirty="0">
                <a:solidFill>
                  <a:srgbClr val="000000"/>
                </a:solidFill>
                <a:latin typeface="Canva Sans Bold"/>
              </a:rPr>
              <a:t>Appendices</a:t>
            </a:r>
            <a:r>
              <a:rPr lang="en-US" sz="3399" dirty="0">
                <a:solidFill>
                  <a:srgbClr val="000000"/>
                </a:solidFill>
                <a:latin typeface="Canva Sans"/>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1028700" y="1126854"/>
            <a:ext cx="8096665" cy="8076423"/>
          </a:xfrm>
          <a:custGeom>
            <a:avLst/>
            <a:gdLst/>
            <a:ahLst/>
            <a:cxnLst/>
            <a:rect l="l" t="t" r="r" b="b"/>
            <a:pathLst>
              <a:path w="8096665" h="8076423">
                <a:moveTo>
                  <a:pt x="0" y="0"/>
                </a:moveTo>
                <a:lnTo>
                  <a:pt x="8096665" y="0"/>
                </a:lnTo>
                <a:lnTo>
                  <a:pt x="8096665" y="8076424"/>
                </a:lnTo>
                <a:lnTo>
                  <a:pt x="0" y="807642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3" name="Freeform 3"/>
          <p:cNvSpPr/>
          <p:nvPr/>
        </p:nvSpPr>
        <p:spPr>
          <a:xfrm>
            <a:off x="10829234" y="2336743"/>
            <a:ext cx="5613514" cy="5613514"/>
          </a:xfrm>
          <a:custGeom>
            <a:avLst/>
            <a:gdLst/>
            <a:ahLst/>
            <a:cxnLst/>
            <a:rect l="l" t="t" r="r" b="b"/>
            <a:pathLst>
              <a:path w="5613514" h="5613514">
                <a:moveTo>
                  <a:pt x="0" y="0"/>
                </a:moveTo>
                <a:lnTo>
                  <a:pt x="5613514" y="0"/>
                </a:lnTo>
                <a:lnTo>
                  <a:pt x="5613514" y="5613514"/>
                </a:lnTo>
                <a:lnTo>
                  <a:pt x="0" y="5613514"/>
                </a:lnTo>
                <a:lnTo>
                  <a:pt x="0" y="0"/>
                </a:lnTo>
                <a:close/>
              </a:path>
            </a:pathLst>
          </a:custGeom>
          <a:blipFill>
            <a:blip r:embed="rId5"/>
            <a:stretch>
              <a:fillRect/>
            </a:stretch>
          </a:blipFill>
        </p:spPr>
        <p:txBody>
          <a:bodyPr/>
          <a:lstStyle/>
          <a:p>
            <a:endParaRPr lang="en-GB"/>
          </a:p>
        </p:txBody>
      </p:sp>
      <p:sp>
        <p:nvSpPr>
          <p:cNvPr id="4" name="Freeform 4"/>
          <p:cNvSpPr/>
          <p:nvPr/>
        </p:nvSpPr>
        <p:spPr>
          <a:xfrm>
            <a:off x="9544842" y="1105288"/>
            <a:ext cx="8182298" cy="8182298"/>
          </a:xfrm>
          <a:custGeom>
            <a:avLst/>
            <a:gdLst/>
            <a:ahLst/>
            <a:cxnLst/>
            <a:rect l="l" t="t" r="r" b="b"/>
            <a:pathLst>
              <a:path w="8182298" h="8182298">
                <a:moveTo>
                  <a:pt x="0" y="0"/>
                </a:moveTo>
                <a:lnTo>
                  <a:pt x="8182298" y="0"/>
                </a:lnTo>
                <a:lnTo>
                  <a:pt x="8182298" y="8182298"/>
                </a:lnTo>
                <a:lnTo>
                  <a:pt x="0" y="818229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5" name="TextBox 5"/>
          <p:cNvSpPr txBox="1"/>
          <p:nvPr/>
        </p:nvSpPr>
        <p:spPr>
          <a:xfrm>
            <a:off x="1028700" y="202006"/>
            <a:ext cx="1614785" cy="811530"/>
          </a:xfrm>
          <a:prstGeom prst="rect">
            <a:avLst/>
          </a:prstGeom>
        </p:spPr>
        <p:txBody>
          <a:bodyPr lIns="0" tIns="0" rIns="0" bIns="0" rtlCol="0" anchor="t">
            <a:spAutoFit/>
          </a:bodyPr>
          <a:lstStyle/>
          <a:p>
            <a:pPr algn="ctr">
              <a:lnSpc>
                <a:spcPts val="6720"/>
              </a:lnSpc>
            </a:pPr>
            <a:r>
              <a:rPr lang="en-US" sz="4800">
                <a:solidFill>
                  <a:srgbClr val="000000"/>
                </a:solidFill>
                <a:latin typeface="Canva Sans Bold"/>
              </a:rPr>
              <a:t>Why?</a:t>
            </a:r>
          </a:p>
        </p:txBody>
      </p:sp>
      <p:sp>
        <p:nvSpPr>
          <p:cNvPr id="6" name="AutoShape 6"/>
          <p:cNvSpPr/>
          <p:nvPr/>
        </p:nvSpPr>
        <p:spPr>
          <a:xfrm flipV="1">
            <a:off x="1028700" y="1028700"/>
            <a:ext cx="16230600" cy="23812"/>
          </a:xfrm>
          <a:prstGeom prst="line">
            <a:avLst/>
          </a:prstGeom>
          <a:ln w="47625" cap="flat">
            <a:solidFill>
              <a:srgbClr val="A28231"/>
            </a:solidFill>
            <a:prstDash val="solid"/>
            <a:headEnd type="none" w="sm" len="sm"/>
            <a:tailEnd type="none" w="sm" len="sm"/>
          </a:ln>
        </p:spPr>
        <p:txBody>
          <a:bodyPr/>
          <a:lstStyle/>
          <a:p>
            <a:endParaRPr lang="en-GB"/>
          </a:p>
        </p:txBody>
      </p:sp>
      <p:sp>
        <p:nvSpPr>
          <p:cNvPr id="7" name="TextBox 7"/>
          <p:cNvSpPr txBox="1"/>
          <p:nvPr/>
        </p:nvSpPr>
        <p:spPr>
          <a:xfrm>
            <a:off x="0" y="9748203"/>
            <a:ext cx="18288000" cy="1049019"/>
          </a:xfrm>
          <a:prstGeom prst="rect">
            <a:avLst/>
          </a:prstGeom>
        </p:spPr>
        <p:txBody>
          <a:bodyPr lIns="0" tIns="0" rIns="0" bIns="0" rtlCol="0" anchor="t">
            <a:spAutoFit/>
          </a:bodyPr>
          <a:lstStyle/>
          <a:p>
            <a:pPr algn="ctr">
              <a:lnSpc>
                <a:spcPts val="2240"/>
              </a:lnSpc>
            </a:pPr>
            <a:r>
              <a:rPr lang="en-US" sz="1600">
                <a:solidFill>
                  <a:srgbClr val="000000"/>
                </a:solidFill>
                <a:latin typeface="Canva Sans"/>
              </a:rPr>
              <a:t>LSHTM. (n.d.). One third of UK fruit and vegetables are imported from climate-vulnerable countries – and this is on the rise. [online] Available at: https://www.lshtm.ac.uk/newsevents/news/2020/one-third-uk-fruit-and-vegetables-are-imported-climate-vulnerable-countries.</a:t>
            </a:r>
          </a:p>
          <a:p>
            <a:pPr algn="ctr">
              <a:lnSpc>
                <a:spcPts val="2240"/>
              </a:lnSpc>
            </a:pPr>
            <a:r>
              <a:rPr lang="en-US" sz="1600">
                <a:solidFill>
                  <a:srgbClr val="000000"/>
                </a:solidFill>
                <a:cs typeface="Canva Sans"/>
              </a:rPr>
              <a:t>‌</a:t>
            </a:r>
          </a:p>
          <a:p>
            <a:pPr algn="ctr">
              <a:lnSpc>
                <a:spcPts val="1820"/>
              </a:lnSpc>
            </a:pPr>
            <a:endParaRPr lang="en-US" sz="1600">
              <a:solidFill>
                <a:srgbClr val="000000"/>
              </a:solidFill>
              <a:cs typeface="Canv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3962400" y="1171925"/>
            <a:ext cx="10863031" cy="8205788"/>
          </a:xfrm>
          <a:custGeom>
            <a:avLst/>
            <a:gdLst/>
            <a:ahLst/>
            <a:cxnLst/>
            <a:rect l="l" t="t" r="r" b="b"/>
            <a:pathLst>
              <a:path w="11362863" h="8205788">
                <a:moveTo>
                  <a:pt x="0" y="0"/>
                </a:moveTo>
                <a:lnTo>
                  <a:pt x="11362864" y="0"/>
                </a:lnTo>
                <a:lnTo>
                  <a:pt x="11362864" y="8205788"/>
                </a:lnTo>
                <a:lnTo>
                  <a:pt x="0" y="8205788"/>
                </a:lnTo>
                <a:lnTo>
                  <a:pt x="0" y="0"/>
                </a:lnTo>
                <a:close/>
              </a:path>
            </a:pathLst>
          </a:custGeom>
          <a:blipFill>
            <a:blip r:embed="rId3"/>
            <a:stretch>
              <a:fillRect l="-3508" r="1"/>
            </a:stretch>
          </a:blipFill>
        </p:spPr>
        <p:txBody>
          <a:bodyPr/>
          <a:lstStyle/>
          <a:p>
            <a:endParaRPr lang="en-GB" dirty="0"/>
          </a:p>
        </p:txBody>
      </p:sp>
      <p:sp>
        <p:nvSpPr>
          <p:cNvPr id="3" name="TextBox 3"/>
          <p:cNvSpPr txBox="1"/>
          <p:nvPr/>
        </p:nvSpPr>
        <p:spPr>
          <a:xfrm>
            <a:off x="1028700" y="207645"/>
            <a:ext cx="5935355" cy="821055"/>
          </a:xfrm>
          <a:prstGeom prst="rect">
            <a:avLst/>
          </a:prstGeom>
        </p:spPr>
        <p:txBody>
          <a:bodyPr lIns="0" tIns="0" rIns="0" bIns="0" rtlCol="0" anchor="t">
            <a:spAutoFit/>
          </a:bodyPr>
          <a:lstStyle/>
          <a:p>
            <a:pPr>
              <a:lnSpc>
                <a:spcPts val="6719"/>
              </a:lnSpc>
            </a:pPr>
            <a:r>
              <a:rPr lang="en-US" sz="4800">
                <a:solidFill>
                  <a:srgbClr val="1D1D1F"/>
                </a:solidFill>
                <a:latin typeface="Raleway Heavy"/>
              </a:rPr>
              <a:t>FOOD IMPORTS</a:t>
            </a:r>
          </a:p>
        </p:txBody>
      </p:sp>
      <p:sp>
        <p:nvSpPr>
          <p:cNvPr id="4" name="AutoShape 4"/>
          <p:cNvSpPr/>
          <p:nvPr/>
        </p:nvSpPr>
        <p:spPr>
          <a:xfrm flipV="1">
            <a:off x="1028700" y="1028700"/>
            <a:ext cx="16230600" cy="23812"/>
          </a:xfrm>
          <a:prstGeom prst="line">
            <a:avLst/>
          </a:prstGeom>
          <a:ln w="47625" cap="flat">
            <a:solidFill>
              <a:srgbClr val="A28231"/>
            </a:solidFill>
            <a:prstDash val="solid"/>
            <a:headEnd type="none" w="sm" len="sm"/>
            <a:tailEnd type="none" w="sm" len="sm"/>
          </a:ln>
        </p:spPr>
        <p:txBody>
          <a:bodyPr/>
          <a:lstStyle/>
          <a:p>
            <a:endParaRPr lang="en-GB"/>
          </a:p>
        </p:txBody>
      </p:sp>
      <p:sp>
        <p:nvSpPr>
          <p:cNvPr id="5" name="TextBox 5"/>
          <p:cNvSpPr txBox="1"/>
          <p:nvPr/>
        </p:nvSpPr>
        <p:spPr>
          <a:xfrm>
            <a:off x="640935" y="9435213"/>
            <a:ext cx="17647065" cy="1323339"/>
          </a:xfrm>
          <a:prstGeom prst="rect">
            <a:avLst/>
          </a:prstGeom>
        </p:spPr>
        <p:txBody>
          <a:bodyPr lIns="0" tIns="0" rIns="0" bIns="0" rtlCol="0" anchor="t">
            <a:spAutoFit/>
          </a:bodyPr>
          <a:lstStyle/>
          <a:p>
            <a:pPr algn="ctr">
              <a:lnSpc>
                <a:spcPts val="2660"/>
              </a:lnSpc>
            </a:pPr>
            <a:r>
              <a:rPr lang="en-US" sz="1900">
                <a:solidFill>
                  <a:srgbClr val="1D1D1F"/>
                </a:solidFill>
                <a:latin typeface="Canva Sans"/>
              </a:rPr>
              <a:t>GOV.UK. (n.d.). Horticulture statistics - 2022. [online] Available at: https://www.gov.uk/government/statistics/latest-horticulture-statistics/horticulture-statistics-2022.</a:t>
            </a:r>
          </a:p>
          <a:p>
            <a:pPr algn="ctr">
              <a:lnSpc>
                <a:spcPts val="2660"/>
              </a:lnSpc>
            </a:pPr>
            <a:r>
              <a:rPr lang="en-US" sz="1900">
                <a:solidFill>
                  <a:srgbClr val="1D1D1F"/>
                </a:solidFill>
                <a:cs typeface="Canva Sans"/>
              </a:rPr>
              <a:t>‌</a:t>
            </a:r>
          </a:p>
          <a:p>
            <a:pPr algn="ctr">
              <a:lnSpc>
                <a:spcPts val="2660"/>
              </a:lnSpc>
            </a:pPr>
            <a:endParaRPr lang="en-US" sz="1900">
              <a:solidFill>
                <a:srgbClr val="1D1D1F"/>
              </a:solidFill>
              <a:cs typeface="Canva Sans"/>
            </a:endParaRPr>
          </a:p>
        </p:txBody>
      </p:sp>
      <p:sp>
        <p:nvSpPr>
          <p:cNvPr id="6" name="TextBox 5">
            <a:extLst>
              <a:ext uri="{FF2B5EF4-FFF2-40B4-BE49-F238E27FC236}">
                <a16:creationId xmlns:a16="http://schemas.microsoft.com/office/drawing/2014/main" id="{F5DB9653-2751-D950-7C91-BF7A26A2F826}"/>
              </a:ext>
            </a:extLst>
          </p:cNvPr>
          <p:cNvSpPr txBox="1"/>
          <p:nvPr/>
        </p:nvSpPr>
        <p:spPr>
          <a:xfrm rot="16200000">
            <a:off x="2101334" y="3845868"/>
            <a:ext cx="3352800" cy="461665"/>
          </a:xfrm>
          <a:prstGeom prst="rect">
            <a:avLst/>
          </a:prstGeom>
          <a:noFill/>
        </p:spPr>
        <p:txBody>
          <a:bodyPr wrap="square" rtlCol="0">
            <a:spAutoFit/>
          </a:bodyPr>
          <a:lstStyle/>
          <a:p>
            <a:r>
              <a:rPr lang="en-GB" sz="2400" dirty="0"/>
              <a:t>Quantity (tonnes)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1028700" y="1785634"/>
            <a:ext cx="2329176" cy="2161850"/>
          </a:xfrm>
          <a:custGeom>
            <a:avLst/>
            <a:gdLst/>
            <a:ahLst/>
            <a:cxnLst/>
            <a:rect l="l" t="t" r="r" b="b"/>
            <a:pathLst>
              <a:path w="2329176" h="2161850">
                <a:moveTo>
                  <a:pt x="0" y="0"/>
                </a:moveTo>
                <a:lnTo>
                  <a:pt x="2329176" y="0"/>
                </a:lnTo>
                <a:lnTo>
                  <a:pt x="2329176" y="2161850"/>
                </a:lnTo>
                <a:lnTo>
                  <a:pt x="0" y="2161850"/>
                </a:lnTo>
                <a:lnTo>
                  <a:pt x="0" y="0"/>
                </a:lnTo>
                <a:close/>
              </a:path>
            </a:pathLst>
          </a:custGeom>
          <a:blipFill>
            <a:blip r:embed="rId3"/>
            <a:stretch>
              <a:fillRect/>
            </a:stretch>
          </a:blipFill>
        </p:spPr>
        <p:txBody>
          <a:bodyPr/>
          <a:lstStyle/>
          <a:p>
            <a:endParaRPr lang="en-GB"/>
          </a:p>
        </p:txBody>
      </p:sp>
      <p:sp>
        <p:nvSpPr>
          <p:cNvPr id="3" name="TextBox 3"/>
          <p:cNvSpPr txBox="1"/>
          <p:nvPr/>
        </p:nvSpPr>
        <p:spPr>
          <a:xfrm>
            <a:off x="1028700" y="207645"/>
            <a:ext cx="5224188" cy="821055"/>
          </a:xfrm>
          <a:prstGeom prst="rect">
            <a:avLst/>
          </a:prstGeom>
        </p:spPr>
        <p:txBody>
          <a:bodyPr lIns="0" tIns="0" rIns="0" bIns="0" rtlCol="0" anchor="t">
            <a:spAutoFit/>
          </a:bodyPr>
          <a:lstStyle/>
          <a:p>
            <a:pPr>
              <a:lnSpc>
                <a:spcPts val="6719"/>
              </a:lnSpc>
            </a:pPr>
            <a:r>
              <a:rPr lang="en-US" sz="4800">
                <a:solidFill>
                  <a:srgbClr val="1D1D1F"/>
                </a:solidFill>
                <a:latin typeface="Raleway Heavy"/>
              </a:rPr>
              <a:t>THE METHOD</a:t>
            </a:r>
          </a:p>
        </p:txBody>
      </p:sp>
      <p:sp>
        <p:nvSpPr>
          <p:cNvPr id="4" name="AutoShape 4"/>
          <p:cNvSpPr/>
          <p:nvPr/>
        </p:nvSpPr>
        <p:spPr>
          <a:xfrm flipV="1">
            <a:off x="1028700" y="1028700"/>
            <a:ext cx="16230600" cy="23812"/>
          </a:xfrm>
          <a:prstGeom prst="line">
            <a:avLst/>
          </a:prstGeom>
          <a:ln w="47625" cap="flat">
            <a:solidFill>
              <a:srgbClr val="A28231"/>
            </a:solidFill>
            <a:prstDash val="solid"/>
            <a:headEnd type="none" w="sm" len="sm"/>
            <a:tailEnd type="none" w="sm" len="sm"/>
          </a:ln>
        </p:spPr>
        <p:txBody>
          <a:bodyPr/>
          <a:lstStyle/>
          <a:p>
            <a:endParaRPr lang="en-GB"/>
          </a:p>
        </p:txBody>
      </p:sp>
      <p:sp>
        <p:nvSpPr>
          <p:cNvPr id="5" name="TextBox 5"/>
          <p:cNvSpPr txBox="1"/>
          <p:nvPr/>
        </p:nvSpPr>
        <p:spPr>
          <a:xfrm>
            <a:off x="1028700" y="1325952"/>
            <a:ext cx="3725076" cy="379095"/>
          </a:xfrm>
          <a:prstGeom prst="rect">
            <a:avLst/>
          </a:prstGeom>
        </p:spPr>
        <p:txBody>
          <a:bodyPr lIns="0" tIns="0" rIns="0" bIns="0" rtlCol="0" anchor="t">
            <a:spAutoFit/>
          </a:bodyPr>
          <a:lstStyle/>
          <a:p>
            <a:pPr marL="0" lvl="0" indent="0" algn="l">
              <a:lnSpc>
                <a:spcPts val="3120"/>
              </a:lnSpc>
              <a:spcBef>
                <a:spcPct val="0"/>
              </a:spcBef>
            </a:pPr>
            <a:r>
              <a:rPr lang="en-US" sz="2400">
                <a:solidFill>
                  <a:srgbClr val="1D1D1F"/>
                </a:solidFill>
                <a:latin typeface="Now Heavy"/>
              </a:rPr>
              <a:t>Location &amp; Greenhouse</a:t>
            </a:r>
          </a:p>
        </p:txBody>
      </p:sp>
      <p:grpSp>
        <p:nvGrpSpPr>
          <p:cNvPr id="6" name="Group 6"/>
          <p:cNvGrpSpPr/>
          <p:nvPr/>
        </p:nvGrpSpPr>
        <p:grpSpPr>
          <a:xfrm>
            <a:off x="9144000" y="5645243"/>
            <a:ext cx="4231732" cy="2128069"/>
            <a:chOff x="0" y="0"/>
            <a:chExt cx="5642309" cy="2837425"/>
          </a:xfrm>
        </p:grpSpPr>
        <p:sp>
          <p:nvSpPr>
            <p:cNvPr id="7" name="Freeform 7"/>
            <p:cNvSpPr/>
            <p:nvPr/>
          </p:nvSpPr>
          <p:spPr>
            <a:xfrm>
              <a:off x="0" y="1015633"/>
              <a:ext cx="3238741" cy="1821792"/>
            </a:xfrm>
            <a:custGeom>
              <a:avLst/>
              <a:gdLst/>
              <a:ahLst/>
              <a:cxnLst/>
              <a:rect l="l" t="t" r="r" b="b"/>
              <a:pathLst>
                <a:path w="3238741" h="1821792">
                  <a:moveTo>
                    <a:pt x="0" y="0"/>
                  </a:moveTo>
                  <a:lnTo>
                    <a:pt x="3238741" y="0"/>
                  </a:lnTo>
                  <a:lnTo>
                    <a:pt x="3238741" y="1821792"/>
                  </a:lnTo>
                  <a:lnTo>
                    <a:pt x="0" y="1821792"/>
                  </a:lnTo>
                  <a:lnTo>
                    <a:pt x="0" y="0"/>
                  </a:lnTo>
                  <a:close/>
                </a:path>
              </a:pathLst>
            </a:custGeom>
            <a:blipFill>
              <a:blip r:embed="rId4"/>
              <a:stretch>
                <a:fillRect/>
              </a:stretch>
            </a:blipFill>
          </p:spPr>
          <p:txBody>
            <a:bodyPr/>
            <a:lstStyle/>
            <a:p>
              <a:endParaRPr lang="en-GB"/>
            </a:p>
          </p:txBody>
        </p:sp>
        <p:sp>
          <p:nvSpPr>
            <p:cNvPr id="8" name="AutoShape 8"/>
            <p:cNvSpPr/>
            <p:nvPr/>
          </p:nvSpPr>
          <p:spPr>
            <a:xfrm>
              <a:off x="0" y="31750"/>
              <a:ext cx="1891695" cy="0"/>
            </a:xfrm>
            <a:prstGeom prst="line">
              <a:avLst/>
            </a:prstGeom>
            <a:ln w="63500" cap="flat">
              <a:solidFill>
                <a:srgbClr val="A28231"/>
              </a:solidFill>
              <a:prstDash val="solid"/>
              <a:headEnd type="none" w="sm" len="sm"/>
              <a:tailEnd type="none" w="sm" len="sm"/>
            </a:ln>
          </p:spPr>
          <p:txBody>
            <a:bodyPr/>
            <a:lstStyle/>
            <a:p>
              <a:endParaRPr lang="en-GB"/>
            </a:p>
          </p:txBody>
        </p:sp>
        <p:sp>
          <p:nvSpPr>
            <p:cNvPr id="9" name="TextBox 9"/>
            <p:cNvSpPr txBox="1"/>
            <p:nvPr/>
          </p:nvSpPr>
          <p:spPr>
            <a:xfrm>
              <a:off x="0" y="417419"/>
              <a:ext cx="5642309" cy="499110"/>
            </a:xfrm>
            <a:prstGeom prst="rect">
              <a:avLst/>
            </a:prstGeom>
          </p:spPr>
          <p:txBody>
            <a:bodyPr lIns="0" tIns="0" rIns="0" bIns="0" rtlCol="0" anchor="t">
              <a:spAutoFit/>
            </a:bodyPr>
            <a:lstStyle/>
            <a:p>
              <a:pPr marL="0" lvl="0" indent="0" algn="l">
                <a:lnSpc>
                  <a:spcPts val="3120"/>
                </a:lnSpc>
                <a:spcBef>
                  <a:spcPct val="0"/>
                </a:spcBef>
              </a:pPr>
              <a:r>
                <a:rPr lang="en-US" sz="2400">
                  <a:solidFill>
                    <a:srgbClr val="1D1D1F"/>
                  </a:solidFill>
                  <a:latin typeface="Now Heavy"/>
                </a:rPr>
                <a:t>Heat pump design</a:t>
              </a:r>
            </a:p>
          </p:txBody>
        </p:sp>
      </p:grpSp>
      <p:grpSp>
        <p:nvGrpSpPr>
          <p:cNvPr id="10" name="Group 10"/>
          <p:cNvGrpSpPr/>
          <p:nvPr/>
        </p:nvGrpSpPr>
        <p:grpSpPr>
          <a:xfrm>
            <a:off x="5260432" y="3600083"/>
            <a:ext cx="4231732" cy="618466"/>
            <a:chOff x="0" y="0"/>
            <a:chExt cx="5642309" cy="824621"/>
          </a:xfrm>
        </p:grpSpPr>
        <p:sp>
          <p:nvSpPr>
            <p:cNvPr id="11" name="AutoShape 11"/>
            <p:cNvSpPr/>
            <p:nvPr/>
          </p:nvSpPr>
          <p:spPr>
            <a:xfrm>
              <a:off x="0" y="0"/>
              <a:ext cx="1891695" cy="0"/>
            </a:xfrm>
            <a:prstGeom prst="line">
              <a:avLst/>
            </a:prstGeom>
            <a:ln w="63500" cap="flat">
              <a:solidFill>
                <a:srgbClr val="A28231"/>
              </a:solidFill>
              <a:prstDash val="solid"/>
              <a:headEnd type="none" w="sm" len="sm"/>
              <a:tailEnd type="none" w="sm" len="sm"/>
            </a:ln>
          </p:spPr>
          <p:txBody>
            <a:bodyPr/>
            <a:lstStyle/>
            <a:p>
              <a:endParaRPr lang="en-GB"/>
            </a:p>
          </p:txBody>
        </p:sp>
        <p:sp>
          <p:nvSpPr>
            <p:cNvPr id="12" name="TextBox 12"/>
            <p:cNvSpPr txBox="1"/>
            <p:nvPr/>
          </p:nvSpPr>
          <p:spPr>
            <a:xfrm>
              <a:off x="0" y="325511"/>
              <a:ext cx="5642309" cy="499110"/>
            </a:xfrm>
            <a:prstGeom prst="rect">
              <a:avLst/>
            </a:prstGeom>
          </p:spPr>
          <p:txBody>
            <a:bodyPr lIns="0" tIns="0" rIns="0" bIns="0" rtlCol="0" anchor="t">
              <a:spAutoFit/>
            </a:bodyPr>
            <a:lstStyle/>
            <a:p>
              <a:pPr marL="0" lvl="0" indent="0" algn="l">
                <a:lnSpc>
                  <a:spcPts val="3120"/>
                </a:lnSpc>
                <a:spcBef>
                  <a:spcPct val="0"/>
                </a:spcBef>
              </a:pPr>
              <a:r>
                <a:rPr lang="en-US" sz="2400">
                  <a:solidFill>
                    <a:srgbClr val="1D1D1F"/>
                  </a:solidFill>
                  <a:latin typeface="Now Heavy"/>
                </a:rPr>
                <a:t>Heat transfer</a:t>
              </a:r>
            </a:p>
          </p:txBody>
        </p:sp>
      </p:grpSp>
      <p:grpSp>
        <p:nvGrpSpPr>
          <p:cNvPr id="13" name="Group 13"/>
          <p:cNvGrpSpPr/>
          <p:nvPr/>
        </p:nvGrpSpPr>
        <p:grpSpPr>
          <a:xfrm>
            <a:off x="5260432" y="4349522"/>
            <a:ext cx="2571163" cy="457878"/>
            <a:chOff x="0" y="0"/>
            <a:chExt cx="3428217" cy="610504"/>
          </a:xfrm>
        </p:grpSpPr>
        <p:sp>
          <p:nvSpPr>
            <p:cNvPr id="14" name="Freeform 14"/>
            <p:cNvSpPr/>
            <p:nvPr/>
          </p:nvSpPr>
          <p:spPr>
            <a:xfrm>
              <a:off x="0" y="0"/>
              <a:ext cx="3428217" cy="610504"/>
            </a:xfrm>
            <a:custGeom>
              <a:avLst/>
              <a:gdLst/>
              <a:ahLst/>
              <a:cxnLst/>
              <a:rect l="l" t="t" r="r" b="b"/>
              <a:pathLst>
                <a:path w="3428217" h="610504">
                  <a:moveTo>
                    <a:pt x="0" y="0"/>
                  </a:moveTo>
                  <a:lnTo>
                    <a:pt x="3428217" y="0"/>
                  </a:lnTo>
                  <a:lnTo>
                    <a:pt x="3428217" y="610504"/>
                  </a:lnTo>
                  <a:lnTo>
                    <a:pt x="0" y="6105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grpSp>
      <p:grpSp>
        <p:nvGrpSpPr>
          <p:cNvPr id="15" name="Group 15"/>
          <p:cNvGrpSpPr/>
          <p:nvPr/>
        </p:nvGrpSpPr>
        <p:grpSpPr>
          <a:xfrm>
            <a:off x="5260432" y="4955980"/>
            <a:ext cx="3663027" cy="457878"/>
            <a:chOff x="0" y="0"/>
            <a:chExt cx="4884036" cy="610504"/>
          </a:xfrm>
        </p:grpSpPr>
        <p:sp>
          <p:nvSpPr>
            <p:cNvPr id="16" name="Freeform 16"/>
            <p:cNvSpPr/>
            <p:nvPr/>
          </p:nvSpPr>
          <p:spPr>
            <a:xfrm>
              <a:off x="0" y="0"/>
              <a:ext cx="4884036" cy="610504"/>
            </a:xfrm>
            <a:custGeom>
              <a:avLst/>
              <a:gdLst/>
              <a:ahLst/>
              <a:cxnLst/>
              <a:rect l="l" t="t" r="r" b="b"/>
              <a:pathLst>
                <a:path w="4884036" h="610504">
                  <a:moveTo>
                    <a:pt x="0" y="0"/>
                  </a:moveTo>
                  <a:lnTo>
                    <a:pt x="4884036" y="0"/>
                  </a:lnTo>
                  <a:lnTo>
                    <a:pt x="4884036" y="610504"/>
                  </a:lnTo>
                  <a:lnTo>
                    <a:pt x="0" y="61050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sp>
        <p:nvSpPr>
          <p:cNvPr id="17" name="Freeform 17"/>
          <p:cNvSpPr/>
          <p:nvPr/>
        </p:nvSpPr>
        <p:spPr>
          <a:xfrm rot="-5400000" flipH="1">
            <a:off x="4845017" y="1418273"/>
            <a:ext cx="1609755" cy="1792237"/>
          </a:xfrm>
          <a:custGeom>
            <a:avLst/>
            <a:gdLst/>
            <a:ahLst/>
            <a:cxnLst/>
            <a:rect l="l" t="t" r="r" b="b"/>
            <a:pathLst>
              <a:path w="1609755" h="1792237">
                <a:moveTo>
                  <a:pt x="1609755" y="0"/>
                </a:moveTo>
                <a:lnTo>
                  <a:pt x="0" y="0"/>
                </a:lnTo>
                <a:lnTo>
                  <a:pt x="0" y="1792237"/>
                </a:lnTo>
                <a:lnTo>
                  <a:pt x="1609755" y="1792237"/>
                </a:lnTo>
                <a:lnTo>
                  <a:pt x="1609755"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8" name="AutoShape 18"/>
          <p:cNvSpPr/>
          <p:nvPr/>
        </p:nvSpPr>
        <p:spPr>
          <a:xfrm>
            <a:off x="13375732" y="7548287"/>
            <a:ext cx="1418771" cy="0"/>
          </a:xfrm>
          <a:prstGeom prst="line">
            <a:avLst/>
          </a:prstGeom>
          <a:ln w="47625" cap="flat">
            <a:solidFill>
              <a:srgbClr val="A28231"/>
            </a:solidFill>
            <a:prstDash val="solid"/>
            <a:headEnd type="none" w="sm" len="sm"/>
            <a:tailEnd type="none" w="sm" len="sm"/>
          </a:ln>
        </p:spPr>
        <p:txBody>
          <a:bodyPr/>
          <a:lstStyle/>
          <a:p>
            <a:endParaRPr lang="en-GB"/>
          </a:p>
        </p:txBody>
      </p:sp>
      <p:sp>
        <p:nvSpPr>
          <p:cNvPr id="19" name="Freeform 19"/>
          <p:cNvSpPr/>
          <p:nvPr/>
        </p:nvSpPr>
        <p:spPr>
          <a:xfrm>
            <a:off x="13375732" y="8330307"/>
            <a:ext cx="2380156" cy="1785117"/>
          </a:xfrm>
          <a:custGeom>
            <a:avLst/>
            <a:gdLst/>
            <a:ahLst/>
            <a:cxnLst/>
            <a:rect l="l" t="t" r="r" b="b"/>
            <a:pathLst>
              <a:path w="2380156" h="1785117">
                <a:moveTo>
                  <a:pt x="0" y="0"/>
                </a:moveTo>
                <a:lnTo>
                  <a:pt x="2380156" y="0"/>
                </a:lnTo>
                <a:lnTo>
                  <a:pt x="2380156" y="1785117"/>
                </a:lnTo>
                <a:lnTo>
                  <a:pt x="0" y="1785117"/>
                </a:lnTo>
                <a:lnTo>
                  <a:pt x="0" y="0"/>
                </a:lnTo>
                <a:close/>
              </a:path>
            </a:pathLst>
          </a:custGeom>
          <a:blipFill>
            <a:blip r:embed="rId11"/>
            <a:stretch>
              <a:fillRect/>
            </a:stretch>
          </a:blipFill>
        </p:spPr>
        <p:txBody>
          <a:bodyPr/>
          <a:lstStyle/>
          <a:p>
            <a:endParaRPr lang="en-GB"/>
          </a:p>
        </p:txBody>
      </p:sp>
      <p:sp>
        <p:nvSpPr>
          <p:cNvPr id="20" name="TextBox 20"/>
          <p:cNvSpPr txBox="1"/>
          <p:nvPr/>
        </p:nvSpPr>
        <p:spPr>
          <a:xfrm>
            <a:off x="13375732" y="7775783"/>
            <a:ext cx="4231732" cy="379095"/>
          </a:xfrm>
          <a:prstGeom prst="rect">
            <a:avLst/>
          </a:prstGeom>
        </p:spPr>
        <p:txBody>
          <a:bodyPr lIns="0" tIns="0" rIns="0" bIns="0" rtlCol="0" anchor="t">
            <a:spAutoFit/>
          </a:bodyPr>
          <a:lstStyle/>
          <a:p>
            <a:pPr marL="0" lvl="0" indent="0" algn="l">
              <a:lnSpc>
                <a:spcPts val="3120"/>
              </a:lnSpc>
              <a:spcBef>
                <a:spcPct val="0"/>
              </a:spcBef>
            </a:pPr>
            <a:r>
              <a:rPr lang="en-US" sz="2400">
                <a:solidFill>
                  <a:srgbClr val="1D1D1F"/>
                </a:solidFill>
                <a:latin typeface="Now Heavy"/>
              </a:rPr>
              <a:t>Results</a:t>
            </a:r>
          </a:p>
        </p:txBody>
      </p:sp>
      <p:sp>
        <p:nvSpPr>
          <p:cNvPr id="21" name="Freeform 21"/>
          <p:cNvSpPr/>
          <p:nvPr/>
        </p:nvSpPr>
        <p:spPr>
          <a:xfrm rot="-5400000" flipH="1">
            <a:off x="8339123" y="3712862"/>
            <a:ext cx="1609755" cy="1792237"/>
          </a:xfrm>
          <a:custGeom>
            <a:avLst/>
            <a:gdLst/>
            <a:ahLst/>
            <a:cxnLst/>
            <a:rect l="l" t="t" r="r" b="b"/>
            <a:pathLst>
              <a:path w="1609755" h="1792237">
                <a:moveTo>
                  <a:pt x="1609754" y="0"/>
                </a:moveTo>
                <a:lnTo>
                  <a:pt x="0" y="0"/>
                </a:lnTo>
                <a:lnTo>
                  <a:pt x="0" y="1792237"/>
                </a:lnTo>
                <a:lnTo>
                  <a:pt x="1609754" y="1792237"/>
                </a:lnTo>
                <a:lnTo>
                  <a:pt x="1609754"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22" name="Freeform 22"/>
          <p:cNvSpPr/>
          <p:nvPr/>
        </p:nvSpPr>
        <p:spPr>
          <a:xfrm rot="-5400000" flipH="1">
            <a:off x="12272466" y="5712270"/>
            <a:ext cx="1609755" cy="1792237"/>
          </a:xfrm>
          <a:custGeom>
            <a:avLst/>
            <a:gdLst/>
            <a:ahLst/>
            <a:cxnLst/>
            <a:rect l="l" t="t" r="r" b="b"/>
            <a:pathLst>
              <a:path w="1609755" h="1792237">
                <a:moveTo>
                  <a:pt x="1609755" y="0"/>
                </a:moveTo>
                <a:lnTo>
                  <a:pt x="0" y="0"/>
                </a:lnTo>
                <a:lnTo>
                  <a:pt x="0" y="1792237"/>
                </a:lnTo>
                <a:lnTo>
                  <a:pt x="1609755" y="1792237"/>
                </a:lnTo>
                <a:lnTo>
                  <a:pt x="1609755"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028700" y="207645"/>
            <a:ext cx="5935355" cy="821055"/>
          </a:xfrm>
          <a:prstGeom prst="rect">
            <a:avLst/>
          </a:prstGeom>
        </p:spPr>
        <p:txBody>
          <a:bodyPr lIns="0" tIns="0" rIns="0" bIns="0" rtlCol="0" anchor="t">
            <a:spAutoFit/>
          </a:bodyPr>
          <a:lstStyle/>
          <a:p>
            <a:pPr>
              <a:lnSpc>
                <a:spcPts val="6719"/>
              </a:lnSpc>
            </a:pPr>
            <a:r>
              <a:rPr lang="en-US" sz="4800">
                <a:solidFill>
                  <a:srgbClr val="1D1D1F"/>
                </a:solidFill>
                <a:latin typeface="Raleway Heavy"/>
              </a:rPr>
              <a:t>THE SITE</a:t>
            </a:r>
          </a:p>
        </p:txBody>
      </p:sp>
      <p:sp>
        <p:nvSpPr>
          <p:cNvPr id="5" name="Freeform 5"/>
          <p:cNvSpPr/>
          <p:nvPr/>
        </p:nvSpPr>
        <p:spPr>
          <a:xfrm>
            <a:off x="-1162523" y="1391602"/>
            <a:ext cx="8169725" cy="7582819"/>
          </a:xfrm>
          <a:custGeom>
            <a:avLst/>
            <a:gdLst/>
            <a:ahLst/>
            <a:cxnLst/>
            <a:rect l="l" t="t" r="r" b="b"/>
            <a:pathLst>
              <a:path w="10892967" h="10110426">
                <a:moveTo>
                  <a:pt x="0" y="0"/>
                </a:moveTo>
                <a:lnTo>
                  <a:pt x="10892967" y="0"/>
                </a:lnTo>
                <a:lnTo>
                  <a:pt x="10892967" y="10110426"/>
                </a:lnTo>
                <a:lnTo>
                  <a:pt x="0" y="10110426"/>
                </a:lnTo>
                <a:lnTo>
                  <a:pt x="0" y="0"/>
                </a:lnTo>
                <a:close/>
              </a:path>
            </a:pathLst>
          </a:custGeom>
          <a:blipFill>
            <a:blip r:embed="rId3"/>
            <a:stretch>
              <a:fillRect/>
            </a:stretch>
          </a:blipFill>
        </p:spPr>
        <p:txBody>
          <a:bodyPr/>
          <a:lstStyle/>
          <a:p>
            <a:endParaRPr lang="en-GB"/>
          </a:p>
        </p:txBody>
      </p:sp>
      <p:sp>
        <p:nvSpPr>
          <p:cNvPr id="6" name="AutoShape 6"/>
          <p:cNvSpPr/>
          <p:nvPr/>
        </p:nvSpPr>
        <p:spPr>
          <a:xfrm>
            <a:off x="1028700" y="1004888"/>
            <a:ext cx="16230600" cy="23812"/>
          </a:xfrm>
          <a:prstGeom prst="line">
            <a:avLst/>
          </a:prstGeom>
          <a:ln w="47625" cap="flat">
            <a:solidFill>
              <a:srgbClr val="A28231"/>
            </a:solidFill>
            <a:prstDash val="solid"/>
            <a:headEnd type="none" w="sm" len="sm"/>
            <a:tailEnd type="none" w="sm" len="sm"/>
          </a:ln>
        </p:spPr>
        <p:txBody>
          <a:bodyPr/>
          <a:lstStyle/>
          <a:p>
            <a:endParaRPr lang="en-GB"/>
          </a:p>
        </p:txBody>
      </p:sp>
      <p:pic>
        <p:nvPicPr>
          <p:cNvPr id="8" name="Picture 7" descr="A graph with a blue line&#10;&#10;Description automatically generated">
            <a:extLst>
              <a:ext uri="{FF2B5EF4-FFF2-40B4-BE49-F238E27FC236}">
                <a16:creationId xmlns:a16="http://schemas.microsoft.com/office/drawing/2014/main" id="{671ECC88-2835-D02A-BA5B-9CDB59653E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9000" y="1864043"/>
            <a:ext cx="11345716" cy="68074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712" b="-16712"/>
            </a:stretch>
          </a:blipFill>
        </p:spPr>
        <p:txBody>
          <a:bodyPr/>
          <a:lstStyle/>
          <a:p>
            <a:endParaRPr lang="en-GB"/>
          </a:p>
        </p:txBody>
      </p:sp>
      <p:sp>
        <p:nvSpPr>
          <p:cNvPr id="3" name="TextBox 3"/>
          <p:cNvSpPr txBox="1"/>
          <p:nvPr/>
        </p:nvSpPr>
        <p:spPr>
          <a:xfrm>
            <a:off x="1028700" y="207645"/>
            <a:ext cx="5935355" cy="821055"/>
          </a:xfrm>
          <a:prstGeom prst="rect">
            <a:avLst/>
          </a:prstGeom>
        </p:spPr>
        <p:txBody>
          <a:bodyPr lIns="0" tIns="0" rIns="0" bIns="0" rtlCol="0" anchor="t">
            <a:spAutoFit/>
          </a:bodyPr>
          <a:lstStyle/>
          <a:p>
            <a:pPr>
              <a:lnSpc>
                <a:spcPts val="6719"/>
              </a:lnSpc>
            </a:pPr>
            <a:r>
              <a:rPr lang="en-US" sz="4800">
                <a:solidFill>
                  <a:srgbClr val="1D1D1F"/>
                </a:solidFill>
                <a:latin typeface="Raleway Heavy"/>
              </a:rPr>
              <a:t>THE GREENHOUSE</a:t>
            </a:r>
          </a:p>
        </p:txBody>
      </p:sp>
      <p:sp>
        <p:nvSpPr>
          <p:cNvPr id="4" name="AutoShape 4"/>
          <p:cNvSpPr/>
          <p:nvPr/>
        </p:nvSpPr>
        <p:spPr>
          <a:xfrm flipV="1">
            <a:off x="1028700" y="1028700"/>
            <a:ext cx="16230600" cy="23812"/>
          </a:xfrm>
          <a:prstGeom prst="line">
            <a:avLst/>
          </a:prstGeom>
          <a:ln w="47625" cap="flat">
            <a:solidFill>
              <a:srgbClr val="A28231"/>
            </a:solidFill>
            <a:prstDash val="solid"/>
            <a:headEnd type="none" w="sm" len="sm"/>
            <a:tailEnd type="none" w="sm" len="sm"/>
          </a:ln>
        </p:spPr>
        <p:txBody>
          <a:bodyPr/>
          <a:lstStyle/>
          <a:p>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1028665" y="302895"/>
            <a:ext cx="16230670" cy="773430"/>
            <a:chOff x="0" y="0"/>
            <a:chExt cx="21640893" cy="1031240"/>
          </a:xfrm>
        </p:grpSpPr>
        <p:sp>
          <p:nvSpPr>
            <p:cNvPr id="3" name="TextBox 3"/>
            <p:cNvSpPr txBox="1"/>
            <p:nvPr/>
          </p:nvSpPr>
          <p:spPr>
            <a:xfrm>
              <a:off x="47" y="-95250"/>
              <a:ext cx="13424098"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SIMULATION: UML DIAGRAM</a:t>
              </a:r>
            </a:p>
          </p:txBody>
        </p:sp>
        <p:sp>
          <p:nvSpPr>
            <p:cNvPr id="4" name="AutoShape 4"/>
            <p:cNvSpPr/>
            <p:nvPr/>
          </p:nvSpPr>
          <p:spPr>
            <a:xfrm flipV="1">
              <a:off x="47" y="967740"/>
              <a:ext cx="21640800" cy="31750"/>
            </a:xfrm>
            <a:prstGeom prst="line">
              <a:avLst/>
            </a:prstGeom>
            <a:ln w="63500" cap="flat">
              <a:solidFill>
                <a:srgbClr val="A28231"/>
              </a:solidFill>
              <a:prstDash val="solid"/>
              <a:headEnd type="none" w="sm" len="sm"/>
              <a:tailEnd type="none" w="sm" len="sm"/>
            </a:ln>
          </p:spPr>
          <p:txBody>
            <a:bodyPr/>
            <a:lstStyle/>
            <a:p>
              <a:endParaRPr lang="en-GB"/>
            </a:p>
          </p:txBody>
        </p:sp>
      </p:grpSp>
      <p:grpSp>
        <p:nvGrpSpPr>
          <p:cNvPr id="5" name="Group 5"/>
          <p:cNvGrpSpPr/>
          <p:nvPr/>
        </p:nvGrpSpPr>
        <p:grpSpPr>
          <a:xfrm>
            <a:off x="1028665" y="1504197"/>
            <a:ext cx="4290843" cy="1254891"/>
            <a:chOff x="0" y="0"/>
            <a:chExt cx="1130099" cy="330506"/>
          </a:xfrm>
        </p:grpSpPr>
        <p:sp>
          <p:nvSpPr>
            <p:cNvPr id="6" name="Freeform 6"/>
            <p:cNvSpPr/>
            <p:nvPr/>
          </p:nvSpPr>
          <p:spPr>
            <a:xfrm>
              <a:off x="0" y="0"/>
              <a:ext cx="1130099" cy="330506"/>
            </a:xfrm>
            <a:custGeom>
              <a:avLst/>
              <a:gdLst/>
              <a:ahLst/>
              <a:cxnLst/>
              <a:rect l="l" t="t" r="r" b="b"/>
              <a:pathLst>
                <a:path w="1130099" h="330506">
                  <a:moveTo>
                    <a:pt x="0" y="0"/>
                  </a:moveTo>
                  <a:lnTo>
                    <a:pt x="1130099" y="0"/>
                  </a:lnTo>
                  <a:lnTo>
                    <a:pt x="1130099" y="330506"/>
                  </a:lnTo>
                  <a:lnTo>
                    <a:pt x="0" y="330506"/>
                  </a:lnTo>
                  <a:close/>
                </a:path>
              </a:pathLst>
            </a:custGeom>
            <a:solidFill>
              <a:srgbClr val="0571D3"/>
            </a:solidFill>
          </p:spPr>
          <p:txBody>
            <a:bodyPr/>
            <a:lstStyle/>
            <a:p>
              <a:endParaRPr lang="en-GB"/>
            </a:p>
          </p:txBody>
        </p:sp>
        <p:sp>
          <p:nvSpPr>
            <p:cNvPr id="7" name="TextBox 7"/>
            <p:cNvSpPr txBox="1"/>
            <p:nvPr/>
          </p:nvSpPr>
          <p:spPr>
            <a:xfrm>
              <a:off x="0" y="-47625"/>
              <a:ext cx="1130099" cy="378131"/>
            </a:xfrm>
            <a:prstGeom prst="rect">
              <a:avLst/>
            </a:prstGeom>
          </p:spPr>
          <p:txBody>
            <a:bodyPr lIns="50800" tIns="50800" rIns="50800" bIns="50800" rtlCol="0" anchor="ctr"/>
            <a:lstStyle/>
            <a:p>
              <a:pPr algn="ctr">
                <a:lnSpc>
                  <a:spcPts val="2800"/>
                </a:lnSpc>
              </a:pPr>
              <a:r>
                <a:rPr lang="en-US" sz="2000">
                  <a:solidFill>
                    <a:srgbClr val="FFFFFF"/>
                  </a:solidFill>
                  <a:latin typeface="Canva Sans"/>
                </a:rPr>
                <a:t>Temperature generation</a:t>
              </a:r>
            </a:p>
          </p:txBody>
        </p:sp>
      </p:grpSp>
      <p:grpSp>
        <p:nvGrpSpPr>
          <p:cNvPr id="8" name="Group 8"/>
          <p:cNvGrpSpPr/>
          <p:nvPr/>
        </p:nvGrpSpPr>
        <p:grpSpPr>
          <a:xfrm>
            <a:off x="1028665" y="3487807"/>
            <a:ext cx="4290843" cy="1254891"/>
            <a:chOff x="0" y="0"/>
            <a:chExt cx="1130099" cy="330506"/>
          </a:xfrm>
        </p:grpSpPr>
        <p:sp>
          <p:nvSpPr>
            <p:cNvPr id="9" name="Freeform 9"/>
            <p:cNvSpPr/>
            <p:nvPr/>
          </p:nvSpPr>
          <p:spPr>
            <a:xfrm>
              <a:off x="0" y="0"/>
              <a:ext cx="1130099" cy="330506"/>
            </a:xfrm>
            <a:custGeom>
              <a:avLst/>
              <a:gdLst/>
              <a:ahLst/>
              <a:cxnLst/>
              <a:rect l="l" t="t" r="r" b="b"/>
              <a:pathLst>
                <a:path w="1130099" h="330506">
                  <a:moveTo>
                    <a:pt x="0" y="0"/>
                  </a:moveTo>
                  <a:lnTo>
                    <a:pt x="1130099" y="0"/>
                  </a:lnTo>
                  <a:lnTo>
                    <a:pt x="1130099" y="330506"/>
                  </a:lnTo>
                  <a:lnTo>
                    <a:pt x="0" y="330506"/>
                  </a:lnTo>
                  <a:close/>
                </a:path>
              </a:pathLst>
            </a:custGeom>
            <a:solidFill>
              <a:srgbClr val="0571D3"/>
            </a:solidFill>
          </p:spPr>
          <p:txBody>
            <a:bodyPr/>
            <a:lstStyle/>
            <a:p>
              <a:endParaRPr lang="en-GB"/>
            </a:p>
          </p:txBody>
        </p:sp>
        <p:sp>
          <p:nvSpPr>
            <p:cNvPr id="10" name="TextBox 10"/>
            <p:cNvSpPr txBox="1"/>
            <p:nvPr/>
          </p:nvSpPr>
          <p:spPr>
            <a:xfrm>
              <a:off x="0" y="-47625"/>
              <a:ext cx="1130099" cy="378131"/>
            </a:xfrm>
            <a:prstGeom prst="rect">
              <a:avLst/>
            </a:prstGeom>
          </p:spPr>
          <p:txBody>
            <a:bodyPr lIns="50800" tIns="50800" rIns="50800" bIns="50800" rtlCol="0" anchor="ctr"/>
            <a:lstStyle/>
            <a:p>
              <a:pPr algn="ctr">
                <a:lnSpc>
                  <a:spcPts val="2800"/>
                </a:lnSpc>
              </a:pPr>
              <a:r>
                <a:rPr lang="en-US" sz="2000">
                  <a:solidFill>
                    <a:srgbClr val="FFFFFF"/>
                  </a:solidFill>
                  <a:latin typeface="Canva Sans"/>
                </a:rPr>
                <a:t>Heat transfer calculator</a:t>
              </a:r>
            </a:p>
          </p:txBody>
        </p:sp>
      </p:grpSp>
      <p:grpSp>
        <p:nvGrpSpPr>
          <p:cNvPr id="11" name="Group 11"/>
          <p:cNvGrpSpPr/>
          <p:nvPr/>
        </p:nvGrpSpPr>
        <p:grpSpPr>
          <a:xfrm>
            <a:off x="2390025" y="5427448"/>
            <a:ext cx="1568124" cy="822152"/>
            <a:chOff x="0" y="0"/>
            <a:chExt cx="413004" cy="216534"/>
          </a:xfrm>
        </p:grpSpPr>
        <p:sp>
          <p:nvSpPr>
            <p:cNvPr id="12" name="Freeform 12"/>
            <p:cNvSpPr/>
            <p:nvPr/>
          </p:nvSpPr>
          <p:spPr>
            <a:xfrm>
              <a:off x="0" y="0"/>
              <a:ext cx="413004" cy="216534"/>
            </a:xfrm>
            <a:custGeom>
              <a:avLst/>
              <a:gdLst/>
              <a:ahLst/>
              <a:cxnLst/>
              <a:rect l="l" t="t" r="r" b="b"/>
              <a:pathLst>
                <a:path w="413004" h="216534">
                  <a:moveTo>
                    <a:pt x="0" y="0"/>
                  </a:moveTo>
                  <a:lnTo>
                    <a:pt x="413004" y="0"/>
                  </a:lnTo>
                  <a:lnTo>
                    <a:pt x="413004" y="216534"/>
                  </a:lnTo>
                  <a:lnTo>
                    <a:pt x="0" y="216534"/>
                  </a:lnTo>
                  <a:close/>
                </a:path>
              </a:pathLst>
            </a:custGeom>
            <a:solidFill>
              <a:srgbClr val="0571D3"/>
            </a:solidFill>
          </p:spPr>
          <p:txBody>
            <a:bodyPr/>
            <a:lstStyle/>
            <a:p>
              <a:endParaRPr lang="en-GB"/>
            </a:p>
          </p:txBody>
        </p:sp>
        <p:sp>
          <p:nvSpPr>
            <p:cNvPr id="13" name="TextBox 13"/>
            <p:cNvSpPr txBox="1"/>
            <p:nvPr/>
          </p:nvSpPr>
          <p:spPr>
            <a:xfrm>
              <a:off x="0" y="-47625"/>
              <a:ext cx="413004" cy="264159"/>
            </a:xfrm>
            <a:prstGeom prst="rect">
              <a:avLst/>
            </a:prstGeom>
          </p:spPr>
          <p:txBody>
            <a:bodyPr lIns="50800" tIns="50800" rIns="50800" bIns="50800" rtlCol="0" anchor="ctr"/>
            <a:lstStyle/>
            <a:p>
              <a:pPr algn="ctr">
                <a:lnSpc>
                  <a:spcPts val="2800"/>
                </a:lnSpc>
              </a:pPr>
              <a:r>
                <a:rPr lang="en-US" sz="2000">
                  <a:solidFill>
                    <a:srgbClr val="FFFFFF"/>
                  </a:solidFill>
                  <a:latin typeface="Canva Sans"/>
                </a:rPr>
                <a:t>Internal temp&gt;= 18</a:t>
              </a:r>
            </a:p>
          </p:txBody>
        </p:sp>
      </p:grpSp>
      <p:grpSp>
        <p:nvGrpSpPr>
          <p:cNvPr id="14" name="Group 14"/>
          <p:cNvGrpSpPr/>
          <p:nvPr/>
        </p:nvGrpSpPr>
        <p:grpSpPr>
          <a:xfrm>
            <a:off x="4535446" y="5476122"/>
            <a:ext cx="1568124" cy="724804"/>
            <a:chOff x="0" y="0"/>
            <a:chExt cx="413004" cy="190895"/>
          </a:xfrm>
        </p:grpSpPr>
        <p:sp>
          <p:nvSpPr>
            <p:cNvPr id="15" name="Freeform 15"/>
            <p:cNvSpPr/>
            <p:nvPr/>
          </p:nvSpPr>
          <p:spPr>
            <a:xfrm>
              <a:off x="0" y="0"/>
              <a:ext cx="413004" cy="190895"/>
            </a:xfrm>
            <a:custGeom>
              <a:avLst/>
              <a:gdLst/>
              <a:ahLst/>
              <a:cxnLst/>
              <a:rect l="l" t="t" r="r" b="b"/>
              <a:pathLst>
                <a:path w="413004" h="190895">
                  <a:moveTo>
                    <a:pt x="0" y="0"/>
                  </a:moveTo>
                  <a:lnTo>
                    <a:pt x="413004" y="0"/>
                  </a:lnTo>
                  <a:lnTo>
                    <a:pt x="413004" y="190895"/>
                  </a:lnTo>
                  <a:lnTo>
                    <a:pt x="0" y="190895"/>
                  </a:lnTo>
                  <a:close/>
                </a:path>
              </a:pathLst>
            </a:custGeom>
            <a:solidFill>
              <a:srgbClr val="0571D3"/>
            </a:solidFill>
          </p:spPr>
          <p:txBody>
            <a:bodyPr/>
            <a:lstStyle/>
            <a:p>
              <a:endParaRPr lang="en-GB"/>
            </a:p>
          </p:txBody>
        </p:sp>
        <p:sp>
          <p:nvSpPr>
            <p:cNvPr id="16" name="TextBox 16"/>
            <p:cNvSpPr txBox="1"/>
            <p:nvPr/>
          </p:nvSpPr>
          <p:spPr>
            <a:xfrm>
              <a:off x="0" y="-47625"/>
              <a:ext cx="413004" cy="238520"/>
            </a:xfrm>
            <a:prstGeom prst="rect">
              <a:avLst/>
            </a:prstGeom>
          </p:spPr>
          <p:txBody>
            <a:bodyPr lIns="50800" tIns="50800" rIns="50800" bIns="50800" rtlCol="0" anchor="ctr"/>
            <a:lstStyle/>
            <a:p>
              <a:pPr algn="ctr">
                <a:lnSpc>
                  <a:spcPts val="2800"/>
                </a:lnSpc>
              </a:pPr>
              <a:r>
                <a:rPr lang="en-US" sz="2000">
                  <a:solidFill>
                    <a:srgbClr val="FFFFFF"/>
                  </a:solidFill>
                  <a:latin typeface="Canva Sans"/>
                </a:rPr>
                <a:t>Else</a:t>
              </a:r>
            </a:p>
          </p:txBody>
        </p:sp>
      </p:grpSp>
      <p:grpSp>
        <p:nvGrpSpPr>
          <p:cNvPr id="17" name="Group 17"/>
          <p:cNvGrpSpPr/>
          <p:nvPr/>
        </p:nvGrpSpPr>
        <p:grpSpPr>
          <a:xfrm>
            <a:off x="6684595" y="5211079"/>
            <a:ext cx="4290843" cy="1254891"/>
            <a:chOff x="0" y="0"/>
            <a:chExt cx="1130099" cy="330506"/>
          </a:xfrm>
        </p:grpSpPr>
        <p:sp>
          <p:nvSpPr>
            <p:cNvPr id="18" name="Freeform 18"/>
            <p:cNvSpPr/>
            <p:nvPr/>
          </p:nvSpPr>
          <p:spPr>
            <a:xfrm>
              <a:off x="0" y="0"/>
              <a:ext cx="1130099" cy="330506"/>
            </a:xfrm>
            <a:custGeom>
              <a:avLst/>
              <a:gdLst/>
              <a:ahLst/>
              <a:cxnLst/>
              <a:rect l="l" t="t" r="r" b="b"/>
              <a:pathLst>
                <a:path w="1130099" h="330506">
                  <a:moveTo>
                    <a:pt x="0" y="0"/>
                  </a:moveTo>
                  <a:lnTo>
                    <a:pt x="1130099" y="0"/>
                  </a:lnTo>
                  <a:lnTo>
                    <a:pt x="1130099" y="330506"/>
                  </a:lnTo>
                  <a:lnTo>
                    <a:pt x="0" y="330506"/>
                  </a:lnTo>
                  <a:close/>
                </a:path>
              </a:pathLst>
            </a:custGeom>
            <a:solidFill>
              <a:srgbClr val="0571D3"/>
            </a:solidFill>
          </p:spPr>
          <p:txBody>
            <a:bodyPr/>
            <a:lstStyle/>
            <a:p>
              <a:endParaRPr lang="en-GB"/>
            </a:p>
          </p:txBody>
        </p:sp>
        <p:sp>
          <p:nvSpPr>
            <p:cNvPr id="19" name="TextBox 19"/>
            <p:cNvSpPr txBox="1"/>
            <p:nvPr/>
          </p:nvSpPr>
          <p:spPr>
            <a:xfrm>
              <a:off x="0" y="-47625"/>
              <a:ext cx="1130099" cy="378131"/>
            </a:xfrm>
            <a:prstGeom prst="rect">
              <a:avLst/>
            </a:prstGeom>
          </p:spPr>
          <p:txBody>
            <a:bodyPr lIns="50800" tIns="50800" rIns="50800" bIns="50800" rtlCol="0" anchor="ctr"/>
            <a:lstStyle/>
            <a:p>
              <a:pPr algn="ctr">
                <a:lnSpc>
                  <a:spcPts val="2800"/>
                </a:lnSpc>
              </a:pPr>
              <a:r>
                <a:rPr lang="en-US" sz="2000">
                  <a:solidFill>
                    <a:srgbClr val="FFFFFF"/>
                  </a:solidFill>
                  <a:latin typeface="Canva Sans"/>
                </a:rPr>
                <a:t>Heat transfer calculator</a:t>
              </a:r>
            </a:p>
            <a:p>
              <a:pPr algn="ctr">
                <a:lnSpc>
                  <a:spcPts val="2800"/>
                </a:lnSpc>
              </a:pPr>
              <a:r>
                <a:rPr lang="en-US" sz="2000">
                  <a:solidFill>
                    <a:srgbClr val="FFFFFF"/>
                  </a:solidFill>
                  <a:latin typeface="Canva Sans"/>
                </a:rPr>
                <a:t>with Qc value</a:t>
              </a:r>
            </a:p>
          </p:txBody>
        </p:sp>
      </p:grpSp>
      <p:grpSp>
        <p:nvGrpSpPr>
          <p:cNvPr id="20" name="Group 20"/>
          <p:cNvGrpSpPr/>
          <p:nvPr/>
        </p:nvGrpSpPr>
        <p:grpSpPr>
          <a:xfrm>
            <a:off x="6684595" y="7345427"/>
            <a:ext cx="4290843" cy="1254891"/>
            <a:chOff x="0" y="0"/>
            <a:chExt cx="1130099" cy="330506"/>
          </a:xfrm>
        </p:grpSpPr>
        <p:sp>
          <p:nvSpPr>
            <p:cNvPr id="21" name="Freeform 21"/>
            <p:cNvSpPr/>
            <p:nvPr/>
          </p:nvSpPr>
          <p:spPr>
            <a:xfrm>
              <a:off x="0" y="0"/>
              <a:ext cx="1130099" cy="330506"/>
            </a:xfrm>
            <a:custGeom>
              <a:avLst/>
              <a:gdLst/>
              <a:ahLst/>
              <a:cxnLst/>
              <a:rect l="l" t="t" r="r" b="b"/>
              <a:pathLst>
                <a:path w="1130099" h="330506">
                  <a:moveTo>
                    <a:pt x="0" y="0"/>
                  </a:moveTo>
                  <a:lnTo>
                    <a:pt x="1130099" y="0"/>
                  </a:lnTo>
                  <a:lnTo>
                    <a:pt x="1130099" y="330506"/>
                  </a:lnTo>
                  <a:lnTo>
                    <a:pt x="0" y="330506"/>
                  </a:lnTo>
                  <a:close/>
                </a:path>
              </a:pathLst>
            </a:custGeom>
            <a:solidFill>
              <a:srgbClr val="0571D3"/>
            </a:solidFill>
          </p:spPr>
          <p:txBody>
            <a:bodyPr/>
            <a:lstStyle/>
            <a:p>
              <a:endParaRPr lang="en-GB"/>
            </a:p>
          </p:txBody>
        </p:sp>
        <p:sp>
          <p:nvSpPr>
            <p:cNvPr id="22" name="TextBox 22"/>
            <p:cNvSpPr txBox="1"/>
            <p:nvPr/>
          </p:nvSpPr>
          <p:spPr>
            <a:xfrm>
              <a:off x="0" y="-47625"/>
              <a:ext cx="1130099" cy="378131"/>
            </a:xfrm>
            <a:prstGeom prst="rect">
              <a:avLst/>
            </a:prstGeom>
          </p:spPr>
          <p:txBody>
            <a:bodyPr lIns="50800" tIns="50800" rIns="50800" bIns="50800" rtlCol="0" anchor="ctr"/>
            <a:lstStyle/>
            <a:p>
              <a:pPr algn="ctr">
                <a:lnSpc>
                  <a:spcPts val="2800"/>
                </a:lnSpc>
              </a:pPr>
              <a:r>
                <a:rPr lang="en-US" sz="2000">
                  <a:solidFill>
                    <a:srgbClr val="FFFFFF"/>
                  </a:solidFill>
                  <a:latin typeface="Canva Sans"/>
                </a:rPr>
                <a:t>Heat pump calculator</a:t>
              </a:r>
            </a:p>
          </p:txBody>
        </p:sp>
      </p:grpSp>
      <p:grpSp>
        <p:nvGrpSpPr>
          <p:cNvPr id="23" name="Group 23"/>
          <p:cNvGrpSpPr/>
          <p:nvPr/>
        </p:nvGrpSpPr>
        <p:grpSpPr>
          <a:xfrm>
            <a:off x="6684595" y="1504197"/>
            <a:ext cx="4290843" cy="1254891"/>
            <a:chOff x="0" y="0"/>
            <a:chExt cx="1130099" cy="330506"/>
          </a:xfrm>
        </p:grpSpPr>
        <p:sp>
          <p:nvSpPr>
            <p:cNvPr id="24" name="Freeform 24"/>
            <p:cNvSpPr/>
            <p:nvPr/>
          </p:nvSpPr>
          <p:spPr>
            <a:xfrm>
              <a:off x="0" y="0"/>
              <a:ext cx="1130099" cy="330506"/>
            </a:xfrm>
            <a:custGeom>
              <a:avLst/>
              <a:gdLst/>
              <a:ahLst/>
              <a:cxnLst/>
              <a:rect l="l" t="t" r="r" b="b"/>
              <a:pathLst>
                <a:path w="1130099" h="330506">
                  <a:moveTo>
                    <a:pt x="0" y="0"/>
                  </a:moveTo>
                  <a:lnTo>
                    <a:pt x="1130099" y="0"/>
                  </a:lnTo>
                  <a:lnTo>
                    <a:pt x="1130099" y="330506"/>
                  </a:lnTo>
                  <a:lnTo>
                    <a:pt x="0" y="330506"/>
                  </a:lnTo>
                  <a:close/>
                </a:path>
              </a:pathLst>
            </a:custGeom>
            <a:solidFill>
              <a:srgbClr val="0571D3"/>
            </a:solidFill>
          </p:spPr>
          <p:txBody>
            <a:bodyPr/>
            <a:lstStyle/>
            <a:p>
              <a:endParaRPr lang="en-GB"/>
            </a:p>
          </p:txBody>
        </p:sp>
        <p:sp>
          <p:nvSpPr>
            <p:cNvPr id="25" name="TextBox 25"/>
            <p:cNvSpPr txBox="1"/>
            <p:nvPr/>
          </p:nvSpPr>
          <p:spPr>
            <a:xfrm>
              <a:off x="0" y="-47625"/>
              <a:ext cx="1130099" cy="378131"/>
            </a:xfrm>
            <a:prstGeom prst="rect">
              <a:avLst/>
            </a:prstGeom>
          </p:spPr>
          <p:txBody>
            <a:bodyPr lIns="50800" tIns="50800" rIns="50800" bIns="50800" rtlCol="0" anchor="ctr"/>
            <a:lstStyle/>
            <a:p>
              <a:pPr algn="ctr">
                <a:lnSpc>
                  <a:spcPts val="2800"/>
                </a:lnSpc>
              </a:pPr>
              <a:r>
                <a:rPr lang="en-US" sz="2000">
                  <a:solidFill>
                    <a:srgbClr val="FFFFFF"/>
                  </a:solidFill>
                  <a:latin typeface="Canva Sans"/>
                </a:rPr>
                <a:t>Data reading </a:t>
              </a:r>
            </a:p>
          </p:txBody>
        </p:sp>
      </p:grpSp>
      <p:grpSp>
        <p:nvGrpSpPr>
          <p:cNvPr id="26" name="Group 26"/>
          <p:cNvGrpSpPr/>
          <p:nvPr/>
        </p:nvGrpSpPr>
        <p:grpSpPr>
          <a:xfrm>
            <a:off x="11800537" y="3487807"/>
            <a:ext cx="4290843" cy="1254891"/>
            <a:chOff x="0" y="0"/>
            <a:chExt cx="1130099" cy="330506"/>
          </a:xfrm>
        </p:grpSpPr>
        <p:sp>
          <p:nvSpPr>
            <p:cNvPr id="27" name="Freeform 27"/>
            <p:cNvSpPr/>
            <p:nvPr/>
          </p:nvSpPr>
          <p:spPr>
            <a:xfrm>
              <a:off x="0" y="0"/>
              <a:ext cx="1130099" cy="330506"/>
            </a:xfrm>
            <a:custGeom>
              <a:avLst/>
              <a:gdLst/>
              <a:ahLst/>
              <a:cxnLst/>
              <a:rect l="l" t="t" r="r" b="b"/>
              <a:pathLst>
                <a:path w="1130099" h="330506">
                  <a:moveTo>
                    <a:pt x="0" y="0"/>
                  </a:moveTo>
                  <a:lnTo>
                    <a:pt x="1130099" y="0"/>
                  </a:lnTo>
                  <a:lnTo>
                    <a:pt x="1130099" y="330506"/>
                  </a:lnTo>
                  <a:lnTo>
                    <a:pt x="0" y="330506"/>
                  </a:lnTo>
                  <a:close/>
                </a:path>
              </a:pathLst>
            </a:custGeom>
            <a:solidFill>
              <a:srgbClr val="0571D3"/>
            </a:solidFill>
          </p:spPr>
          <p:txBody>
            <a:bodyPr/>
            <a:lstStyle/>
            <a:p>
              <a:endParaRPr lang="en-GB"/>
            </a:p>
          </p:txBody>
        </p:sp>
        <p:sp>
          <p:nvSpPr>
            <p:cNvPr id="28" name="TextBox 28"/>
            <p:cNvSpPr txBox="1"/>
            <p:nvPr/>
          </p:nvSpPr>
          <p:spPr>
            <a:xfrm>
              <a:off x="0" y="-47625"/>
              <a:ext cx="1130099" cy="378131"/>
            </a:xfrm>
            <a:prstGeom prst="rect">
              <a:avLst/>
            </a:prstGeom>
          </p:spPr>
          <p:txBody>
            <a:bodyPr lIns="50800" tIns="50800" rIns="50800" bIns="50800" rtlCol="0" anchor="ctr"/>
            <a:lstStyle/>
            <a:p>
              <a:pPr algn="ctr">
                <a:lnSpc>
                  <a:spcPts val="2800"/>
                </a:lnSpc>
              </a:pPr>
              <a:r>
                <a:rPr lang="en-US" sz="2000">
                  <a:solidFill>
                    <a:srgbClr val="FFFFFF"/>
                  </a:solidFill>
                  <a:latin typeface="Canva Sans"/>
                </a:rPr>
                <a:t>Refrigerant properties extraction</a:t>
              </a:r>
            </a:p>
          </p:txBody>
        </p:sp>
      </p:grpSp>
      <p:sp>
        <p:nvSpPr>
          <p:cNvPr id="29" name="AutoShape 29"/>
          <p:cNvSpPr/>
          <p:nvPr/>
        </p:nvSpPr>
        <p:spPr>
          <a:xfrm flipH="1">
            <a:off x="3174087" y="2759088"/>
            <a:ext cx="0" cy="728719"/>
          </a:xfrm>
          <a:prstGeom prst="line">
            <a:avLst/>
          </a:prstGeom>
          <a:ln w="38100" cap="flat">
            <a:solidFill>
              <a:srgbClr val="A28231"/>
            </a:solidFill>
            <a:prstDash val="sysDot"/>
            <a:headEnd type="none" w="sm" len="sm"/>
            <a:tailEnd type="arrow" w="med" len="sm"/>
          </a:ln>
        </p:spPr>
        <p:txBody>
          <a:bodyPr/>
          <a:lstStyle/>
          <a:p>
            <a:endParaRPr lang="en-GB"/>
          </a:p>
        </p:txBody>
      </p:sp>
      <p:sp>
        <p:nvSpPr>
          <p:cNvPr id="30" name="AutoShape 30"/>
          <p:cNvSpPr/>
          <p:nvPr/>
        </p:nvSpPr>
        <p:spPr>
          <a:xfrm>
            <a:off x="5319508" y="4115252"/>
            <a:ext cx="3510508" cy="1095827"/>
          </a:xfrm>
          <a:prstGeom prst="line">
            <a:avLst/>
          </a:prstGeom>
          <a:ln w="38100" cap="flat">
            <a:solidFill>
              <a:srgbClr val="A28231"/>
            </a:solidFill>
            <a:prstDash val="sysDot"/>
            <a:headEnd type="none" w="sm" len="sm"/>
            <a:tailEnd type="arrow" w="med" len="sm"/>
          </a:ln>
        </p:spPr>
        <p:txBody>
          <a:bodyPr/>
          <a:lstStyle/>
          <a:p>
            <a:endParaRPr lang="en-GB"/>
          </a:p>
        </p:txBody>
      </p:sp>
      <p:sp>
        <p:nvSpPr>
          <p:cNvPr id="31" name="AutoShape 31"/>
          <p:cNvSpPr/>
          <p:nvPr/>
        </p:nvSpPr>
        <p:spPr>
          <a:xfrm flipH="1">
            <a:off x="5319508" y="2131642"/>
            <a:ext cx="1365087" cy="0"/>
          </a:xfrm>
          <a:prstGeom prst="line">
            <a:avLst/>
          </a:prstGeom>
          <a:ln w="38100" cap="flat">
            <a:solidFill>
              <a:srgbClr val="A28231"/>
            </a:solidFill>
            <a:prstDash val="solid"/>
            <a:headEnd type="none" w="sm" len="sm"/>
            <a:tailEnd type="none" w="sm" len="sm"/>
          </a:ln>
        </p:spPr>
        <p:txBody>
          <a:bodyPr/>
          <a:lstStyle/>
          <a:p>
            <a:endParaRPr lang="en-GB"/>
          </a:p>
        </p:txBody>
      </p:sp>
      <p:sp>
        <p:nvSpPr>
          <p:cNvPr id="32" name="AutoShape 32"/>
          <p:cNvSpPr/>
          <p:nvPr/>
        </p:nvSpPr>
        <p:spPr>
          <a:xfrm>
            <a:off x="3174087" y="2759088"/>
            <a:ext cx="8626450" cy="1356164"/>
          </a:xfrm>
          <a:prstGeom prst="line">
            <a:avLst/>
          </a:prstGeom>
          <a:ln w="38100" cap="flat">
            <a:solidFill>
              <a:srgbClr val="A28231"/>
            </a:solidFill>
            <a:prstDash val="sysDot"/>
            <a:headEnd type="none" w="sm" len="sm"/>
            <a:tailEnd type="arrow" w="med" len="sm"/>
          </a:ln>
        </p:spPr>
        <p:txBody>
          <a:bodyPr/>
          <a:lstStyle/>
          <a:p>
            <a:endParaRPr lang="en-GB"/>
          </a:p>
        </p:txBody>
      </p:sp>
      <p:sp>
        <p:nvSpPr>
          <p:cNvPr id="33" name="AutoShape 33"/>
          <p:cNvSpPr/>
          <p:nvPr/>
        </p:nvSpPr>
        <p:spPr>
          <a:xfrm flipH="1" flipV="1">
            <a:off x="10975438" y="2131641"/>
            <a:ext cx="2970519" cy="1435716"/>
          </a:xfrm>
          <a:prstGeom prst="line">
            <a:avLst/>
          </a:prstGeom>
          <a:ln w="38100" cap="flat">
            <a:solidFill>
              <a:srgbClr val="A28231"/>
            </a:solidFill>
            <a:prstDash val="solid"/>
            <a:headEnd type="none" w="sm" len="sm"/>
            <a:tailEnd type="none" w="sm" len="sm"/>
          </a:ln>
        </p:spPr>
        <p:txBody>
          <a:bodyPr/>
          <a:lstStyle/>
          <a:p>
            <a:endParaRPr lang="en-GB"/>
          </a:p>
        </p:txBody>
      </p:sp>
      <p:sp>
        <p:nvSpPr>
          <p:cNvPr id="34" name="AutoShape 34"/>
          <p:cNvSpPr/>
          <p:nvPr/>
        </p:nvSpPr>
        <p:spPr>
          <a:xfrm flipH="1">
            <a:off x="8830015" y="6465969"/>
            <a:ext cx="2" cy="915002"/>
          </a:xfrm>
          <a:prstGeom prst="line">
            <a:avLst/>
          </a:prstGeom>
          <a:ln w="38100" cap="flat">
            <a:solidFill>
              <a:srgbClr val="A28231"/>
            </a:solidFill>
            <a:prstDash val="sysDot"/>
            <a:headEnd type="none" w="sm" len="sm"/>
            <a:tailEnd type="arrow" w="med" len="sm"/>
          </a:ln>
        </p:spPr>
        <p:txBody>
          <a:bodyPr/>
          <a:lstStyle/>
          <a:p>
            <a:endParaRPr lang="en-GB"/>
          </a:p>
        </p:txBody>
      </p:sp>
      <p:sp>
        <p:nvSpPr>
          <p:cNvPr id="35" name="AutoShape 35"/>
          <p:cNvSpPr/>
          <p:nvPr/>
        </p:nvSpPr>
        <p:spPr>
          <a:xfrm>
            <a:off x="3958148" y="5838524"/>
            <a:ext cx="577298" cy="0"/>
          </a:xfrm>
          <a:prstGeom prst="line">
            <a:avLst/>
          </a:prstGeom>
          <a:ln w="38100" cap="flat">
            <a:solidFill>
              <a:srgbClr val="A28231"/>
            </a:solidFill>
            <a:prstDash val="sysDot"/>
            <a:headEnd type="none" w="sm" len="sm"/>
            <a:tailEnd type="arrow" w="med" len="sm"/>
          </a:ln>
        </p:spPr>
        <p:txBody>
          <a:bodyPr/>
          <a:lstStyle/>
          <a:p>
            <a:endParaRPr lang="en-GB"/>
          </a:p>
        </p:txBody>
      </p:sp>
      <p:sp>
        <p:nvSpPr>
          <p:cNvPr id="36" name="AutoShape 36"/>
          <p:cNvSpPr/>
          <p:nvPr/>
        </p:nvSpPr>
        <p:spPr>
          <a:xfrm>
            <a:off x="6103570" y="5838524"/>
            <a:ext cx="581025" cy="0"/>
          </a:xfrm>
          <a:prstGeom prst="line">
            <a:avLst/>
          </a:prstGeom>
          <a:ln w="38100" cap="flat">
            <a:solidFill>
              <a:srgbClr val="A28231"/>
            </a:solidFill>
            <a:prstDash val="sysDot"/>
            <a:headEnd type="none" w="sm" len="sm"/>
            <a:tailEnd type="arrow" w="med" len="sm"/>
          </a:ln>
        </p:spPr>
        <p:txBody>
          <a:bodyPr/>
          <a:lstStyle/>
          <a:p>
            <a:endParaRPr lang="en-GB"/>
          </a:p>
        </p:txBody>
      </p:sp>
      <p:grpSp>
        <p:nvGrpSpPr>
          <p:cNvPr id="37" name="Group 37"/>
          <p:cNvGrpSpPr/>
          <p:nvPr/>
        </p:nvGrpSpPr>
        <p:grpSpPr>
          <a:xfrm>
            <a:off x="2390025" y="7191526"/>
            <a:ext cx="1568124" cy="1174577"/>
            <a:chOff x="0" y="0"/>
            <a:chExt cx="413004" cy="309354"/>
          </a:xfrm>
        </p:grpSpPr>
        <p:sp>
          <p:nvSpPr>
            <p:cNvPr id="38" name="Freeform 38"/>
            <p:cNvSpPr/>
            <p:nvPr/>
          </p:nvSpPr>
          <p:spPr>
            <a:xfrm>
              <a:off x="0" y="0"/>
              <a:ext cx="413004" cy="309354"/>
            </a:xfrm>
            <a:custGeom>
              <a:avLst/>
              <a:gdLst/>
              <a:ahLst/>
              <a:cxnLst/>
              <a:rect l="l" t="t" r="r" b="b"/>
              <a:pathLst>
                <a:path w="413004" h="309354">
                  <a:moveTo>
                    <a:pt x="0" y="0"/>
                  </a:moveTo>
                  <a:lnTo>
                    <a:pt x="413004" y="0"/>
                  </a:lnTo>
                  <a:lnTo>
                    <a:pt x="413004" y="309354"/>
                  </a:lnTo>
                  <a:lnTo>
                    <a:pt x="0" y="309354"/>
                  </a:lnTo>
                  <a:close/>
                </a:path>
              </a:pathLst>
            </a:custGeom>
            <a:solidFill>
              <a:srgbClr val="0571D3"/>
            </a:solidFill>
          </p:spPr>
          <p:txBody>
            <a:bodyPr/>
            <a:lstStyle/>
            <a:p>
              <a:endParaRPr lang="en-GB"/>
            </a:p>
          </p:txBody>
        </p:sp>
        <p:sp>
          <p:nvSpPr>
            <p:cNvPr id="39" name="TextBox 39"/>
            <p:cNvSpPr txBox="1"/>
            <p:nvPr/>
          </p:nvSpPr>
          <p:spPr>
            <a:xfrm>
              <a:off x="0" y="-47625"/>
              <a:ext cx="413004" cy="356979"/>
            </a:xfrm>
            <a:prstGeom prst="rect">
              <a:avLst/>
            </a:prstGeom>
          </p:spPr>
          <p:txBody>
            <a:bodyPr lIns="50800" tIns="50800" rIns="50800" bIns="50800" rtlCol="0" anchor="ctr"/>
            <a:lstStyle/>
            <a:p>
              <a:pPr algn="ctr">
                <a:lnSpc>
                  <a:spcPts val="2800"/>
                </a:lnSpc>
              </a:pPr>
              <a:r>
                <a:rPr lang="en-US" sz="2000">
                  <a:solidFill>
                    <a:srgbClr val="FFFFFF"/>
                  </a:solidFill>
                  <a:latin typeface="Canva Sans"/>
                </a:rPr>
                <a:t>Qc = 0</a:t>
              </a:r>
            </a:p>
            <a:p>
              <a:pPr algn="ctr">
                <a:lnSpc>
                  <a:spcPts val="2800"/>
                </a:lnSpc>
              </a:pPr>
              <a:r>
                <a:rPr lang="en-US" sz="2000">
                  <a:solidFill>
                    <a:srgbClr val="FFFFFF"/>
                  </a:solidFill>
                  <a:latin typeface="Canva Sans"/>
                </a:rPr>
                <a:t>Heat pump off</a:t>
              </a:r>
            </a:p>
          </p:txBody>
        </p:sp>
      </p:grpSp>
      <p:sp>
        <p:nvSpPr>
          <p:cNvPr id="40" name="AutoShape 40"/>
          <p:cNvSpPr/>
          <p:nvPr/>
        </p:nvSpPr>
        <p:spPr>
          <a:xfrm>
            <a:off x="3174087" y="6249600"/>
            <a:ext cx="0" cy="941926"/>
          </a:xfrm>
          <a:prstGeom prst="line">
            <a:avLst/>
          </a:prstGeom>
          <a:ln w="38100" cap="flat">
            <a:solidFill>
              <a:srgbClr val="A28231"/>
            </a:solidFill>
            <a:prstDash val="sysDot"/>
            <a:headEnd type="none" w="sm" len="sm"/>
            <a:tailEnd type="arrow" w="med" len="sm"/>
          </a:ln>
        </p:spPr>
        <p:txBody>
          <a:bodyPr/>
          <a:lstStyle/>
          <a:p>
            <a:endParaRPr lang="en-GB"/>
          </a:p>
        </p:txBody>
      </p:sp>
      <p:sp>
        <p:nvSpPr>
          <p:cNvPr id="41" name="AutoShape 41"/>
          <p:cNvSpPr/>
          <p:nvPr/>
        </p:nvSpPr>
        <p:spPr>
          <a:xfrm flipH="1">
            <a:off x="3174087" y="4742697"/>
            <a:ext cx="0" cy="684751"/>
          </a:xfrm>
          <a:prstGeom prst="line">
            <a:avLst/>
          </a:prstGeom>
          <a:ln w="38100" cap="flat">
            <a:solidFill>
              <a:srgbClr val="A28231"/>
            </a:solidFill>
            <a:prstDash val="sysDot"/>
            <a:headEnd type="none" w="sm" len="sm"/>
            <a:tailEnd type="arrow" w="med" len="sm"/>
          </a:ln>
        </p:spPr>
        <p:txBody>
          <a:bodyPr/>
          <a:lstStyle/>
          <a:p>
            <a:endParaRPr lang="en-GB"/>
          </a:p>
        </p:txBody>
      </p:sp>
      <p:sp>
        <p:nvSpPr>
          <p:cNvPr id="42" name="AutoShape 42"/>
          <p:cNvSpPr/>
          <p:nvPr/>
        </p:nvSpPr>
        <p:spPr>
          <a:xfrm flipH="1">
            <a:off x="10975438" y="4742697"/>
            <a:ext cx="3121552" cy="3230175"/>
          </a:xfrm>
          <a:prstGeom prst="line">
            <a:avLst/>
          </a:prstGeom>
          <a:ln w="38100" cap="flat">
            <a:solidFill>
              <a:srgbClr val="A28231"/>
            </a:solidFill>
            <a:prstDash val="sysDot"/>
            <a:headEnd type="none" w="sm" len="sm"/>
            <a:tailEnd type="arrow" w="med" len="sm"/>
          </a:ln>
        </p:spPr>
        <p:txBody>
          <a:bodyPr/>
          <a:lstStyle/>
          <a:p>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028700" y="207645"/>
            <a:ext cx="7812662" cy="821055"/>
          </a:xfrm>
          <a:prstGeom prst="rect">
            <a:avLst/>
          </a:prstGeom>
        </p:spPr>
        <p:txBody>
          <a:bodyPr lIns="0" tIns="0" rIns="0" bIns="0" rtlCol="0" anchor="t">
            <a:spAutoFit/>
          </a:bodyPr>
          <a:lstStyle/>
          <a:p>
            <a:pPr>
              <a:lnSpc>
                <a:spcPts val="6719"/>
              </a:lnSpc>
            </a:pPr>
            <a:r>
              <a:rPr lang="en-US" sz="4800">
                <a:solidFill>
                  <a:srgbClr val="1D1D1F"/>
                </a:solidFill>
                <a:latin typeface="Raleway Heavy"/>
              </a:rPr>
              <a:t>ASSUMPTIONS</a:t>
            </a:r>
          </a:p>
        </p:txBody>
      </p:sp>
      <p:sp>
        <p:nvSpPr>
          <p:cNvPr id="3" name="AutoShape 3"/>
          <p:cNvSpPr/>
          <p:nvPr/>
        </p:nvSpPr>
        <p:spPr>
          <a:xfrm flipV="1">
            <a:off x="1028700" y="1028700"/>
            <a:ext cx="16230600" cy="23812"/>
          </a:xfrm>
          <a:prstGeom prst="line">
            <a:avLst/>
          </a:prstGeom>
          <a:ln w="47625" cap="flat">
            <a:solidFill>
              <a:srgbClr val="A28231"/>
            </a:solidFill>
            <a:prstDash val="solid"/>
            <a:headEnd type="none" w="sm" len="sm"/>
            <a:tailEnd type="none" w="sm" len="sm"/>
          </a:ln>
        </p:spPr>
        <p:txBody>
          <a:bodyPr/>
          <a:lstStyle/>
          <a:p>
            <a:endParaRPr lang="en-GB"/>
          </a:p>
        </p:txBody>
      </p:sp>
      <p:sp>
        <p:nvSpPr>
          <p:cNvPr id="4" name="TextBox 4"/>
          <p:cNvSpPr txBox="1"/>
          <p:nvPr/>
        </p:nvSpPr>
        <p:spPr>
          <a:xfrm>
            <a:off x="1028700" y="1578617"/>
            <a:ext cx="17259300" cy="6114174"/>
          </a:xfrm>
          <a:prstGeom prst="rect">
            <a:avLst/>
          </a:prstGeom>
        </p:spPr>
        <p:txBody>
          <a:bodyPr lIns="0" tIns="0" rIns="0" bIns="0" rtlCol="0" anchor="t">
            <a:spAutoFit/>
          </a:bodyPr>
          <a:lstStyle/>
          <a:p>
            <a:pPr>
              <a:lnSpc>
                <a:spcPts val="4759"/>
              </a:lnSpc>
            </a:pPr>
            <a:r>
              <a:rPr lang="en-US" sz="4000" b="1" u="sng" dirty="0">
                <a:solidFill>
                  <a:srgbClr val="1D1D1F"/>
                </a:solidFill>
                <a:latin typeface="Canva Sans"/>
              </a:rPr>
              <a:t>Greenhouse</a:t>
            </a:r>
          </a:p>
          <a:p>
            <a:pPr marL="1190625" lvl="2" indent="-367030">
              <a:lnSpc>
                <a:spcPts val="4759"/>
              </a:lnSpc>
              <a:buFont typeface="Arial"/>
              <a:buChar char="•"/>
            </a:pPr>
            <a:r>
              <a:rPr lang="en-US" sz="3399" dirty="0">
                <a:solidFill>
                  <a:srgbClr val="1D1D1F"/>
                </a:solidFill>
                <a:latin typeface="Canva Sans"/>
              </a:rPr>
              <a:t>Heat dissipates evenly </a:t>
            </a:r>
          </a:p>
          <a:p>
            <a:pPr marL="1190625" lvl="2" indent="-367030">
              <a:lnSpc>
                <a:spcPts val="4759"/>
              </a:lnSpc>
              <a:buFont typeface="Arial"/>
              <a:buChar char="•"/>
            </a:pPr>
            <a:r>
              <a:rPr lang="en-US" sz="3399" dirty="0">
                <a:solidFill>
                  <a:srgbClr val="1D1D1F"/>
                </a:solidFill>
                <a:latin typeface="Canva Sans"/>
              </a:rPr>
              <a:t>Constant pressure </a:t>
            </a:r>
          </a:p>
          <a:p>
            <a:pPr marL="1190625" lvl="2" indent="-367030">
              <a:lnSpc>
                <a:spcPts val="4759"/>
              </a:lnSpc>
              <a:buFont typeface="Arial"/>
              <a:buChar char="•"/>
            </a:pPr>
            <a:r>
              <a:rPr lang="en-US" sz="3399" dirty="0">
                <a:solidFill>
                  <a:srgbClr val="1D1D1F"/>
                </a:solidFill>
                <a:latin typeface="Canva Sans"/>
              </a:rPr>
              <a:t>Air flow is evenly distributed, air density distribution is uniform</a:t>
            </a:r>
          </a:p>
          <a:p>
            <a:pPr marL="1190625" lvl="2" indent="-367030">
              <a:lnSpc>
                <a:spcPts val="4759"/>
              </a:lnSpc>
              <a:buFont typeface="Arial"/>
              <a:buChar char="•"/>
            </a:pPr>
            <a:r>
              <a:rPr lang="en-US" sz="3399" dirty="0">
                <a:solidFill>
                  <a:srgbClr val="1D1D1F"/>
                </a:solidFill>
                <a:latin typeface="Canva Sans"/>
              </a:rPr>
              <a:t>PVC is in steady state </a:t>
            </a:r>
          </a:p>
          <a:p>
            <a:pPr marL="1190625" lvl="2" indent="-367030">
              <a:lnSpc>
                <a:spcPts val="4759"/>
              </a:lnSpc>
              <a:buFont typeface="Arial"/>
              <a:buChar char="•"/>
            </a:pPr>
            <a:r>
              <a:rPr lang="en-US" sz="3399" dirty="0">
                <a:solidFill>
                  <a:srgbClr val="1D1D1F"/>
                </a:solidFill>
                <a:latin typeface="Canva Sans"/>
              </a:rPr>
              <a:t>100% of solar kWh absorbed by panels</a:t>
            </a:r>
          </a:p>
          <a:p>
            <a:pPr>
              <a:lnSpc>
                <a:spcPts val="4759"/>
              </a:lnSpc>
            </a:pPr>
            <a:r>
              <a:rPr lang="en-US" sz="4000" b="1" u="sng" dirty="0">
                <a:solidFill>
                  <a:srgbClr val="1D1D1F"/>
                </a:solidFill>
                <a:latin typeface="Canva Sans"/>
              </a:rPr>
              <a:t>Heat pump</a:t>
            </a:r>
          </a:p>
          <a:p>
            <a:pPr marL="1190625" lvl="2" indent="-367030">
              <a:lnSpc>
                <a:spcPts val="4759"/>
              </a:lnSpc>
              <a:buFont typeface="Arial"/>
              <a:buChar char="•"/>
            </a:pPr>
            <a:r>
              <a:rPr lang="en-US" sz="3350" dirty="0">
                <a:solidFill>
                  <a:srgbClr val="1D1D1F"/>
                </a:solidFill>
                <a:latin typeface="Canva Sans"/>
              </a:rPr>
              <a:t>Condenser losses are negligible </a:t>
            </a:r>
          </a:p>
          <a:p>
            <a:pPr marL="1190625" lvl="2" indent="-367030">
              <a:lnSpc>
                <a:spcPts val="4759"/>
              </a:lnSpc>
              <a:buFont typeface="Arial"/>
              <a:buChar char="•"/>
            </a:pPr>
            <a:r>
              <a:rPr lang="en-US" sz="3399" dirty="0">
                <a:solidFill>
                  <a:srgbClr val="1D1D1F"/>
                </a:solidFill>
                <a:latin typeface="Canva Sans"/>
              </a:rPr>
              <a:t>Refrigerant is saturated</a:t>
            </a:r>
          </a:p>
          <a:p>
            <a:pPr marL="1190625" lvl="2" indent="-367030">
              <a:lnSpc>
                <a:spcPts val="4759"/>
              </a:lnSpc>
              <a:buFont typeface="Arial"/>
              <a:buChar char="•"/>
            </a:pPr>
            <a:r>
              <a:rPr lang="en-US" sz="3399" dirty="0">
                <a:solidFill>
                  <a:srgbClr val="1D1D1F"/>
                </a:solidFill>
                <a:latin typeface="Canva Sans"/>
              </a:rPr>
              <a:t>Compression is isentropic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028700" y="207645"/>
            <a:ext cx="7812662" cy="821055"/>
          </a:xfrm>
          <a:prstGeom prst="rect">
            <a:avLst/>
          </a:prstGeom>
        </p:spPr>
        <p:txBody>
          <a:bodyPr lIns="0" tIns="0" rIns="0" bIns="0" rtlCol="0" anchor="t">
            <a:spAutoFit/>
          </a:bodyPr>
          <a:lstStyle/>
          <a:p>
            <a:pPr>
              <a:lnSpc>
                <a:spcPts val="6719"/>
              </a:lnSpc>
            </a:pPr>
            <a:r>
              <a:rPr lang="en-US" sz="4800">
                <a:solidFill>
                  <a:srgbClr val="1D1D1F"/>
                </a:solidFill>
                <a:latin typeface="Raleway Heavy"/>
              </a:rPr>
              <a:t>EXTERNAL CONDITIONS</a:t>
            </a:r>
          </a:p>
        </p:txBody>
      </p:sp>
      <p:sp>
        <p:nvSpPr>
          <p:cNvPr id="3" name="AutoShape 3"/>
          <p:cNvSpPr/>
          <p:nvPr/>
        </p:nvSpPr>
        <p:spPr>
          <a:xfrm flipV="1">
            <a:off x="1028700" y="1028700"/>
            <a:ext cx="16230600" cy="23812"/>
          </a:xfrm>
          <a:prstGeom prst="line">
            <a:avLst/>
          </a:prstGeom>
          <a:ln w="47625" cap="flat">
            <a:solidFill>
              <a:srgbClr val="A28231"/>
            </a:solidFill>
            <a:prstDash val="solid"/>
            <a:headEnd type="none" w="sm" len="sm"/>
            <a:tailEnd type="none" w="sm" len="sm"/>
          </a:ln>
        </p:spPr>
        <p:txBody>
          <a:bodyPr/>
          <a:lstStyle/>
          <a:p>
            <a:endParaRPr lang="en-GB"/>
          </a:p>
        </p:txBody>
      </p:sp>
      <p:sp>
        <p:nvSpPr>
          <p:cNvPr id="4" name="Freeform 4"/>
          <p:cNvSpPr/>
          <p:nvPr/>
        </p:nvSpPr>
        <p:spPr>
          <a:xfrm>
            <a:off x="3402935" y="1285933"/>
            <a:ext cx="11482130" cy="8798103"/>
          </a:xfrm>
          <a:custGeom>
            <a:avLst/>
            <a:gdLst/>
            <a:ahLst/>
            <a:cxnLst/>
            <a:rect l="l" t="t" r="r" b="b"/>
            <a:pathLst>
              <a:path w="11482130" h="8798103">
                <a:moveTo>
                  <a:pt x="0" y="0"/>
                </a:moveTo>
                <a:lnTo>
                  <a:pt x="11482130" y="0"/>
                </a:lnTo>
                <a:lnTo>
                  <a:pt x="11482130" y="8798103"/>
                </a:lnTo>
                <a:lnTo>
                  <a:pt x="0" y="8798103"/>
                </a:lnTo>
                <a:lnTo>
                  <a:pt x="0" y="0"/>
                </a:lnTo>
                <a:close/>
              </a:path>
            </a:pathLst>
          </a:custGeom>
          <a:blipFill>
            <a:blip r:embed="rId2"/>
            <a:stretch>
              <a:fillRect l="-10121" t="-13378" r="-10251" b="-8806"/>
            </a:stretch>
          </a:blipFill>
        </p:spPr>
        <p:txBody>
          <a:bodyPr/>
          <a:lstStyle/>
          <a:p>
            <a:endParaRPr lang="en-GB"/>
          </a:p>
        </p:txBody>
      </p:sp>
      <p:sp>
        <p:nvSpPr>
          <p:cNvPr id="5" name="TextBox 5"/>
          <p:cNvSpPr txBox="1"/>
          <p:nvPr/>
        </p:nvSpPr>
        <p:spPr>
          <a:xfrm>
            <a:off x="15100418" y="8301356"/>
            <a:ext cx="3187582" cy="1885314"/>
          </a:xfrm>
          <a:prstGeom prst="rect">
            <a:avLst/>
          </a:prstGeom>
        </p:spPr>
        <p:txBody>
          <a:bodyPr lIns="0" tIns="0" rIns="0" bIns="0" rtlCol="0" anchor="t">
            <a:spAutoFit/>
          </a:bodyPr>
          <a:lstStyle/>
          <a:p>
            <a:pPr algn="ctr">
              <a:lnSpc>
                <a:spcPts val="1960"/>
              </a:lnSpc>
            </a:pPr>
            <a:r>
              <a:rPr lang="en-US" sz="1400">
                <a:solidFill>
                  <a:srgbClr val="1D1D1F"/>
                </a:solidFill>
                <a:latin typeface="Canva Sans"/>
              </a:rPr>
              <a:t>www.chelmervillage-weather.co.uk. (n.d.). Chelmsford Weather Station - Soil Temperature. [online] Available at: https://www.chelmervillage-weather.co.uk/wxsoiltempdetail.php? [Accessed 14 Mar. 2024].</a:t>
            </a:r>
          </a:p>
          <a:p>
            <a:pPr algn="ctr">
              <a:lnSpc>
                <a:spcPts val="1960"/>
              </a:lnSpc>
            </a:pPr>
            <a:r>
              <a:rPr lang="en-US" sz="1400">
                <a:solidFill>
                  <a:srgbClr val="1D1D1F"/>
                </a:solidFill>
                <a:cs typeface="Canva Sans"/>
              </a:rPr>
              <a:t>‌</a:t>
            </a:r>
          </a:p>
          <a:p>
            <a:pPr algn="ctr">
              <a:lnSpc>
                <a:spcPts val="1260"/>
              </a:lnSpc>
            </a:pPr>
            <a:endParaRPr lang="en-US" sz="1400">
              <a:solidFill>
                <a:srgbClr val="1D1D1F"/>
              </a:solidFill>
              <a:cs typeface="Canva Sans"/>
            </a:endParaRPr>
          </a:p>
        </p:txBody>
      </p:sp>
      <p:pic>
        <p:nvPicPr>
          <p:cNvPr id="6" name="Picture 5" descr="A blue barbell with a yellow stick&#10;&#10;Description automatically generated">
            <a:extLst>
              <a:ext uri="{FF2B5EF4-FFF2-40B4-BE49-F238E27FC236}">
                <a16:creationId xmlns:a16="http://schemas.microsoft.com/office/drawing/2014/main" id="{FC9AD1C0-599A-5273-E71C-014965DC3FC5}"/>
              </a:ext>
            </a:extLst>
          </p:cNvPr>
          <p:cNvPicPr>
            <a:picLocks noChangeAspect="1"/>
          </p:cNvPicPr>
          <p:nvPr/>
        </p:nvPicPr>
        <p:blipFill>
          <a:blip r:embed="rId3"/>
          <a:stretch>
            <a:fillRect/>
          </a:stretch>
        </p:blipFill>
        <p:spPr>
          <a:xfrm>
            <a:off x="9728033" y="93746"/>
            <a:ext cx="5975685" cy="9254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028665" y="302895"/>
            <a:ext cx="16230670" cy="773430"/>
            <a:chOff x="0" y="0"/>
            <a:chExt cx="21640893" cy="1031240"/>
          </a:xfrm>
        </p:grpSpPr>
        <p:sp>
          <p:nvSpPr>
            <p:cNvPr id="3" name="TextBox 3"/>
            <p:cNvSpPr txBox="1"/>
            <p:nvPr/>
          </p:nvSpPr>
          <p:spPr>
            <a:xfrm>
              <a:off x="47" y="-95250"/>
              <a:ext cx="7913807"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HEAT TRANSFER</a:t>
              </a:r>
            </a:p>
          </p:txBody>
        </p:sp>
        <p:sp>
          <p:nvSpPr>
            <p:cNvPr id="4" name="AutoShape 4"/>
            <p:cNvSpPr/>
            <p:nvPr/>
          </p:nvSpPr>
          <p:spPr>
            <a:xfrm flipV="1">
              <a:off x="47" y="967740"/>
              <a:ext cx="21640800" cy="31750"/>
            </a:xfrm>
            <a:prstGeom prst="line">
              <a:avLst/>
            </a:prstGeom>
            <a:ln w="63500" cap="flat">
              <a:solidFill>
                <a:srgbClr val="A28231"/>
              </a:solidFill>
              <a:prstDash val="solid"/>
              <a:headEnd type="none" w="sm" len="sm"/>
              <a:tailEnd type="none" w="sm" len="sm"/>
            </a:ln>
          </p:spPr>
          <p:txBody>
            <a:bodyPr/>
            <a:lstStyle/>
            <a:p>
              <a:endParaRPr lang="en-GB"/>
            </a:p>
          </p:txBody>
        </p:sp>
      </p:grpSp>
      <p:sp>
        <p:nvSpPr>
          <p:cNvPr id="5" name="Freeform 5"/>
          <p:cNvSpPr/>
          <p:nvPr/>
        </p:nvSpPr>
        <p:spPr>
          <a:xfrm>
            <a:off x="2773919" y="1214253"/>
            <a:ext cx="12740162" cy="9072747"/>
          </a:xfrm>
          <a:custGeom>
            <a:avLst/>
            <a:gdLst/>
            <a:ahLst/>
            <a:cxnLst/>
            <a:rect l="l" t="t" r="r" b="b"/>
            <a:pathLst>
              <a:path w="12740162" h="9072747">
                <a:moveTo>
                  <a:pt x="0" y="0"/>
                </a:moveTo>
                <a:lnTo>
                  <a:pt x="12740162" y="0"/>
                </a:lnTo>
                <a:lnTo>
                  <a:pt x="12740162" y="9072747"/>
                </a:lnTo>
                <a:lnTo>
                  <a:pt x="0" y="9072747"/>
                </a:lnTo>
                <a:lnTo>
                  <a:pt x="0" y="0"/>
                </a:lnTo>
                <a:close/>
              </a:path>
            </a:pathLst>
          </a:custGeom>
          <a:blipFill>
            <a:blip r:embed="rId3"/>
            <a:stretch>
              <a:fillRect l="-3245" t="-9620" r="-7572" b="-7088"/>
            </a:stretch>
          </a:blipFill>
        </p:spPr>
        <p:txBody>
          <a:bodyPr/>
          <a:lstStyle/>
          <a:p>
            <a:endParaRPr lang="en-GB"/>
          </a:p>
        </p:txBody>
      </p:sp>
      <p:pic>
        <p:nvPicPr>
          <p:cNvPr id="6" name="Picture 5" descr="A blue and white sign with white text&#10;&#10;Description automatically generated">
            <a:extLst>
              <a:ext uri="{FF2B5EF4-FFF2-40B4-BE49-F238E27FC236}">
                <a16:creationId xmlns:a16="http://schemas.microsoft.com/office/drawing/2014/main" id="{06A50D8C-97A8-31E7-B41D-E327EB814B7E}"/>
              </a:ext>
            </a:extLst>
          </p:cNvPr>
          <p:cNvPicPr>
            <a:picLocks noChangeAspect="1"/>
          </p:cNvPicPr>
          <p:nvPr/>
        </p:nvPicPr>
        <p:blipFill>
          <a:blip r:embed="rId4"/>
          <a:stretch>
            <a:fillRect/>
          </a:stretch>
        </p:blipFill>
        <p:spPr>
          <a:xfrm>
            <a:off x="15198642" y="4641934"/>
            <a:ext cx="2809875" cy="20859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028665" y="302895"/>
            <a:ext cx="16230670" cy="773430"/>
            <a:chOff x="0" y="0"/>
            <a:chExt cx="21640893" cy="1031240"/>
          </a:xfrm>
        </p:grpSpPr>
        <p:sp>
          <p:nvSpPr>
            <p:cNvPr id="3" name="TextBox 3"/>
            <p:cNvSpPr txBox="1"/>
            <p:nvPr/>
          </p:nvSpPr>
          <p:spPr>
            <a:xfrm>
              <a:off x="47" y="-95250"/>
              <a:ext cx="13424098"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INTERNAL TEMPERATURES</a:t>
              </a:r>
            </a:p>
          </p:txBody>
        </p:sp>
        <p:sp>
          <p:nvSpPr>
            <p:cNvPr id="4" name="AutoShape 4"/>
            <p:cNvSpPr/>
            <p:nvPr/>
          </p:nvSpPr>
          <p:spPr>
            <a:xfrm flipV="1">
              <a:off x="47" y="967740"/>
              <a:ext cx="21640800" cy="31750"/>
            </a:xfrm>
            <a:prstGeom prst="line">
              <a:avLst/>
            </a:prstGeom>
            <a:ln w="63500" cap="flat">
              <a:solidFill>
                <a:srgbClr val="A28231"/>
              </a:solidFill>
              <a:prstDash val="solid"/>
              <a:headEnd type="none" w="sm" len="sm"/>
              <a:tailEnd type="none" w="sm" len="sm"/>
            </a:ln>
          </p:spPr>
          <p:txBody>
            <a:bodyPr/>
            <a:lstStyle/>
            <a:p>
              <a:endParaRPr lang="en-GB"/>
            </a:p>
          </p:txBody>
        </p:sp>
      </p:grpSp>
      <p:sp>
        <p:nvSpPr>
          <p:cNvPr id="5" name="Freeform 5"/>
          <p:cNvSpPr/>
          <p:nvPr/>
        </p:nvSpPr>
        <p:spPr>
          <a:xfrm>
            <a:off x="3103014" y="1121443"/>
            <a:ext cx="12081971" cy="9329686"/>
          </a:xfrm>
          <a:custGeom>
            <a:avLst/>
            <a:gdLst/>
            <a:ahLst/>
            <a:cxnLst/>
            <a:rect l="l" t="t" r="r" b="b"/>
            <a:pathLst>
              <a:path w="12081971" h="9329686">
                <a:moveTo>
                  <a:pt x="0" y="0"/>
                </a:moveTo>
                <a:lnTo>
                  <a:pt x="12081972" y="0"/>
                </a:lnTo>
                <a:lnTo>
                  <a:pt x="12081972" y="9329686"/>
                </a:lnTo>
                <a:lnTo>
                  <a:pt x="0" y="9329686"/>
                </a:lnTo>
                <a:lnTo>
                  <a:pt x="0" y="0"/>
                </a:lnTo>
                <a:close/>
              </a:path>
            </a:pathLst>
          </a:custGeom>
          <a:blipFill>
            <a:blip r:embed="rId3"/>
            <a:stretch>
              <a:fillRect l="-8883" t="-11003" r="-9269" b="-8002"/>
            </a:stretch>
          </a:blipFill>
        </p:spPr>
        <p:txBody>
          <a:bodyPr/>
          <a:lstStyle/>
          <a:p>
            <a:endParaRPr lang="en-GB"/>
          </a:p>
        </p:txBody>
      </p:sp>
      <p:pic>
        <p:nvPicPr>
          <p:cNvPr id="6" name="Picture 5" descr="A diagram of a heat transfer calculator&#10;&#10;Description automatically generated">
            <a:extLst>
              <a:ext uri="{FF2B5EF4-FFF2-40B4-BE49-F238E27FC236}">
                <a16:creationId xmlns:a16="http://schemas.microsoft.com/office/drawing/2014/main" id="{8A730721-8517-6C57-8CDC-EAB4AA636749}"/>
              </a:ext>
            </a:extLst>
          </p:cNvPr>
          <p:cNvPicPr>
            <a:picLocks noChangeAspect="1"/>
          </p:cNvPicPr>
          <p:nvPr/>
        </p:nvPicPr>
        <p:blipFill>
          <a:blip r:embed="rId4"/>
          <a:stretch>
            <a:fillRect/>
          </a:stretch>
        </p:blipFill>
        <p:spPr>
          <a:xfrm>
            <a:off x="14985833" y="3617745"/>
            <a:ext cx="3295650" cy="3171825"/>
          </a:xfrm>
          <a:prstGeom prst="rect">
            <a:avLst/>
          </a:prstGeom>
        </p:spPr>
      </p:pic>
      <p:pic>
        <p:nvPicPr>
          <p:cNvPr id="7" name="Picture 6" descr="A green and blue lines&#10;&#10;Description automatically generated">
            <a:extLst>
              <a:ext uri="{FF2B5EF4-FFF2-40B4-BE49-F238E27FC236}">
                <a16:creationId xmlns:a16="http://schemas.microsoft.com/office/drawing/2014/main" id="{CE05F7D3-250C-AA5F-F608-D1200CEBC12F}"/>
              </a:ext>
            </a:extLst>
          </p:cNvPr>
          <p:cNvPicPr>
            <a:picLocks noChangeAspect="1"/>
          </p:cNvPicPr>
          <p:nvPr/>
        </p:nvPicPr>
        <p:blipFill rotWithShape="1">
          <a:blip r:embed="rId5"/>
          <a:srcRect l="7094" t="10213" r="8009" b="50915"/>
          <a:stretch/>
        </p:blipFill>
        <p:spPr>
          <a:xfrm>
            <a:off x="3013910" y="1305426"/>
            <a:ext cx="12169498" cy="42827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68891"/>
        </a:solidFill>
        <a:effectLst/>
      </p:bgPr>
    </p:bg>
    <p:spTree>
      <p:nvGrpSpPr>
        <p:cNvPr id="1" name=""/>
        <p:cNvGrpSpPr/>
        <p:nvPr/>
      </p:nvGrpSpPr>
      <p:grpSpPr>
        <a:xfrm>
          <a:off x="0" y="0"/>
          <a:ext cx="0" cy="0"/>
          <a:chOff x="0" y="0"/>
          <a:chExt cx="0" cy="0"/>
        </a:xfrm>
      </p:grpSpPr>
      <p:sp>
        <p:nvSpPr>
          <p:cNvPr id="2" name="TextBox 2"/>
          <p:cNvSpPr txBox="1"/>
          <p:nvPr/>
        </p:nvSpPr>
        <p:spPr>
          <a:xfrm>
            <a:off x="1028700" y="207645"/>
            <a:ext cx="5935355" cy="821055"/>
          </a:xfrm>
          <a:prstGeom prst="rect">
            <a:avLst/>
          </a:prstGeom>
        </p:spPr>
        <p:txBody>
          <a:bodyPr lIns="0" tIns="0" rIns="0" bIns="0" rtlCol="0" anchor="t">
            <a:spAutoFit/>
          </a:bodyPr>
          <a:lstStyle/>
          <a:p>
            <a:pPr>
              <a:lnSpc>
                <a:spcPts val="6719"/>
              </a:lnSpc>
            </a:pPr>
            <a:r>
              <a:rPr lang="en-US" sz="4800">
                <a:solidFill>
                  <a:srgbClr val="1D1D1F"/>
                </a:solidFill>
                <a:latin typeface="Raleway Heavy"/>
              </a:rPr>
              <a:t>THE HEAT PUMP</a:t>
            </a:r>
          </a:p>
        </p:txBody>
      </p:sp>
      <p:sp>
        <p:nvSpPr>
          <p:cNvPr id="3" name="AutoShape 3"/>
          <p:cNvSpPr/>
          <p:nvPr/>
        </p:nvSpPr>
        <p:spPr>
          <a:xfrm flipV="1">
            <a:off x="1028700" y="1028700"/>
            <a:ext cx="16230600" cy="23812"/>
          </a:xfrm>
          <a:prstGeom prst="line">
            <a:avLst/>
          </a:prstGeom>
          <a:ln w="47625" cap="flat">
            <a:solidFill>
              <a:srgbClr val="A28231"/>
            </a:solidFill>
            <a:prstDash val="solid"/>
            <a:headEnd type="none" w="sm" len="sm"/>
            <a:tailEnd type="none" w="sm" len="sm"/>
          </a:ln>
        </p:spPr>
        <p:txBody>
          <a:bodyPr/>
          <a:lstStyle/>
          <a:p>
            <a:endParaRPr lang="en-GB"/>
          </a:p>
        </p:txBody>
      </p:sp>
      <p:grpSp>
        <p:nvGrpSpPr>
          <p:cNvPr id="4" name="Group 4"/>
          <p:cNvGrpSpPr/>
          <p:nvPr/>
        </p:nvGrpSpPr>
        <p:grpSpPr>
          <a:xfrm>
            <a:off x="3203351" y="1152399"/>
            <a:ext cx="11881297" cy="8623233"/>
            <a:chOff x="0" y="0"/>
            <a:chExt cx="15841730" cy="11497643"/>
          </a:xfrm>
        </p:grpSpPr>
        <p:sp>
          <p:nvSpPr>
            <p:cNvPr id="5" name="Freeform 5"/>
            <p:cNvSpPr/>
            <p:nvPr/>
          </p:nvSpPr>
          <p:spPr>
            <a:xfrm rot="-5400000">
              <a:off x="13222660" y="8092956"/>
              <a:ext cx="3408761" cy="1546725"/>
            </a:xfrm>
            <a:custGeom>
              <a:avLst/>
              <a:gdLst/>
              <a:ahLst/>
              <a:cxnLst/>
              <a:rect l="l" t="t" r="r" b="b"/>
              <a:pathLst>
                <a:path w="3408761" h="1546725">
                  <a:moveTo>
                    <a:pt x="0" y="0"/>
                  </a:moveTo>
                  <a:lnTo>
                    <a:pt x="3408761" y="0"/>
                  </a:lnTo>
                  <a:lnTo>
                    <a:pt x="3408761" y="1546726"/>
                  </a:lnTo>
                  <a:lnTo>
                    <a:pt x="0" y="154672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8934290" y="9643755"/>
              <a:ext cx="1853888" cy="1853888"/>
            </a:xfrm>
            <a:custGeom>
              <a:avLst/>
              <a:gdLst/>
              <a:ahLst/>
              <a:cxnLst/>
              <a:rect l="l" t="t" r="r" b="b"/>
              <a:pathLst>
                <a:path w="1853888" h="1853888">
                  <a:moveTo>
                    <a:pt x="0" y="0"/>
                  </a:moveTo>
                  <a:lnTo>
                    <a:pt x="1853888" y="0"/>
                  </a:lnTo>
                  <a:lnTo>
                    <a:pt x="1853888" y="1853888"/>
                  </a:lnTo>
                  <a:lnTo>
                    <a:pt x="0" y="18538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 name="Freeform 7"/>
            <p:cNvSpPr/>
            <p:nvPr/>
          </p:nvSpPr>
          <p:spPr>
            <a:xfrm rot="5400000">
              <a:off x="7171540" y="9643755"/>
              <a:ext cx="1853888" cy="1853888"/>
            </a:xfrm>
            <a:custGeom>
              <a:avLst/>
              <a:gdLst/>
              <a:ahLst/>
              <a:cxnLst/>
              <a:rect l="l" t="t" r="r" b="b"/>
              <a:pathLst>
                <a:path w="1853888" h="1853888">
                  <a:moveTo>
                    <a:pt x="0" y="0"/>
                  </a:moveTo>
                  <a:lnTo>
                    <a:pt x="1853888" y="0"/>
                  </a:lnTo>
                  <a:lnTo>
                    <a:pt x="1853888" y="1853888"/>
                  </a:lnTo>
                  <a:lnTo>
                    <a:pt x="0" y="185388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 name="Freeform 8"/>
            <p:cNvSpPr/>
            <p:nvPr/>
          </p:nvSpPr>
          <p:spPr>
            <a:xfrm rot="5400000">
              <a:off x="7828121" y="-301559"/>
              <a:ext cx="2303475" cy="2906593"/>
            </a:xfrm>
            <a:custGeom>
              <a:avLst/>
              <a:gdLst/>
              <a:ahLst/>
              <a:cxnLst/>
              <a:rect l="l" t="t" r="r" b="b"/>
              <a:pathLst>
                <a:path w="2303475" h="2906593">
                  <a:moveTo>
                    <a:pt x="0" y="0"/>
                  </a:moveTo>
                  <a:lnTo>
                    <a:pt x="2303475" y="0"/>
                  </a:lnTo>
                  <a:lnTo>
                    <a:pt x="2303475" y="2906593"/>
                  </a:lnTo>
                  <a:lnTo>
                    <a:pt x="0" y="290659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9" name="Freeform 9"/>
            <p:cNvSpPr/>
            <p:nvPr/>
          </p:nvSpPr>
          <p:spPr>
            <a:xfrm rot="-5400000">
              <a:off x="13393710" y="1988610"/>
              <a:ext cx="3367869" cy="1528170"/>
            </a:xfrm>
            <a:custGeom>
              <a:avLst/>
              <a:gdLst/>
              <a:ahLst/>
              <a:cxnLst/>
              <a:rect l="l" t="t" r="r" b="b"/>
              <a:pathLst>
                <a:path w="3367869" h="1528170">
                  <a:moveTo>
                    <a:pt x="0" y="0"/>
                  </a:moveTo>
                  <a:lnTo>
                    <a:pt x="3367869" y="0"/>
                  </a:lnTo>
                  <a:lnTo>
                    <a:pt x="3367869" y="1528171"/>
                  </a:lnTo>
                  <a:lnTo>
                    <a:pt x="0" y="15281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0" name="Freeform 10"/>
            <p:cNvSpPr/>
            <p:nvPr/>
          </p:nvSpPr>
          <p:spPr>
            <a:xfrm>
              <a:off x="7364484" y="5084299"/>
              <a:ext cx="3230750" cy="2366524"/>
            </a:xfrm>
            <a:custGeom>
              <a:avLst/>
              <a:gdLst/>
              <a:ahLst/>
              <a:cxnLst/>
              <a:rect l="l" t="t" r="r" b="b"/>
              <a:pathLst>
                <a:path w="3230750" h="2366524">
                  <a:moveTo>
                    <a:pt x="0" y="0"/>
                  </a:moveTo>
                  <a:lnTo>
                    <a:pt x="3230750" y="0"/>
                  </a:lnTo>
                  <a:lnTo>
                    <a:pt x="3230750" y="2366525"/>
                  </a:lnTo>
                  <a:lnTo>
                    <a:pt x="0" y="236652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1" name="Freeform 11"/>
            <p:cNvSpPr/>
            <p:nvPr/>
          </p:nvSpPr>
          <p:spPr>
            <a:xfrm>
              <a:off x="1902135" y="9232208"/>
              <a:ext cx="2100066" cy="1853308"/>
            </a:xfrm>
            <a:custGeom>
              <a:avLst/>
              <a:gdLst/>
              <a:ahLst/>
              <a:cxnLst/>
              <a:rect l="l" t="t" r="r" b="b"/>
              <a:pathLst>
                <a:path w="2100066" h="1853308">
                  <a:moveTo>
                    <a:pt x="0" y="0"/>
                  </a:moveTo>
                  <a:lnTo>
                    <a:pt x="2100066" y="0"/>
                  </a:lnTo>
                  <a:lnTo>
                    <a:pt x="2100066" y="1853308"/>
                  </a:lnTo>
                  <a:lnTo>
                    <a:pt x="0" y="185330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12" name="Freeform 12"/>
            <p:cNvSpPr/>
            <p:nvPr/>
          </p:nvSpPr>
          <p:spPr>
            <a:xfrm>
              <a:off x="1902135" y="5084299"/>
              <a:ext cx="2100066" cy="1853308"/>
            </a:xfrm>
            <a:custGeom>
              <a:avLst/>
              <a:gdLst/>
              <a:ahLst/>
              <a:cxnLst/>
              <a:rect l="l" t="t" r="r" b="b"/>
              <a:pathLst>
                <a:path w="2100066" h="1853308">
                  <a:moveTo>
                    <a:pt x="0" y="0"/>
                  </a:moveTo>
                  <a:lnTo>
                    <a:pt x="2100066" y="0"/>
                  </a:lnTo>
                  <a:lnTo>
                    <a:pt x="2100066" y="1853308"/>
                  </a:lnTo>
                  <a:lnTo>
                    <a:pt x="0" y="185330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pic>
          <p:nvPicPr>
            <p:cNvPr id="13" name="Picture 13"/>
            <p:cNvPicPr>
              <a:picLocks noChangeAspect="1"/>
            </p:cNvPicPr>
            <p:nvPr/>
          </p:nvPicPr>
          <p:blipFill>
            <a:blip r:embed="rId13"/>
            <a:srcRect/>
            <a:stretch>
              <a:fillRect/>
            </a:stretch>
          </p:blipFill>
          <p:spPr>
            <a:xfrm rot="-5400000">
              <a:off x="11023456" y="10321490"/>
              <a:ext cx="721692" cy="806360"/>
            </a:xfrm>
            <a:prstGeom prst="rect">
              <a:avLst/>
            </a:prstGeom>
          </p:spPr>
        </p:pic>
        <p:pic>
          <p:nvPicPr>
            <p:cNvPr id="14" name="Picture 14"/>
            <p:cNvPicPr>
              <a:picLocks noChangeAspect="1"/>
            </p:cNvPicPr>
            <p:nvPr/>
          </p:nvPicPr>
          <p:blipFill>
            <a:blip r:embed="rId13"/>
            <a:srcRect/>
            <a:stretch>
              <a:fillRect/>
            </a:stretch>
          </p:blipFill>
          <p:spPr>
            <a:xfrm rot="-5400000">
              <a:off x="11737158" y="10321706"/>
              <a:ext cx="718017" cy="802253"/>
            </a:xfrm>
            <a:prstGeom prst="rect">
              <a:avLst/>
            </a:prstGeom>
          </p:spPr>
        </p:pic>
        <p:pic>
          <p:nvPicPr>
            <p:cNvPr id="15" name="Picture 15"/>
            <p:cNvPicPr>
              <a:picLocks noChangeAspect="1"/>
            </p:cNvPicPr>
            <p:nvPr/>
          </p:nvPicPr>
          <p:blipFill>
            <a:blip r:embed="rId13"/>
            <a:srcRect/>
            <a:stretch>
              <a:fillRect/>
            </a:stretch>
          </p:blipFill>
          <p:spPr>
            <a:xfrm rot="-5400000">
              <a:off x="12474449" y="10321490"/>
              <a:ext cx="721692" cy="806360"/>
            </a:xfrm>
            <a:prstGeom prst="rect">
              <a:avLst/>
            </a:prstGeom>
          </p:spPr>
        </p:pic>
        <p:pic>
          <p:nvPicPr>
            <p:cNvPr id="16" name="Picture 16"/>
            <p:cNvPicPr>
              <a:picLocks noChangeAspect="1"/>
            </p:cNvPicPr>
            <p:nvPr/>
          </p:nvPicPr>
          <p:blipFill>
            <a:blip r:embed="rId13"/>
            <a:srcRect/>
            <a:stretch>
              <a:fillRect/>
            </a:stretch>
          </p:blipFill>
          <p:spPr>
            <a:xfrm rot="-5400000">
              <a:off x="13280808" y="10317815"/>
              <a:ext cx="721692" cy="806360"/>
            </a:xfrm>
            <a:prstGeom prst="rect">
              <a:avLst/>
            </a:prstGeom>
          </p:spPr>
        </p:pic>
        <p:pic>
          <p:nvPicPr>
            <p:cNvPr id="17" name="Picture 17"/>
            <p:cNvPicPr>
              <a:picLocks noChangeAspect="1"/>
            </p:cNvPicPr>
            <p:nvPr/>
          </p:nvPicPr>
          <p:blipFill>
            <a:blip r:embed="rId13"/>
            <a:srcRect/>
            <a:stretch>
              <a:fillRect/>
            </a:stretch>
          </p:blipFill>
          <p:spPr>
            <a:xfrm rot="-5400000">
              <a:off x="14021367" y="10317815"/>
              <a:ext cx="721692" cy="806360"/>
            </a:xfrm>
            <a:prstGeom prst="rect">
              <a:avLst/>
            </a:prstGeom>
          </p:spPr>
        </p:pic>
        <p:pic>
          <p:nvPicPr>
            <p:cNvPr id="18" name="Picture 18"/>
            <p:cNvPicPr>
              <a:picLocks noChangeAspect="1"/>
            </p:cNvPicPr>
            <p:nvPr/>
          </p:nvPicPr>
          <p:blipFill>
            <a:blip r:embed="rId13"/>
            <a:srcRect/>
            <a:stretch>
              <a:fillRect/>
            </a:stretch>
          </p:blipFill>
          <p:spPr>
            <a:xfrm rot="-10800000">
              <a:off x="14566194" y="9643755"/>
              <a:ext cx="721692" cy="806360"/>
            </a:xfrm>
            <a:prstGeom prst="rect">
              <a:avLst/>
            </a:prstGeom>
          </p:spPr>
        </p:pic>
        <p:pic>
          <p:nvPicPr>
            <p:cNvPr id="19" name="Picture 19"/>
            <p:cNvPicPr>
              <a:picLocks noChangeAspect="1"/>
            </p:cNvPicPr>
            <p:nvPr/>
          </p:nvPicPr>
          <p:blipFill>
            <a:blip r:embed="rId13"/>
            <a:srcRect/>
            <a:stretch>
              <a:fillRect/>
            </a:stretch>
          </p:blipFill>
          <p:spPr>
            <a:xfrm rot="-10800000">
              <a:off x="14566194" y="10279156"/>
              <a:ext cx="721692" cy="806360"/>
            </a:xfrm>
            <a:prstGeom prst="rect">
              <a:avLst/>
            </a:prstGeom>
          </p:spPr>
        </p:pic>
        <p:pic>
          <p:nvPicPr>
            <p:cNvPr id="20" name="Picture 20"/>
            <p:cNvPicPr>
              <a:picLocks noChangeAspect="1"/>
            </p:cNvPicPr>
            <p:nvPr/>
          </p:nvPicPr>
          <p:blipFill>
            <a:blip r:embed="rId13"/>
            <a:srcRect/>
            <a:stretch>
              <a:fillRect/>
            </a:stretch>
          </p:blipFill>
          <p:spPr>
            <a:xfrm rot="-10800000">
              <a:off x="14566194" y="6679020"/>
              <a:ext cx="721692" cy="806360"/>
            </a:xfrm>
            <a:prstGeom prst="rect">
              <a:avLst/>
            </a:prstGeom>
          </p:spPr>
        </p:pic>
        <p:pic>
          <p:nvPicPr>
            <p:cNvPr id="21" name="Picture 21"/>
            <p:cNvPicPr>
              <a:picLocks noChangeAspect="1"/>
            </p:cNvPicPr>
            <p:nvPr/>
          </p:nvPicPr>
          <p:blipFill>
            <a:blip r:embed="rId13"/>
            <a:srcRect/>
            <a:stretch>
              <a:fillRect/>
            </a:stretch>
          </p:blipFill>
          <p:spPr>
            <a:xfrm rot="-10800000">
              <a:off x="14566194" y="7314421"/>
              <a:ext cx="721692" cy="806360"/>
            </a:xfrm>
            <a:prstGeom prst="rect">
              <a:avLst/>
            </a:prstGeom>
          </p:spPr>
        </p:pic>
        <p:pic>
          <p:nvPicPr>
            <p:cNvPr id="22" name="Picture 22"/>
            <p:cNvPicPr>
              <a:picLocks noChangeAspect="1"/>
            </p:cNvPicPr>
            <p:nvPr/>
          </p:nvPicPr>
          <p:blipFill>
            <a:blip r:embed="rId13"/>
            <a:srcRect/>
            <a:stretch>
              <a:fillRect/>
            </a:stretch>
          </p:blipFill>
          <p:spPr>
            <a:xfrm rot="5400000">
              <a:off x="13828423" y="5968619"/>
              <a:ext cx="721692" cy="806360"/>
            </a:xfrm>
            <a:prstGeom prst="rect">
              <a:avLst/>
            </a:prstGeom>
          </p:spPr>
        </p:pic>
        <p:pic>
          <p:nvPicPr>
            <p:cNvPr id="23" name="Picture 23"/>
            <p:cNvPicPr>
              <a:picLocks noChangeAspect="1"/>
            </p:cNvPicPr>
            <p:nvPr/>
          </p:nvPicPr>
          <p:blipFill>
            <a:blip r:embed="rId13"/>
            <a:srcRect/>
            <a:stretch>
              <a:fillRect/>
            </a:stretch>
          </p:blipFill>
          <p:spPr>
            <a:xfrm rot="5400000">
              <a:off x="13118395" y="5972510"/>
              <a:ext cx="718017" cy="802253"/>
            </a:xfrm>
            <a:prstGeom prst="rect">
              <a:avLst/>
            </a:prstGeom>
          </p:spPr>
        </p:pic>
        <p:pic>
          <p:nvPicPr>
            <p:cNvPr id="24" name="Picture 24"/>
            <p:cNvPicPr>
              <a:picLocks noChangeAspect="1"/>
            </p:cNvPicPr>
            <p:nvPr/>
          </p:nvPicPr>
          <p:blipFill>
            <a:blip r:embed="rId13"/>
            <a:srcRect/>
            <a:stretch>
              <a:fillRect/>
            </a:stretch>
          </p:blipFill>
          <p:spPr>
            <a:xfrm rot="5400000">
              <a:off x="12377429" y="5968619"/>
              <a:ext cx="721692" cy="806360"/>
            </a:xfrm>
            <a:prstGeom prst="rect">
              <a:avLst/>
            </a:prstGeom>
          </p:spPr>
        </p:pic>
        <p:pic>
          <p:nvPicPr>
            <p:cNvPr id="25" name="Picture 25"/>
            <p:cNvPicPr>
              <a:picLocks noChangeAspect="1"/>
            </p:cNvPicPr>
            <p:nvPr/>
          </p:nvPicPr>
          <p:blipFill>
            <a:blip r:embed="rId13"/>
            <a:srcRect/>
            <a:stretch>
              <a:fillRect/>
            </a:stretch>
          </p:blipFill>
          <p:spPr>
            <a:xfrm rot="5400000">
              <a:off x="11571070" y="5972295"/>
              <a:ext cx="721692" cy="806360"/>
            </a:xfrm>
            <a:prstGeom prst="rect">
              <a:avLst/>
            </a:prstGeom>
          </p:spPr>
        </p:pic>
        <p:pic>
          <p:nvPicPr>
            <p:cNvPr id="26" name="Picture 26"/>
            <p:cNvPicPr>
              <a:picLocks noChangeAspect="1"/>
            </p:cNvPicPr>
            <p:nvPr/>
          </p:nvPicPr>
          <p:blipFill>
            <a:blip r:embed="rId13"/>
            <a:srcRect/>
            <a:stretch>
              <a:fillRect/>
            </a:stretch>
          </p:blipFill>
          <p:spPr>
            <a:xfrm rot="5400000">
              <a:off x="10830512" y="5972295"/>
              <a:ext cx="721692" cy="806360"/>
            </a:xfrm>
            <a:prstGeom prst="rect">
              <a:avLst/>
            </a:prstGeom>
          </p:spPr>
        </p:pic>
        <p:pic>
          <p:nvPicPr>
            <p:cNvPr id="27" name="Picture 27"/>
            <p:cNvPicPr>
              <a:picLocks noChangeAspect="1"/>
            </p:cNvPicPr>
            <p:nvPr/>
          </p:nvPicPr>
          <p:blipFill>
            <a:blip r:embed="rId13"/>
            <a:srcRect/>
            <a:stretch>
              <a:fillRect/>
            </a:stretch>
          </p:blipFill>
          <p:spPr>
            <a:xfrm rot="-10800000">
              <a:off x="14566194" y="6010953"/>
              <a:ext cx="721692" cy="806360"/>
            </a:xfrm>
            <a:prstGeom prst="rect">
              <a:avLst/>
            </a:prstGeom>
          </p:spPr>
        </p:pic>
        <p:pic>
          <p:nvPicPr>
            <p:cNvPr id="28" name="Picture 28"/>
            <p:cNvPicPr>
              <a:picLocks noChangeAspect="1"/>
            </p:cNvPicPr>
            <p:nvPr/>
          </p:nvPicPr>
          <p:blipFill>
            <a:blip r:embed="rId13"/>
            <a:srcRect/>
            <a:stretch>
              <a:fillRect/>
            </a:stretch>
          </p:blipFill>
          <p:spPr>
            <a:xfrm rot="-10800000">
              <a:off x="8619013" y="4436630"/>
              <a:ext cx="721692" cy="806360"/>
            </a:xfrm>
            <a:prstGeom prst="rect">
              <a:avLst/>
            </a:prstGeom>
          </p:spPr>
        </p:pic>
        <p:pic>
          <p:nvPicPr>
            <p:cNvPr id="29" name="Picture 29"/>
            <p:cNvPicPr>
              <a:picLocks noChangeAspect="1"/>
            </p:cNvPicPr>
            <p:nvPr/>
          </p:nvPicPr>
          <p:blipFill>
            <a:blip r:embed="rId13"/>
            <a:srcRect/>
            <a:stretch>
              <a:fillRect/>
            </a:stretch>
          </p:blipFill>
          <p:spPr>
            <a:xfrm rot="-5400000">
              <a:off x="9383038" y="3957462"/>
              <a:ext cx="721692" cy="806360"/>
            </a:xfrm>
            <a:prstGeom prst="rect">
              <a:avLst/>
            </a:prstGeom>
          </p:spPr>
        </p:pic>
        <p:pic>
          <p:nvPicPr>
            <p:cNvPr id="30" name="Picture 30"/>
            <p:cNvPicPr>
              <a:picLocks noChangeAspect="1"/>
            </p:cNvPicPr>
            <p:nvPr/>
          </p:nvPicPr>
          <p:blipFill>
            <a:blip r:embed="rId13"/>
            <a:srcRect/>
            <a:stretch>
              <a:fillRect/>
            </a:stretch>
          </p:blipFill>
          <p:spPr>
            <a:xfrm rot="-5400000">
              <a:off x="10096741" y="3957678"/>
              <a:ext cx="718017" cy="802253"/>
            </a:xfrm>
            <a:prstGeom prst="rect">
              <a:avLst/>
            </a:prstGeom>
          </p:spPr>
        </p:pic>
        <p:pic>
          <p:nvPicPr>
            <p:cNvPr id="31" name="Picture 31"/>
            <p:cNvPicPr>
              <a:picLocks noChangeAspect="1"/>
            </p:cNvPicPr>
            <p:nvPr/>
          </p:nvPicPr>
          <p:blipFill>
            <a:blip r:embed="rId13"/>
            <a:srcRect/>
            <a:stretch>
              <a:fillRect/>
            </a:stretch>
          </p:blipFill>
          <p:spPr>
            <a:xfrm rot="-5400000">
              <a:off x="10834032" y="3957462"/>
              <a:ext cx="721692" cy="806360"/>
            </a:xfrm>
            <a:prstGeom prst="rect">
              <a:avLst/>
            </a:prstGeom>
          </p:spPr>
        </p:pic>
        <p:pic>
          <p:nvPicPr>
            <p:cNvPr id="32" name="Picture 32"/>
            <p:cNvPicPr>
              <a:picLocks noChangeAspect="1"/>
            </p:cNvPicPr>
            <p:nvPr/>
          </p:nvPicPr>
          <p:blipFill>
            <a:blip r:embed="rId13"/>
            <a:srcRect/>
            <a:stretch>
              <a:fillRect/>
            </a:stretch>
          </p:blipFill>
          <p:spPr>
            <a:xfrm rot="-5400000">
              <a:off x="11640391" y="3953787"/>
              <a:ext cx="721692" cy="806360"/>
            </a:xfrm>
            <a:prstGeom prst="rect">
              <a:avLst/>
            </a:prstGeom>
          </p:spPr>
        </p:pic>
        <p:pic>
          <p:nvPicPr>
            <p:cNvPr id="33" name="Picture 33"/>
            <p:cNvPicPr>
              <a:picLocks noChangeAspect="1"/>
            </p:cNvPicPr>
            <p:nvPr/>
          </p:nvPicPr>
          <p:blipFill>
            <a:blip r:embed="rId13"/>
            <a:srcRect/>
            <a:stretch>
              <a:fillRect/>
            </a:stretch>
          </p:blipFill>
          <p:spPr>
            <a:xfrm rot="-5400000">
              <a:off x="12380949" y="3953787"/>
              <a:ext cx="721692" cy="806360"/>
            </a:xfrm>
            <a:prstGeom prst="rect">
              <a:avLst/>
            </a:prstGeom>
          </p:spPr>
        </p:pic>
        <p:pic>
          <p:nvPicPr>
            <p:cNvPr id="34" name="Picture 34"/>
            <p:cNvPicPr>
              <a:picLocks noChangeAspect="1"/>
            </p:cNvPicPr>
            <p:nvPr/>
          </p:nvPicPr>
          <p:blipFill>
            <a:blip r:embed="rId13"/>
            <a:srcRect/>
            <a:stretch>
              <a:fillRect/>
            </a:stretch>
          </p:blipFill>
          <p:spPr>
            <a:xfrm rot="-10800000">
              <a:off x="8619013" y="3915128"/>
              <a:ext cx="721692" cy="806360"/>
            </a:xfrm>
            <a:prstGeom prst="rect">
              <a:avLst/>
            </a:prstGeom>
          </p:spPr>
        </p:pic>
        <p:pic>
          <p:nvPicPr>
            <p:cNvPr id="35" name="Picture 35"/>
            <p:cNvPicPr>
              <a:picLocks noChangeAspect="1"/>
            </p:cNvPicPr>
            <p:nvPr/>
          </p:nvPicPr>
          <p:blipFill>
            <a:blip r:embed="rId13"/>
            <a:srcRect/>
            <a:stretch>
              <a:fillRect/>
            </a:stretch>
          </p:blipFill>
          <p:spPr>
            <a:xfrm rot="-5400000">
              <a:off x="13067239" y="3957462"/>
              <a:ext cx="721692" cy="806360"/>
            </a:xfrm>
            <a:prstGeom prst="rect">
              <a:avLst/>
            </a:prstGeom>
          </p:spPr>
        </p:pic>
        <p:pic>
          <p:nvPicPr>
            <p:cNvPr id="36" name="Picture 36"/>
            <p:cNvPicPr>
              <a:picLocks noChangeAspect="1"/>
            </p:cNvPicPr>
            <p:nvPr/>
          </p:nvPicPr>
          <p:blipFill>
            <a:blip r:embed="rId13"/>
            <a:srcRect/>
            <a:stretch>
              <a:fillRect/>
            </a:stretch>
          </p:blipFill>
          <p:spPr>
            <a:xfrm rot="-5400000">
              <a:off x="13780941" y="3957678"/>
              <a:ext cx="718017" cy="802253"/>
            </a:xfrm>
            <a:prstGeom prst="rect">
              <a:avLst/>
            </a:prstGeom>
          </p:spPr>
        </p:pic>
        <p:pic>
          <p:nvPicPr>
            <p:cNvPr id="37" name="Picture 37"/>
            <p:cNvPicPr>
              <a:picLocks noChangeAspect="1"/>
            </p:cNvPicPr>
            <p:nvPr/>
          </p:nvPicPr>
          <p:blipFill>
            <a:blip r:embed="rId13"/>
            <a:srcRect/>
            <a:stretch>
              <a:fillRect/>
            </a:stretch>
          </p:blipFill>
          <p:spPr>
            <a:xfrm rot="-5400000">
              <a:off x="14518232" y="3957462"/>
              <a:ext cx="721692" cy="806360"/>
            </a:xfrm>
            <a:prstGeom prst="rect">
              <a:avLst/>
            </a:prstGeom>
          </p:spPr>
        </p:pic>
        <p:pic>
          <p:nvPicPr>
            <p:cNvPr id="38" name="Picture 38"/>
            <p:cNvPicPr>
              <a:picLocks noChangeAspect="1"/>
            </p:cNvPicPr>
            <p:nvPr/>
          </p:nvPicPr>
          <p:blipFill>
            <a:blip r:embed="rId13"/>
            <a:srcRect/>
            <a:stretch>
              <a:fillRect/>
            </a:stretch>
          </p:blipFill>
          <p:spPr>
            <a:xfrm rot="-10800000">
              <a:off x="14716799" y="3334889"/>
              <a:ext cx="721692" cy="806360"/>
            </a:xfrm>
            <a:prstGeom prst="rect">
              <a:avLst/>
            </a:prstGeom>
          </p:spPr>
        </p:pic>
        <p:pic>
          <p:nvPicPr>
            <p:cNvPr id="39" name="Picture 39"/>
            <p:cNvPicPr>
              <a:picLocks noChangeAspect="1"/>
            </p:cNvPicPr>
            <p:nvPr/>
          </p:nvPicPr>
          <p:blipFill>
            <a:blip r:embed="rId13"/>
            <a:srcRect/>
            <a:stretch>
              <a:fillRect/>
            </a:stretch>
          </p:blipFill>
          <p:spPr>
            <a:xfrm rot="-10800000">
              <a:off x="14716799" y="1151738"/>
              <a:ext cx="721692" cy="806360"/>
            </a:xfrm>
            <a:prstGeom prst="rect">
              <a:avLst/>
            </a:prstGeom>
          </p:spPr>
        </p:pic>
        <p:pic>
          <p:nvPicPr>
            <p:cNvPr id="40" name="Picture 40"/>
            <p:cNvPicPr>
              <a:picLocks noChangeAspect="1"/>
            </p:cNvPicPr>
            <p:nvPr/>
          </p:nvPicPr>
          <p:blipFill>
            <a:blip r:embed="rId13"/>
            <a:srcRect/>
            <a:stretch>
              <a:fillRect/>
            </a:stretch>
          </p:blipFill>
          <p:spPr>
            <a:xfrm rot="5400000">
              <a:off x="13952773" y="746720"/>
              <a:ext cx="721692" cy="806360"/>
            </a:xfrm>
            <a:prstGeom prst="rect">
              <a:avLst/>
            </a:prstGeom>
          </p:spPr>
        </p:pic>
        <p:pic>
          <p:nvPicPr>
            <p:cNvPr id="41" name="Picture 41"/>
            <p:cNvPicPr>
              <a:picLocks noChangeAspect="1"/>
            </p:cNvPicPr>
            <p:nvPr/>
          </p:nvPicPr>
          <p:blipFill>
            <a:blip r:embed="rId13"/>
            <a:srcRect/>
            <a:stretch>
              <a:fillRect/>
            </a:stretch>
          </p:blipFill>
          <p:spPr>
            <a:xfrm rot="5400000">
              <a:off x="13242746" y="750611"/>
              <a:ext cx="718017" cy="802253"/>
            </a:xfrm>
            <a:prstGeom prst="rect">
              <a:avLst/>
            </a:prstGeom>
          </p:spPr>
        </p:pic>
        <p:pic>
          <p:nvPicPr>
            <p:cNvPr id="42" name="Picture 42"/>
            <p:cNvPicPr>
              <a:picLocks noChangeAspect="1"/>
            </p:cNvPicPr>
            <p:nvPr/>
          </p:nvPicPr>
          <p:blipFill>
            <a:blip r:embed="rId13"/>
            <a:srcRect/>
            <a:stretch>
              <a:fillRect/>
            </a:stretch>
          </p:blipFill>
          <p:spPr>
            <a:xfrm rot="5400000">
              <a:off x="12501780" y="746720"/>
              <a:ext cx="721692" cy="806360"/>
            </a:xfrm>
            <a:prstGeom prst="rect">
              <a:avLst/>
            </a:prstGeom>
          </p:spPr>
        </p:pic>
        <p:pic>
          <p:nvPicPr>
            <p:cNvPr id="43" name="Picture 43"/>
            <p:cNvPicPr>
              <a:picLocks noChangeAspect="1"/>
            </p:cNvPicPr>
            <p:nvPr/>
          </p:nvPicPr>
          <p:blipFill>
            <a:blip r:embed="rId13"/>
            <a:srcRect/>
            <a:stretch>
              <a:fillRect/>
            </a:stretch>
          </p:blipFill>
          <p:spPr>
            <a:xfrm rot="5400000">
              <a:off x="11695420" y="750396"/>
              <a:ext cx="721692" cy="806360"/>
            </a:xfrm>
            <a:prstGeom prst="rect">
              <a:avLst/>
            </a:prstGeom>
          </p:spPr>
        </p:pic>
        <p:pic>
          <p:nvPicPr>
            <p:cNvPr id="44" name="Picture 44"/>
            <p:cNvPicPr>
              <a:picLocks noChangeAspect="1"/>
            </p:cNvPicPr>
            <p:nvPr/>
          </p:nvPicPr>
          <p:blipFill>
            <a:blip r:embed="rId13"/>
            <a:srcRect/>
            <a:stretch>
              <a:fillRect/>
            </a:stretch>
          </p:blipFill>
          <p:spPr>
            <a:xfrm rot="5400000">
              <a:off x="10954862" y="750396"/>
              <a:ext cx="721692" cy="806360"/>
            </a:xfrm>
            <a:prstGeom prst="rect">
              <a:avLst/>
            </a:prstGeom>
          </p:spPr>
        </p:pic>
        <p:pic>
          <p:nvPicPr>
            <p:cNvPr id="45" name="Picture 45"/>
            <p:cNvPicPr>
              <a:picLocks noChangeAspect="1"/>
            </p:cNvPicPr>
            <p:nvPr/>
          </p:nvPicPr>
          <p:blipFill>
            <a:blip r:embed="rId13"/>
            <a:srcRect/>
            <a:stretch>
              <a:fillRect/>
            </a:stretch>
          </p:blipFill>
          <p:spPr>
            <a:xfrm rot="-10800000">
              <a:off x="14716799" y="661630"/>
              <a:ext cx="721692" cy="806360"/>
            </a:xfrm>
            <a:prstGeom prst="rect">
              <a:avLst/>
            </a:prstGeom>
          </p:spPr>
        </p:pic>
        <p:pic>
          <p:nvPicPr>
            <p:cNvPr id="46" name="Picture 46"/>
            <p:cNvPicPr>
              <a:picLocks noChangeAspect="1"/>
            </p:cNvPicPr>
            <p:nvPr/>
          </p:nvPicPr>
          <p:blipFill>
            <a:blip r:embed="rId13"/>
            <a:srcRect/>
            <a:stretch>
              <a:fillRect/>
            </a:stretch>
          </p:blipFill>
          <p:spPr>
            <a:xfrm rot="5400000">
              <a:off x="10427332" y="746720"/>
              <a:ext cx="721692" cy="806360"/>
            </a:xfrm>
            <a:prstGeom prst="rect">
              <a:avLst/>
            </a:prstGeom>
          </p:spPr>
        </p:pic>
        <p:pic>
          <p:nvPicPr>
            <p:cNvPr id="47" name="Picture 47"/>
            <p:cNvPicPr>
              <a:picLocks noChangeAspect="1"/>
            </p:cNvPicPr>
            <p:nvPr/>
          </p:nvPicPr>
          <p:blipFill>
            <a:blip r:embed="rId13"/>
            <a:srcRect/>
            <a:stretch>
              <a:fillRect/>
            </a:stretch>
          </p:blipFill>
          <p:spPr>
            <a:xfrm rot="5400000">
              <a:off x="6762536" y="787216"/>
              <a:ext cx="721692" cy="806360"/>
            </a:xfrm>
            <a:prstGeom prst="rect">
              <a:avLst/>
            </a:prstGeom>
          </p:spPr>
        </p:pic>
        <p:pic>
          <p:nvPicPr>
            <p:cNvPr id="48" name="Picture 48"/>
            <p:cNvPicPr>
              <a:picLocks noChangeAspect="1"/>
            </p:cNvPicPr>
            <p:nvPr/>
          </p:nvPicPr>
          <p:blipFill>
            <a:blip r:embed="rId13"/>
            <a:srcRect/>
            <a:stretch>
              <a:fillRect/>
            </a:stretch>
          </p:blipFill>
          <p:spPr>
            <a:xfrm rot="5400000">
              <a:off x="6052509" y="791107"/>
              <a:ext cx="718017" cy="802253"/>
            </a:xfrm>
            <a:prstGeom prst="rect">
              <a:avLst/>
            </a:prstGeom>
          </p:spPr>
        </p:pic>
        <p:pic>
          <p:nvPicPr>
            <p:cNvPr id="49" name="Picture 49"/>
            <p:cNvPicPr>
              <a:picLocks noChangeAspect="1"/>
            </p:cNvPicPr>
            <p:nvPr/>
          </p:nvPicPr>
          <p:blipFill>
            <a:blip r:embed="rId13"/>
            <a:srcRect/>
            <a:stretch>
              <a:fillRect/>
            </a:stretch>
          </p:blipFill>
          <p:spPr>
            <a:xfrm rot="5400000">
              <a:off x="5311543" y="787216"/>
              <a:ext cx="721692" cy="806360"/>
            </a:xfrm>
            <a:prstGeom prst="rect">
              <a:avLst/>
            </a:prstGeom>
          </p:spPr>
        </p:pic>
        <p:pic>
          <p:nvPicPr>
            <p:cNvPr id="50" name="Picture 50"/>
            <p:cNvPicPr>
              <a:picLocks noChangeAspect="1"/>
            </p:cNvPicPr>
            <p:nvPr/>
          </p:nvPicPr>
          <p:blipFill>
            <a:blip r:embed="rId13"/>
            <a:srcRect/>
            <a:stretch>
              <a:fillRect/>
            </a:stretch>
          </p:blipFill>
          <p:spPr>
            <a:xfrm rot="5400000">
              <a:off x="4505183" y="790892"/>
              <a:ext cx="721692" cy="806360"/>
            </a:xfrm>
            <a:prstGeom prst="rect">
              <a:avLst/>
            </a:prstGeom>
          </p:spPr>
        </p:pic>
        <p:pic>
          <p:nvPicPr>
            <p:cNvPr id="51" name="Picture 51"/>
            <p:cNvPicPr>
              <a:picLocks noChangeAspect="1"/>
            </p:cNvPicPr>
            <p:nvPr/>
          </p:nvPicPr>
          <p:blipFill>
            <a:blip r:embed="rId13"/>
            <a:srcRect/>
            <a:stretch>
              <a:fillRect/>
            </a:stretch>
          </p:blipFill>
          <p:spPr>
            <a:xfrm rot="5400000">
              <a:off x="3764625" y="790892"/>
              <a:ext cx="721692" cy="806360"/>
            </a:xfrm>
            <a:prstGeom prst="rect">
              <a:avLst/>
            </a:prstGeom>
          </p:spPr>
        </p:pic>
        <p:pic>
          <p:nvPicPr>
            <p:cNvPr id="52" name="Picture 52"/>
            <p:cNvPicPr>
              <a:picLocks noChangeAspect="1"/>
            </p:cNvPicPr>
            <p:nvPr/>
          </p:nvPicPr>
          <p:blipFill>
            <a:blip r:embed="rId13"/>
            <a:srcRect/>
            <a:stretch>
              <a:fillRect/>
            </a:stretch>
          </p:blipFill>
          <p:spPr>
            <a:xfrm rot="5400000">
              <a:off x="3040245" y="787216"/>
              <a:ext cx="721692" cy="806360"/>
            </a:xfrm>
            <a:prstGeom prst="rect">
              <a:avLst/>
            </a:prstGeom>
          </p:spPr>
        </p:pic>
        <p:pic>
          <p:nvPicPr>
            <p:cNvPr id="53" name="Picture 53"/>
            <p:cNvPicPr>
              <a:picLocks noChangeAspect="1"/>
            </p:cNvPicPr>
            <p:nvPr/>
          </p:nvPicPr>
          <p:blipFill>
            <a:blip r:embed="rId13"/>
            <a:srcRect/>
            <a:stretch>
              <a:fillRect/>
            </a:stretch>
          </p:blipFill>
          <p:spPr>
            <a:xfrm rot="5400000">
              <a:off x="2330218" y="791107"/>
              <a:ext cx="718017" cy="802253"/>
            </a:xfrm>
            <a:prstGeom prst="rect">
              <a:avLst/>
            </a:prstGeom>
          </p:spPr>
        </p:pic>
        <p:pic>
          <p:nvPicPr>
            <p:cNvPr id="54" name="Picture 54"/>
            <p:cNvPicPr>
              <a:picLocks noChangeAspect="1"/>
            </p:cNvPicPr>
            <p:nvPr/>
          </p:nvPicPr>
          <p:blipFill>
            <a:blip r:embed="rId13"/>
            <a:srcRect/>
            <a:stretch>
              <a:fillRect/>
            </a:stretch>
          </p:blipFill>
          <p:spPr>
            <a:xfrm rot="5400000">
              <a:off x="1589252" y="787216"/>
              <a:ext cx="721692" cy="806360"/>
            </a:xfrm>
            <a:prstGeom prst="rect">
              <a:avLst/>
            </a:prstGeom>
          </p:spPr>
        </p:pic>
        <p:pic>
          <p:nvPicPr>
            <p:cNvPr id="55" name="Picture 55"/>
            <p:cNvPicPr>
              <a:picLocks noChangeAspect="1"/>
            </p:cNvPicPr>
            <p:nvPr/>
          </p:nvPicPr>
          <p:blipFill>
            <a:blip r:embed="rId13"/>
            <a:srcRect/>
            <a:stretch>
              <a:fillRect/>
            </a:stretch>
          </p:blipFill>
          <p:spPr>
            <a:xfrm rot="5400000">
              <a:off x="782892" y="790892"/>
              <a:ext cx="721692" cy="806360"/>
            </a:xfrm>
            <a:prstGeom prst="rect">
              <a:avLst/>
            </a:prstGeom>
          </p:spPr>
        </p:pic>
        <p:pic>
          <p:nvPicPr>
            <p:cNvPr id="56" name="Picture 56"/>
            <p:cNvPicPr>
              <a:picLocks noChangeAspect="1"/>
            </p:cNvPicPr>
            <p:nvPr/>
          </p:nvPicPr>
          <p:blipFill>
            <a:blip r:embed="rId13"/>
            <a:srcRect/>
            <a:stretch>
              <a:fillRect/>
            </a:stretch>
          </p:blipFill>
          <p:spPr>
            <a:xfrm rot="5400000">
              <a:off x="42334" y="790892"/>
              <a:ext cx="721692" cy="806360"/>
            </a:xfrm>
            <a:prstGeom prst="rect">
              <a:avLst/>
            </a:prstGeom>
          </p:spPr>
        </p:pic>
        <p:pic>
          <p:nvPicPr>
            <p:cNvPr id="57" name="Picture 57"/>
            <p:cNvPicPr>
              <a:picLocks noChangeAspect="1"/>
            </p:cNvPicPr>
            <p:nvPr/>
          </p:nvPicPr>
          <p:blipFill>
            <a:blip r:embed="rId13"/>
            <a:srcRect/>
            <a:stretch>
              <a:fillRect/>
            </a:stretch>
          </p:blipFill>
          <p:spPr>
            <a:xfrm>
              <a:off x="0" y="1280029"/>
              <a:ext cx="721692" cy="806360"/>
            </a:xfrm>
            <a:prstGeom prst="rect">
              <a:avLst/>
            </a:prstGeom>
          </p:spPr>
        </p:pic>
        <p:pic>
          <p:nvPicPr>
            <p:cNvPr id="58" name="Picture 58"/>
            <p:cNvPicPr>
              <a:picLocks noChangeAspect="1"/>
            </p:cNvPicPr>
            <p:nvPr/>
          </p:nvPicPr>
          <p:blipFill>
            <a:blip r:embed="rId13"/>
            <a:srcRect/>
            <a:stretch>
              <a:fillRect/>
            </a:stretch>
          </p:blipFill>
          <p:spPr>
            <a:xfrm>
              <a:off x="3675" y="1993947"/>
              <a:ext cx="718017" cy="802253"/>
            </a:xfrm>
            <a:prstGeom prst="rect">
              <a:avLst/>
            </a:prstGeom>
          </p:spPr>
        </p:pic>
        <p:pic>
          <p:nvPicPr>
            <p:cNvPr id="59" name="Picture 59"/>
            <p:cNvPicPr>
              <a:picLocks noChangeAspect="1"/>
            </p:cNvPicPr>
            <p:nvPr/>
          </p:nvPicPr>
          <p:blipFill>
            <a:blip r:embed="rId13"/>
            <a:srcRect/>
            <a:stretch>
              <a:fillRect/>
            </a:stretch>
          </p:blipFill>
          <p:spPr>
            <a:xfrm>
              <a:off x="0" y="2731022"/>
              <a:ext cx="721692" cy="806360"/>
            </a:xfrm>
            <a:prstGeom prst="rect">
              <a:avLst/>
            </a:prstGeom>
          </p:spPr>
        </p:pic>
        <p:pic>
          <p:nvPicPr>
            <p:cNvPr id="60" name="Picture 60"/>
            <p:cNvPicPr>
              <a:picLocks noChangeAspect="1"/>
            </p:cNvPicPr>
            <p:nvPr/>
          </p:nvPicPr>
          <p:blipFill>
            <a:blip r:embed="rId13"/>
            <a:srcRect/>
            <a:stretch>
              <a:fillRect/>
            </a:stretch>
          </p:blipFill>
          <p:spPr>
            <a:xfrm>
              <a:off x="3675" y="3537382"/>
              <a:ext cx="721692" cy="806360"/>
            </a:xfrm>
            <a:prstGeom prst="rect">
              <a:avLst/>
            </a:prstGeom>
          </p:spPr>
        </p:pic>
        <p:pic>
          <p:nvPicPr>
            <p:cNvPr id="61" name="Picture 61"/>
            <p:cNvPicPr>
              <a:picLocks noChangeAspect="1"/>
            </p:cNvPicPr>
            <p:nvPr/>
          </p:nvPicPr>
          <p:blipFill>
            <a:blip r:embed="rId13"/>
            <a:srcRect/>
            <a:stretch>
              <a:fillRect/>
            </a:stretch>
          </p:blipFill>
          <p:spPr>
            <a:xfrm>
              <a:off x="3675" y="4277940"/>
              <a:ext cx="721692" cy="806360"/>
            </a:xfrm>
            <a:prstGeom prst="rect">
              <a:avLst/>
            </a:prstGeom>
          </p:spPr>
        </p:pic>
        <p:pic>
          <p:nvPicPr>
            <p:cNvPr id="62" name="Picture 62"/>
            <p:cNvPicPr>
              <a:picLocks noChangeAspect="1"/>
            </p:cNvPicPr>
            <p:nvPr/>
          </p:nvPicPr>
          <p:blipFill>
            <a:blip r:embed="rId13"/>
            <a:srcRect/>
            <a:stretch>
              <a:fillRect/>
            </a:stretch>
          </p:blipFill>
          <p:spPr>
            <a:xfrm>
              <a:off x="0" y="4839810"/>
              <a:ext cx="721692" cy="806360"/>
            </a:xfrm>
            <a:prstGeom prst="rect">
              <a:avLst/>
            </a:prstGeom>
          </p:spPr>
        </p:pic>
        <p:pic>
          <p:nvPicPr>
            <p:cNvPr id="63" name="Picture 63"/>
            <p:cNvPicPr>
              <a:picLocks noChangeAspect="1"/>
            </p:cNvPicPr>
            <p:nvPr/>
          </p:nvPicPr>
          <p:blipFill>
            <a:blip r:embed="rId13"/>
            <a:srcRect/>
            <a:stretch>
              <a:fillRect/>
            </a:stretch>
          </p:blipFill>
          <p:spPr>
            <a:xfrm>
              <a:off x="3675" y="5553728"/>
              <a:ext cx="718017" cy="802253"/>
            </a:xfrm>
            <a:prstGeom prst="rect">
              <a:avLst/>
            </a:prstGeom>
          </p:spPr>
        </p:pic>
        <p:pic>
          <p:nvPicPr>
            <p:cNvPr id="64" name="Picture 64"/>
            <p:cNvPicPr>
              <a:picLocks noChangeAspect="1"/>
            </p:cNvPicPr>
            <p:nvPr/>
          </p:nvPicPr>
          <p:blipFill>
            <a:blip r:embed="rId13"/>
            <a:srcRect/>
            <a:stretch>
              <a:fillRect/>
            </a:stretch>
          </p:blipFill>
          <p:spPr>
            <a:xfrm>
              <a:off x="0" y="6290803"/>
              <a:ext cx="721692" cy="806360"/>
            </a:xfrm>
            <a:prstGeom prst="rect">
              <a:avLst/>
            </a:prstGeom>
          </p:spPr>
        </p:pic>
        <p:pic>
          <p:nvPicPr>
            <p:cNvPr id="65" name="Picture 65"/>
            <p:cNvPicPr>
              <a:picLocks noChangeAspect="1"/>
            </p:cNvPicPr>
            <p:nvPr/>
          </p:nvPicPr>
          <p:blipFill>
            <a:blip r:embed="rId13"/>
            <a:srcRect/>
            <a:stretch>
              <a:fillRect/>
            </a:stretch>
          </p:blipFill>
          <p:spPr>
            <a:xfrm>
              <a:off x="3675" y="7097163"/>
              <a:ext cx="721692" cy="806360"/>
            </a:xfrm>
            <a:prstGeom prst="rect">
              <a:avLst/>
            </a:prstGeom>
          </p:spPr>
        </p:pic>
        <p:pic>
          <p:nvPicPr>
            <p:cNvPr id="66" name="Picture 66"/>
            <p:cNvPicPr>
              <a:picLocks noChangeAspect="1"/>
            </p:cNvPicPr>
            <p:nvPr/>
          </p:nvPicPr>
          <p:blipFill>
            <a:blip r:embed="rId13"/>
            <a:srcRect/>
            <a:stretch>
              <a:fillRect/>
            </a:stretch>
          </p:blipFill>
          <p:spPr>
            <a:xfrm>
              <a:off x="3675" y="7837721"/>
              <a:ext cx="721692" cy="806360"/>
            </a:xfrm>
            <a:prstGeom prst="rect">
              <a:avLst/>
            </a:prstGeom>
          </p:spPr>
        </p:pic>
        <p:pic>
          <p:nvPicPr>
            <p:cNvPr id="67" name="Picture 67"/>
            <p:cNvPicPr>
              <a:picLocks noChangeAspect="1"/>
            </p:cNvPicPr>
            <p:nvPr/>
          </p:nvPicPr>
          <p:blipFill>
            <a:blip r:embed="rId13"/>
            <a:srcRect/>
            <a:stretch>
              <a:fillRect/>
            </a:stretch>
          </p:blipFill>
          <p:spPr>
            <a:xfrm>
              <a:off x="0" y="8467117"/>
              <a:ext cx="721692" cy="806360"/>
            </a:xfrm>
            <a:prstGeom prst="rect">
              <a:avLst/>
            </a:prstGeom>
          </p:spPr>
        </p:pic>
        <p:pic>
          <p:nvPicPr>
            <p:cNvPr id="68" name="Picture 68"/>
            <p:cNvPicPr>
              <a:picLocks noChangeAspect="1"/>
            </p:cNvPicPr>
            <p:nvPr/>
          </p:nvPicPr>
          <p:blipFill>
            <a:blip r:embed="rId13"/>
            <a:srcRect/>
            <a:stretch>
              <a:fillRect/>
            </a:stretch>
          </p:blipFill>
          <p:spPr>
            <a:xfrm>
              <a:off x="3675" y="9273476"/>
              <a:ext cx="721692" cy="806360"/>
            </a:xfrm>
            <a:prstGeom prst="rect">
              <a:avLst/>
            </a:prstGeom>
          </p:spPr>
        </p:pic>
        <p:pic>
          <p:nvPicPr>
            <p:cNvPr id="69" name="Picture 69"/>
            <p:cNvPicPr>
              <a:picLocks noChangeAspect="1"/>
            </p:cNvPicPr>
            <p:nvPr/>
          </p:nvPicPr>
          <p:blipFill>
            <a:blip r:embed="rId13"/>
            <a:srcRect/>
            <a:stretch>
              <a:fillRect/>
            </a:stretch>
          </p:blipFill>
          <p:spPr>
            <a:xfrm>
              <a:off x="3675" y="10014035"/>
              <a:ext cx="721692" cy="806360"/>
            </a:xfrm>
            <a:prstGeom prst="rect">
              <a:avLst/>
            </a:prstGeom>
          </p:spPr>
        </p:pic>
        <p:pic>
          <p:nvPicPr>
            <p:cNvPr id="70" name="Picture 70"/>
            <p:cNvPicPr>
              <a:picLocks noChangeAspect="1"/>
            </p:cNvPicPr>
            <p:nvPr/>
          </p:nvPicPr>
          <p:blipFill>
            <a:blip r:embed="rId13"/>
            <a:srcRect/>
            <a:stretch>
              <a:fillRect/>
            </a:stretch>
          </p:blipFill>
          <p:spPr>
            <a:xfrm rot="-5400000">
              <a:off x="947610" y="10056368"/>
              <a:ext cx="721692" cy="806360"/>
            </a:xfrm>
            <a:prstGeom prst="rect">
              <a:avLst/>
            </a:prstGeom>
          </p:spPr>
        </p:pic>
        <p:pic>
          <p:nvPicPr>
            <p:cNvPr id="71" name="Picture 71"/>
            <p:cNvPicPr>
              <a:picLocks noChangeAspect="1"/>
            </p:cNvPicPr>
            <p:nvPr/>
          </p:nvPicPr>
          <p:blipFill>
            <a:blip r:embed="rId13"/>
            <a:srcRect/>
            <a:stretch>
              <a:fillRect/>
            </a:stretch>
          </p:blipFill>
          <p:spPr>
            <a:xfrm rot="-5400000">
              <a:off x="4134904" y="10120203"/>
              <a:ext cx="721692" cy="806360"/>
            </a:xfrm>
            <a:prstGeom prst="rect">
              <a:avLst/>
            </a:prstGeom>
          </p:spPr>
        </p:pic>
        <p:pic>
          <p:nvPicPr>
            <p:cNvPr id="72" name="Picture 72"/>
            <p:cNvPicPr>
              <a:picLocks noChangeAspect="1"/>
            </p:cNvPicPr>
            <p:nvPr/>
          </p:nvPicPr>
          <p:blipFill>
            <a:blip r:embed="rId13"/>
            <a:srcRect/>
            <a:stretch>
              <a:fillRect/>
            </a:stretch>
          </p:blipFill>
          <p:spPr>
            <a:xfrm rot="-5400000">
              <a:off x="4848607" y="10120419"/>
              <a:ext cx="718017" cy="802253"/>
            </a:xfrm>
            <a:prstGeom prst="rect">
              <a:avLst/>
            </a:prstGeom>
          </p:spPr>
        </p:pic>
        <p:pic>
          <p:nvPicPr>
            <p:cNvPr id="73" name="Picture 73"/>
            <p:cNvPicPr>
              <a:picLocks noChangeAspect="1"/>
            </p:cNvPicPr>
            <p:nvPr/>
          </p:nvPicPr>
          <p:blipFill>
            <a:blip r:embed="rId13"/>
            <a:srcRect/>
            <a:stretch>
              <a:fillRect/>
            </a:stretch>
          </p:blipFill>
          <p:spPr>
            <a:xfrm rot="-5400000">
              <a:off x="5585898" y="10120203"/>
              <a:ext cx="721692" cy="806360"/>
            </a:xfrm>
            <a:prstGeom prst="rect">
              <a:avLst/>
            </a:prstGeom>
          </p:spPr>
        </p:pic>
        <p:pic>
          <p:nvPicPr>
            <p:cNvPr id="74" name="Picture 74"/>
            <p:cNvPicPr>
              <a:picLocks noChangeAspect="1"/>
            </p:cNvPicPr>
            <p:nvPr/>
          </p:nvPicPr>
          <p:blipFill>
            <a:blip r:embed="rId13"/>
            <a:srcRect/>
            <a:stretch>
              <a:fillRect/>
            </a:stretch>
          </p:blipFill>
          <p:spPr>
            <a:xfrm rot="-5400000">
              <a:off x="6392257" y="10116528"/>
              <a:ext cx="721692" cy="806360"/>
            </a:xfrm>
            <a:prstGeom prst="rect">
              <a:avLst/>
            </a:prstGeom>
          </p:spPr>
        </p:pic>
        <p:pic>
          <p:nvPicPr>
            <p:cNvPr id="75" name="Picture 75"/>
            <p:cNvPicPr>
              <a:picLocks noChangeAspect="1"/>
            </p:cNvPicPr>
            <p:nvPr/>
          </p:nvPicPr>
          <p:blipFill>
            <a:blip r:embed="rId13"/>
            <a:srcRect/>
            <a:stretch>
              <a:fillRect/>
            </a:stretch>
          </p:blipFill>
          <p:spPr>
            <a:xfrm rot="-5400000">
              <a:off x="4044535" y="5972295"/>
              <a:ext cx="721692" cy="806360"/>
            </a:xfrm>
            <a:prstGeom prst="rect">
              <a:avLst/>
            </a:prstGeom>
          </p:spPr>
        </p:pic>
        <p:pic>
          <p:nvPicPr>
            <p:cNvPr id="76" name="Picture 76"/>
            <p:cNvPicPr>
              <a:picLocks noChangeAspect="1"/>
            </p:cNvPicPr>
            <p:nvPr/>
          </p:nvPicPr>
          <p:blipFill>
            <a:blip r:embed="rId13"/>
            <a:srcRect/>
            <a:stretch>
              <a:fillRect/>
            </a:stretch>
          </p:blipFill>
          <p:spPr>
            <a:xfrm rot="-5400000">
              <a:off x="4758237" y="5972510"/>
              <a:ext cx="718017" cy="802253"/>
            </a:xfrm>
            <a:prstGeom prst="rect">
              <a:avLst/>
            </a:prstGeom>
          </p:spPr>
        </p:pic>
        <p:pic>
          <p:nvPicPr>
            <p:cNvPr id="77" name="Picture 77"/>
            <p:cNvPicPr>
              <a:picLocks noChangeAspect="1"/>
            </p:cNvPicPr>
            <p:nvPr/>
          </p:nvPicPr>
          <p:blipFill>
            <a:blip r:embed="rId13"/>
            <a:srcRect/>
            <a:stretch>
              <a:fillRect/>
            </a:stretch>
          </p:blipFill>
          <p:spPr>
            <a:xfrm rot="-5400000">
              <a:off x="5495528" y="5972295"/>
              <a:ext cx="721692" cy="806360"/>
            </a:xfrm>
            <a:prstGeom prst="rect">
              <a:avLst/>
            </a:prstGeom>
          </p:spPr>
        </p:pic>
        <p:pic>
          <p:nvPicPr>
            <p:cNvPr id="78" name="Picture 78"/>
            <p:cNvPicPr>
              <a:picLocks noChangeAspect="1"/>
            </p:cNvPicPr>
            <p:nvPr/>
          </p:nvPicPr>
          <p:blipFill>
            <a:blip r:embed="rId13"/>
            <a:srcRect/>
            <a:stretch>
              <a:fillRect/>
            </a:stretch>
          </p:blipFill>
          <p:spPr>
            <a:xfrm rot="-5400000">
              <a:off x="6301888" y="5968619"/>
              <a:ext cx="721692" cy="806360"/>
            </a:xfrm>
            <a:prstGeom prst="rect">
              <a:avLst/>
            </a:prstGeom>
          </p:spPr>
        </p:pic>
        <p:pic>
          <p:nvPicPr>
            <p:cNvPr id="79" name="Picture 79"/>
            <p:cNvPicPr>
              <a:picLocks noChangeAspect="1"/>
            </p:cNvPicPr>
            <p:nvPr/>
          </p:nvPicPr>
          <p:blipFill>
            <a:blip r:embed="rId13"/>
            <a:srcRect/>
            <a:stretch>
              <a:fillRect/>
            </a:stretch>
          </p:blipFill>
          <p:spPr>
            <a:xfrm rot="-5400000">
              <a:off x="947610" y="5977919"/>
              <a:ext cx="721692" cy="806360"/>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TextBox 2"/>
          <p:cNvSpPr txBox="1"/>
          <p:nvPr/>
        </p:nvSpPr>
        <p:spPr>
          <a:xfrm>
            <a:off x="1028700" y="207645"/>
            <a:ext cx="10068073" cy="821055"/>
          </a:xfrm>
          <a:prstGeom prst="rect">
            <a:avLst/>
          </a:prstGeom>
        </p:spPr>
        <p:txBody>
          <a:bodyPr lIns="0" tIns="0" rIns="0" bIns="0" rtlCol="0" anchor="t">
            <a:spAutoFit/>
          </a:bodyPr>
          <a:lstStyle/>
          <a:p>
            <a:pPr>
              <a:lnSpc>
                <a:spcPts val="6719"/>
              </a:lnSpc>
            </a:pPr>
            <a:r>
              <a:rPr lang="en-US" sz="4800">
                <a:solidFill>
                  <a:srgbClr val="1D1D1F"/>
                </a:solidFill>
                <a:latin typeface="Raleway Heavy"/>
              </a:rPr>
              <a:t>REFRIGERANT: AMMONIA</a:t>
            </a:r>
          </a:p>
        </p:txBody>
      </p:sp>
      <p:sp>
        <p:nvSpPr>
          <p:cNvPr id="3" name="AutoShape 3"/>
          <p:cNvSpPr/>
          <p:nvPr/>
        </p:nvSpPr>
        <p:spPr>
          <a:xfrm flipV="1">
            <a:off x="1028700" y="1028700"/>
            <a:ext cx="16230600" cy="23812"/>
          </a:xfrm>
          <a:prstGeom prst="line">
            <a:avLst/>
          </a:prstGeom>
          <a:ln w="47625" cap="flat">
            <a:solidFill>
              <a:srgbClr val="A28231"/>
            </a:solidFill>
            <a:prstDash val="solid"/>
            <a:headEnd type="none" w="sm" len="sm"/>
            <a:tailEnd type="none" w="sm" len="sm"/>
          </a:ln>
        </p:spPr>
        <p:txBody>
          <a:bodyPr/>
          <a:lstStyle/>
          <a:p>
            <a:endParaRPr lang="en-GB"/>
          </a:p>
        </p:txBody>
      </p:sp>
      <p:sp>
        <p:nvSpPr>
          <p:cNvPr id="4" name="TextBox 4"/>
          <p:cNvSpPr txBox="1"/>
          <p:nvPr/>
        </p:nvSpPr>
        <p:spPr>
          <a:xfrm>
            <a:off x="1028700" y="1117781"/>
            <a:ext cx="10389436" cy="2198369"/>
          </a:xfrm>
          <a:prstGeom prst="rect">
            <a:avLst/>
          </a:prstGeom>
        </p:spPr>
        <p:txBody>
          <a:bodyPr lIns="0" tIns="0" rIns="0" bIns="0" rtlCol="0" anchor="t">
            <a:spAutoFit/>
          </a:bodyPr>
          <a:lstStyle/>
          <a:p>
            <a:pPr>
              <a:lnSpc>
                <a:spcPts val="5880"/>
              </a:lnSpc>
            </a:pPr>
            <a:r>
              <a:rPr lang="en-US" sz="4200" dirty="0">
                <a:solidFill>
                  <a:srgbClr val="1D1D1F"/>
                </a:solidFill>
                <a:latin typeface="Canva Sans Bold"/>
              </a:rPr>
              <a:t>Global Warming Potential: 0</a:t>
            </a:r>
          </a:p>
          <a:p>
            <a:pPr>
              <a:lnSpc>
                <a:spcPts val="5880"/>
              </a:lnSpc>
            </a:pPr>
            <a:r>
              <a:rPr lang="en-US" sz="4200" dirty="0">
                <a:solidFill>
                  <a:srgbClr val="1D1D1F"/>
                </a:solidFill>
                <a:latin typeface="Canva Sans Bold"/>
              </a:rPr>
              <a:t>Ozone Depletion Potential: 0</a:t>
            </a:r>
          </a:p>
          <a:p>
            <a:pPr>
              <a:lnSpc>
                <a:spcPts val="5880"/>
              </a:lnSpc>
            </a:pPr>
            <a:r>
              <a:rPr lang="en-US" sz="4200" dirty="0">
                <a:solidFill>
                  <a:srgbClr val="1D1D1F"/>
                </a:solidFill>
                <a:latin typeface="Canva Sans Bold"/>
              </a:rPr>
              <a:t>Specific heat capacity: 1343-9312 kg/kJ</a:t>
            </a:r>
          </a:p>
        </p:txBody>
      </p:sp>
      <p:grpSp>
        <p:nvGrpSpPr>
          <p:cNvPr id="5" name="Group 5"/>
          <p:cNvGrpSpPr/>
          <p:nvPr/>
        </p:nvGrpSpPr>
        <p:grpSpPr>
          <a:xfrm>
            <a:off x="11272296" y="2727076"/>
            <a:ext cx="724974" cy="457878"/>
            <a:chOff x="0" y="0"/>
            <a:chExt cx="966632" cy="610504"/>
          </a:xfrm>
        </p:grpSpPr>
        <p:sp>
          <p:nvSpPr>
            <p:cNvPr id="6" name="Freeform 6"/>
            <p:cNvSpPr/>
            <p:nvPr/>
          </p:nvSpPr>
          <p:spPr>
            <a:xfrm>
              <a:off x="0" y="0"/>
              <a:ext cx="966632" cy="610504"/>
            </a:xfrm>
            <a:custGeom>
              <a:avLst/>
              <a:gdLst/>
              <a:ahLst/>
              <a:cxnLst/>
              <a:rect l="l" t="t" r="r" b="b"/>
              <a:pathLst>
                <a:path w="966632" h="610504">
                  <a:moveTo>
                    <a:pt x="0" y="0"/>
                  </a:moveTo>
                  <a:lnTo>
                    <a:pt x="966632" y="0"/>
                  </a:lnTo>
                  <a:lnTo>
                    <a:pt x="966632" y="610504"/>
                  </a:lnTo>
                  <a:lnTo>
                    <a:pt x="0" y="6105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sp>
        <p:nvSpPr>
          <p:cNvPr id="7" name="Freeform 7"/>
          <p:cNvSpPr/>
          <p:nvPr/>
        </p:nvSpPr>
        <p:spPr>
          <a:xfrm>
            <a:off x="1028700" y="3478075"/>
            <a:ext cx="7605581" cy="5704186"/>
          </a:xfrm>
          <a:custGeom>
            <a:avLst/>
            <a:gdLst/>
            <a:ahLst/>
            <a:cxnLst/>
            <a:rect l="l" t="t" r="r" b="b"/>
            <a:pathLst>
              <a:path w="7605581" h="5704186">
                <a:moveTo>
                  <a:pt x="0" y="0"/>
                </a:moveTo>
                <a:lnTo>
                  <a:pt x="7605581" y="0"/>
                </a:lnTo>
                <a:lnTo>
                  <a:pt x="7605581" y="5704186"/>
                </a:lnTo>
                <a:lnTo>
                  <a:pt x="0" y="5704186"/>
                </a:lnTo>
                <a:lnTo>
                  <a:pt x="0" y="0"/>
                </a:lnTo>
                <a:close/>
              </a:path>
            </a:pathLst>
          </a:custGeom>
          <a:blipFill>
            <a:blip r:embed="rId4"/>
            <a:stretch>
              <a:fillRect/>
            </a:stretch>
          </a:blipFill>
        </p:spPr>
        <p:txBody>
          <a:bodyPr/>
          <a:lstStyle/>
          <a:p>
            <a:endParaRPr lang="en-GB"/>
          </a:p>
        </p:txBody>
      </p:sp>
      <p:grpSp>
        <p:nvGrpSpPr>
          <p:cNvPr id="8" name="Group 8"/>
          <p:cNvGrpSpPr/>
          <p:nvPr/>
        </p:nvGrpSpPr>
        <p:grpSpPr>
          <a:xfrm>
            <a:off x="4668382" y="7854410"/>
            <a:ext cx="426994" cy="409202"/>
            <a:chOff x="0" y="0"/>
            <a:chExt cx="569325" cy="545603"/>
          </a:xfrm>
        </p:grpSpPr>
        <p:sp>
          <p:nvSpPr>
            <p:cNvPr id="9" name="Freeform 9"/>
            <p:cNvSpPr/>
            <p:nvPr/>
          </p:nvSpPr>
          <p:spPr>
            <a:xfrm>
              <a:off x="0" y="0"/>
              <a:ext cx="569325" cy="545603"/>
            </a:xfrm>
            <a:custGeom>
              <a:avLst/>
              <a:gdLst/>
              <a:ahLst/>
              <a:cxnLst/>
              <a:rect l="l" t="t" r="r" b="b"/>
              <a:pathLst>
                <a:path w="569325" h="545603">
                  <a:moveTo>
                    <a:pt x="0" y="0"/>
                  </a:moveTo>
                  <a:lnTo>
                    <a:pt x="569325" y="0"/>
                  </a:lnTo>
                  <a:lnTo>
                    <a:pt x="569325" y="545603"/>
                  </a:lnTo>
                  <a:lnTo>
                    <a:pt x="0" y="54560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grpSp>
      <p:grpSp>
        <p:nvGrpSpPr>
          <p:cNvPr id="10" name="Group 10"/>
          <p:cNvGrpSpPr/>
          <p:nvPr/>
        </p:nvGrpSpPr>
        <p:grpSpPr>
          <a:xfrm>
            <a:off x="4626889" y="4480108"/>
            <a:ext cx="409202" cy="409202"/>
            <a:chOff x="0" y="0"/>
            <a:chExt cx="545603" cy="545603"/>
          </a:xfrm>
        </p:grpSpPr>
        <p:sp>
          <p:nvSpPr>
            <p:cNvPr id="11" name="Freeform 11"/>
            <p:cNvSpPr/>
            <p:nvPr/>
          </p:nvSpPr>
          <p:spPr>
            <a:xfrm>
              <a:off x="0" y="0"/>
              <a:ext cx="545603" cy="545603"/>
            </a:xfrm>
            <a:custGeom>
              <a:avLst/>
              <a:gdLst/>
              <a:ahLst/>
              <a:cxnLst/>
              <a:rect l="l" t="t" r="r" b="b"/>
              <a:pathLst>
                <a:path w="545603" h="545603">
                  <a:moveTo>
                    <a:pt x="0" y="0"/>
                  </a:moveTo>
                  <a:lnTo>
                    <a:pt x="545603" y="0"/>
                  </a:lnTo>
                  <a:lnTo>
                    <a:pt x="545603" y="545603"/>
                  </a:lnTo>
                  <a:lnTo>
                    <a:pt x="0" y="54560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grpSp>
        <p:nvGrpSpPr>
          <p:cNvPr id="12" name="Group 12"/>
          <p:cNvGrpSpPr/>
          <p:nvPr/>
        </p:nvGrpSpPr>
        <p:grpSpPr>
          <a:xfrm>
            <a:off x="4296871" y="6828783"/>
            <a:ext cx="1170015" cy="414005"/>
            <a:chOff x="0" y="0"/>
            <a:chExt cx="1560020" cy="552007"/>
          </a:xfrm>
        </p:grpSpPr>
        <p:sp>
          <p:nvSpPr>
            <p:cNvPr id="13" name="Freeform 13"/>
            <p:cNvSpPr/>
            <p:nvPr/>
          </p:nvSpPr>
          <p:spPr>
            <a:xfrm>
              <a:off x="0" y="0"/>
              <a:ext cx="1560020" cy="552007"/>
            </a:xfrm>
            <a:custGeom>
              <a:avLst/>
              <a:gdLst/>
              <a:ahLst/>
              <a:cxnLst/>
              <a:rect l="l" t="t" r="r" b="b"/>
              <a:pathLst>
                <a:path w="1560020" h="552007">
                  <a:moveTo>
                    <a:pt x="0" y="0"/>
                  </a:moveTo>
                  <a:lnTo>
                    <a:pt x="1560020" y="0"/>
                  </a:lnTo>
                  <a:lnTo>
                    <a:pt x="1560020" y="552007"/>
                  </a:lnTo>
                  <a:lnTo>
                    <a:pt x="0" y="55200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grpSp>
      <p:sp>
        <p:nvSpPr>
          <p:cNvPr id="15" name="TextBox 15"/>
          <p:cNvSpPr txBox="1"/>
          <p:nvPr/>
        </p:nvSpPr>
        <p:spPr>
          <a:xfrm>
            <a:off x="0" y="9763286"/>
            <a:ext cx="18288000" cy="983614"/>
          </a:xfrm>
          <a:prstGeom prst="rect">
            <a:avLst/>
          </a:prstGeom>
        </p:spPr>
        <p:txBody>
          <a:bodyPr lIns="0" tIns="0" rIns="0" bIns="0" rtlCol="0" anchor="t">
            <a:spAutoFit/>
          </a:bodyPr>
          <a:lstStyle/>
          <a:p>
            <a:pPr algn="ctr">
              <a:lnSpc>
                <a:spcPts val="1960"/>
              </a:lnSpc>
            </a:pPr>
            <a:r>
              <a:rPr lang="en-US" sz="1400">
                <a:solidFill>
                  <a:srgbClr val="1D1D1F"/>
                </a:solidFill>
                <a:latin typeface="Canva Sans"/>
              </a:rPr>
              <a:t>A N I N T E R N A T I O N A L O R G A N I Z A T I O N ASHRAE Position Document on AMMONIA AS A REFRIGERANT. (n.d.). Available at: https://www.epa.gov/sites/default/files/documents/ASHRAE_PD_Ammonia_Refrigerant_2010_1.pdf.</a:t>
            </a:r>
          </a:p>
          <a:p>
            <a:pPr algn="ctr">
              <a:lnSpc>
                <a:spcPts val="1960"/>
              </a:lnSpc>
            </a:pPr>
            <a:r>
              <a:rPr lang="en-US" sz="1400">
                <a:solidFill>
                  <a:srgbClr val="1D1D1F"/>
                </a:solidFill>
                <a:cs typeface="Canva Sans"/>
              </a:rPr>
              <a:t>‌</a:t>
            </a:r>
          </a:p>
          <a:p>
            <a:pPr algn="ctr">
              <a:lnSpc>
                <a:spcPts val="1960"/>
              </a:lnSpc>
            </a:pPr>
            <a:endParaRPr lang="en-US" sz="1400">
              <a:solidFill>
                <a:srgbClr val="1D1D1F"/>
              </a:solidFill>
              <a:cs typeface="Canva Sans"/>
            </a:endParaRPr>
          </a:p>
        </p:txBody>
      </p:sp>
      <p:pic>
        <p:nvPicPr>
          <p:cNvPr id="17" name="Picture 16" descr="A graph with blue lines and points&#10;&#10;Description automatically generated">
            <a:extLst>
              <a:ext uri="{FF2B5EF4-FFF2-40B4-BE49-F238E27FC236}">
                <a16:creationId xmlns:a16="http://schemas.microsoft.com/office/drawing/2014/main" id="{10DE8C69-B8BA-871D-DC5B-1DF8A543900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448800" y="3406934"/>
            <a:ext cx="7605579" cy="5704184"/>
          </a:xfrm>
          <a:prstGeom prst="rect">
            <a:avLst/>
          </a:prstGeom>
        </p:spPr>
      </p:pic>
      <p:pic>
        <p:nvPicPr>
          <p:cNvPr id="14" name="Picture 13" descr="A blue sign with white text&#10;&#10;Description automatically generated">
            <a:extLst>
              <a:ext uri="{FF2B5EF4-FFF2-40B4-BE49-F238E27FC236}">
                <a16:creationId xmlns:a16="http://schemas.microsoft.com/office/drawing/2014/main" id="{C0DEB024-A3E0-7C6F-CEF1-44E2BCABB8D8}"/>
              </a:ext>
            </a:extLst>
          </p:cNvPr>
          <p:cNvPicPr>
            <a:picLocks noChangeAspect="1"/>
          </p:cNvPicPr>
          <p:nvPr/>
        </p:nvPicPr>
        <p:blipFill>
          <a:blip r:embed="rId12"/>
          <a:stretch>
            <a:fillRect/>
          </a:stretch>
        </p:blipFill>
        <p:spPr>
          <a:xfrm>
            <a:off x="13967660" y="1643564"/>
            <a:ext cx="2895600" cy="9239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2" name="Group 2"/>
          <p:cNvGrpSpPr/>
          <p:nvPr/>
        </p:nvGrpSpPr>
        <p:grpSpPr>
          <a:xfrm>
            <a:off x="1028665" y="302895"/>
            <a:ext cx="16230670" cy="773430"/>
            <a:chOff x="0" y="0"/>
            <a:chExt cx="21640893" cy="1031240"/>
          </a:xfrm>
        </p:grpSpPr>
        <p:sp>
          <p:nvSpPr>
            <p:cNvPr id="3" name="TextBox 3"/>
            <p:cNvSpPr txBox="1"/>
            <p:nvPr/>
          </p:nvSpPr>
          <p:spPr>
            <a:xfrm>
              <a:off x="47" y="-95250"/>
              <a:ext cx="13424098"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HEATPUMP COMPARISON</a:t>
              </a:r>
            </a:p>
          </p:txBody>
        </p:sp>
        <p:sp>
          <p:nvSpPr>
            <p:cNvPr id="4" name="AutoShape 4"/>
            <p:cNvSpPr/>
            <p:nvPr/>
          </p:nvSpPr>
          <p:spPr>
            <a:xfrm flipV="1">
              <a:off x="47" y="967740"/>
              <a:ext cx="21640800" cy="31750"/>
            </a:xfrm>
            <a:prstGeom prst="line">
              <a:avLst/>
            </a:prstGeom>
            <a:ln w="63500" cap="flat">
              <a:solidFill>
                <a:srgbClr val="A28231"/>
              </a:solidFill>
              <a:prstDash val="solid"/>
              <a:headEnd type="none" w="sm" len="sm"/>
              <a:tailEnd type="none" w="sm" len="sm"/>
            </a:ln>
          </p:spPr>
          <p:txBody>
            <a:bodyPr/>
            <a:lstStyle/>
            <a:p>
              <a:endParaRPr lang="en-GB"/>
            </a:p>
          </p:txBody>
        </p:sp>
      </p:grpSp>
      <p:sp>
        <p:nvSpPr>
          <p:cNvPr id="5" name="Freeform 5"/>
          <p:cNvSpPr/>
          <p:nvPr/>
        </p:nvSpPr>
        <p:spPr>
          <a:xfrm>
            <a:off x="1028700" y="1530924"/>
            <a:ext cx="9633536" cy="7225152"/>
          </a:xfrm>
          <a:custGeom>
            <a:avLst/>
            <a:gdLst/>
            <a:ahLst/>
            <a:cxnLst/>
            <a:rect l="l" t="t" r="r" b="b"/>
            <a:pathLst>
              <a:path w="9633536" h="7225152">
                <a:moveTo>
                  <a:pt x="0" y="0"/>
                </a:moveTo>
                <a:lnTo>
                  <a:pt x="9633536" y="0"/>
                </a:lnTo>
                <a:lnTo>
                  <a:pt x="9633536" y="7225152"/>
                </a:lnTo>
                <a:lnTo>
                  <a:pt x="0" y="7225152"/>
                </a:lnTo>
                <a:lnTo>
                  <a:pt x="0" y="0"/>
                </a:lnTo>
                <a:close/>
              </a:path>
            </a:pathLst>
          </a:custGeom>
          <a:blipFill>
            <a:blip r:embed="rId2"/>
            <a:stretch>
              <a:fillRect/>
            </a:stretch>
          </a:blipFill>
        </p:spPr>
        <p:txBody>
          <a:bodyPr/>
          <a:lstStyle/>
          <a:p>
            <a:endParaRPr lang="en-GB"/>
          </a:p>
        </p:txBody>
      </p:sp>
      <p:sp>
        <p:nvSpPr>
          <p:cNvPr id="6" name="TextBox 6"/>
          <p:cNvSpPr txBox="1"/>
          <p:nvPr/>
        </p:nvSpPr>
        <p:spPr>
          <a:xfrm>
            <a:off x="11774016" y="1099131"/>
            <a:ext cx="5675784" cy="2420856"/>
          </a:xfrm>
          <a:prstGeom prst="rect">
            <a:avLst/>
          </a:prstGeom>
        </p:spPr>
        <p:txBody>
          <a:bodyPr wrap="square" lIns="0" tIns="0" rIns="0" bIns="0" rtlCol="0" anchor="t">
            <a:spAutoFit/>
          </a:bodyPr>
          <a:lstStyle/>
          <a:p>
            <a:pPr>
              <a:lnSpc>
                <a:spcPts val="4759"/>
              </a:lnSpc>
            </a:pPr>
            <a:r>
              <a:rPr lang="en-US" sz="3399" b="1" u="sng" dirty="0">
                <a:solidFill>
                  <a:srgbClr val="1D1D1F"/>
                </a:solidFill>
                <a:latin typeface="Canva Sans"/>
              </a:rPr>
              <a:t>Air source</a:t>
            </a:r>
          </a:p>
          <a:p>
            <a:pPr marL="734059" lvl="1" indent="-367030">
              <a:lnSpc>
                <a:spcPts val="4759"/>
              </a:lnSpc>
              <a:buFont typeface="Arial"/>
              <a:buChar char="•"/>
            </a:pPr>
            <a:r>
              <a:rPr lang="en-US" sz="3399" dirty="0">
                <a:solidFill>
                  <a:srgbClr val="1D1D1F"/>
                </a:solidFill>
                <a:latin typeface="Canva Sans"/>
              </a:rPr>
              <a:t>COP: 3.66</a:t>
            </a:r>
          </a:p>
          <a:p>
            <a:pPr marL="734059" lvl="1" indent="-367030">
              <a:lnSpc>
                <a:spcPts val="4759"/>
              </a:lnSpc>
              <a:buFont typeface="Arial"/>
              <a:buChar char="•"/>
            </a:pPr>
            <a:r>
              <a:rPr lang="en-US" sz="3399" dirty="0">
                <a:solidFill>
                  <a:srgbClr val="1D1D1F"/>
                </a:solidFill>
                <a:latin typeface="Canva Sans"/>
              </a:rPr>
              <a:t>kwh/annum: 159,000</a:t>
            </a:r>
          </a:p>
          <a:p>
            <a:pPr>
              <a:lnSpc>
                <a:spcPts val="4759"/>
              </a:lnSpc>
            </a:pPr>
            <a:endParaRPr lang="en-US" sz="3399" dirty="0">
              <a:solidFill>
                <a:srgbClr val="1D1D1F"/>
              </a:solidFill>
              <a:latin typeface="Canva Sans"/>
            </a:endParaRPr>
          </a:p>
        </p:txBody>
      </p:sp>
      <p:sp>
        <p:nvSpPr>
          <p:cNvPr id="7" name="TextBox 7"/>
          <p:cNvSpPr txBox="1"/>
          <p:nvPr/>
        </p:nvSpPr>
        <p:spPr>
          <a:xfrm>
            <a:off x="11830346" y="3569592"/>
            <a:ext cx="5428953" cy="2420856"/>
          </a:xfrm>
          <a:prstGeom prst="rect">
            <a:avLst/>
          </a:prstGeom>
        </p:spPr>
        <p:txBody>
          <a:bodyPr wrap="square" lIns="0" tIns="0" rIns="0" bIns="0" rtlCol="0" anchor="t">
            <a:spAutoFit/>
          </a:bodyPr>
          <a:lstStyle/>
          <a:p>
            <a:pPr>
              <a:lnSpc>
                <a:spcPts val="4759"/>
              </a:lnSpc>
            </a:pPr>
            <a:r>
              <a:rPr lang="en-US" sz="3399" b="1" u="sng" dirty="0">
                <a:solidFill>
                  <a:srgbClr val="1D1D1F"/>
                </a:solidFill>
                <a:latin typeface="Canva Sans"/>
              </a:rPr>
              <a:t>Ground source</a:t>
            </a:r>
            <a:endParaRPr lang="en-US" sz="3399" dirty="0">
              <a:solidFill>
                <a:srgbClr val="1D1D1F"/>
              </a:solidFill>
              <a:latin typeface="Canva Sans"/>
            </a:endParaRPr>
          </a:p>
          <a:p>
            <a:pPr marL="734059" lvl="1" indent="-367030">
              <a:lnSpc>
                <a:spcPts val="4759"/>
              </a:lnSpc>
              <a:buFont typeface="Arial"/>
              <a:buChar char="•"/>
            </a:pPr>
            <a:r>
              <a:rPr lang="en-US" sz="3399" dirty="0">
                <a:solidFill>
                  <a:srgbClr val="1D1D1F"/>
                </a:solidFill>
                <a:latin typeface="Canva Sans"/>
              </a:rPr>
              <a:t>COP: 3.7</a:t>
            </a:r>
          </a:p>
          <a:p>
            <a:pPr marL="734059" lvl="1" indent="-367030">
              <a:lnSpc>
                <a:spcPts val="4759"/>
              </a:lnSpc>
              <a:buFont typeface="Arial"/>
              <a:buChar char="•"/>
            </a:pPr>
            <a:r>
              <a:rPr lang="en-US" sz="3399" dirty="0">
                <a:solidFill>
                  <a:srgbClr val="1D1D1F"/>
                </a:solidFill>
                <a:latin typeface="Canva Sans"/>
              </a:rPr>
              <a:t>kwh/annum: 157,500</a:t>
            </a:r>
          </a:p>
          <a:p>
            <a:pPr>
              <a:lnSpc>
                <a:spcPts val="4759"/>
              </a:lnSpc>
            </a:pPr>
            <a:endParaRPr lang="en-US" sz="3399" dirty="0">
              <a:solidFill>
                <a:srgbClr val="1D1D1F"/>
              </a:solidFill>
              <a:latin typeface="Canva Sans"/>
            </a:endParaRPr>
          </a:p>
        </p:txBody>
      </p:sp>
      <p:sp>
        <p:nvSpPr>
          <p:cNvPr id="8" name="TextBox 8"/>
          <p:cNvSpPr txBox="1"/>
          <p:nvPr/>
        </p:nvSpPr>
        <p:spPr>
          <a:xfrm>
            <a:off x="11770965" y="6035932"/>
            <a:ext cx="5488334" cy="2420856"/>
          </a:xfrm>
          <a:prstGeom prst="rect">
            <a:avLst/>
          </a:prstGeom>
        </p:spPr>
        <p:txBody>
          <a:bodyPr wrap="square" lIns="0" tIns="0" rIns="0" bIns="0" rtlCol="0" anchor="t">
            <a:spAutoFit/>
          </a:bodyPr>
          <a:lstStyle/>
          <a:p>
            <a:pPr>
              <a:lnSpc>
                <a:spcPts val="4759"/>
              </a:lnSpc>
            </a:pPr>
            <a:r>
              <a:rPr lang="en-US" sz="3399" b="1" u="sng" dirty="0">
                <a:solidFill>
                  <a:srgbClr val="1D1D1F"/>
                </a:solidFill>
                <a:latin typeface="Canva Sans"/>
              </a:rPr>
              <a:t>Water source</a:t>
            </a:r>
          </a:p>
          <a:p>
            <a:pPr marL="734059" lvl="1" indent="-367030">
              <a:lnSpc>
                <a:spcPts val="4759"/>
              </a:lnSpc>
              <a:buFont typeface="Arial"/>
              <a:buChar char="•"/>
            </a:pPr>
            <a:r>
              <a:rPr lang="en-US" sz="3399" dirty="0">
                <a:solidFill>
                  <a:srgbClr val="1D1D1F"/>
                </a:solidFill>
                <a:latin typeface="Canva Sans"/>
              </a:rPr>
              <a:t>COP: 3.91</a:t>
            </a:r>
          </a:p>
          <a:p>
            <a:pPr marL="734059" lvl="1" indent="-367030">
              <a:lnSpc>
                <a:spcPts val="4759"/>
              </a:lnSpc>
              <a:buFont typeface="Arial"/>
              <a:buChar char="•"/>
            </a:pPr>
            <a:r>
              <a:rPr lang="en-US" sz="3399" dirty="0">
                <a:solidFill>
                  <a:srgbClr val="1D1D1F"/>
                </a:solidFill>
                <a:latin typeface="Canva Sans"/>
              </a:rPr>
              <a:t>kwh/annum: 149,000</a:t>
            </a:r>
          </a:p>
          <a:p>
            <a:pPr>
              <a:lnSpc>
                <a:spcPts val="4759"/>
              </a:lnSpc>
            </a:pPr>
            <a:endParaRPr lang="en-US" sz="3399" dirty="0">
              <a:solidFill>
                <a:srgbClr val="1D1D1F"/>
              </a:solidFill>
              <a:latin typeface="Canva Sans"/>
            </a:endParaRPr>
          </a:p>
        </p:txBody>
      </p:sp>
      <p:pic>
        <p:nvPicPr>
          <p:cNvPr id="9" name="Picture 8" descr="A diagram of a diagram&#10;&#10;Description automatically generated">
            <a:extLst>
              <a:ext uri="{FF2B5EF4-FFF2-40B4-BE49-F238E27FC236}">
                <a16:creationId xmlns:a16="http://schemas.microsoft.com/office/drawing/2014/main" id="{8200212D-D1C2-FA85-0C37-8968CDD494AE}"/>
              </a:ext>
            </a:extLst>
          </p:cNvPr>
          <p:cNvPicPr>
            <a:picLocks noChangeAspect="1"/>
          </p:cNvPicPr>
          <p:nvPr/>
        </p:nvPicPr>
        <p:blipFill>
          <a:blip r:embed="rId3"/>
          <a:stretch>
            <a:fillRect/>
          </a:stretch>
        </p:blipFill>
        <p:spPr>
          <a:xfrm>
            <a:off x="12609596" y="7898731"/>
            <a:ext cx="3791953" cy="21897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68891"/>
        </a:solidFill>
        <a:effectLst/>
      </p:bgPr>
    </p:bg>
    <p:spTree>
      <p:nvGrpSpPr>
        <p:cNvPr id="1" name=""/>
        <p:cNvGrpSpPr/>
        <p:nvPr/>
      </p:nvGrpSpPr>
      <p:grpSpPr>
        <a:xfrm>
          <a:off x="0" y="0"/>
          <a:ext cx="0" cy="0"/>
          <a:chOff x="0" y="0"/>
          <a:chExt cx="0" cy="0"/>
        </a:xfrm>
      </p:grpSpPr>
      <p:grpSp>
        <p:nvGrpSpPr>
          <p:cNvPr id="2" name="Group 2"/>
          <p:cNvGrpSpPr/>
          <p:nvPr/>
        </p:nvGrpSpPr>
        <p:grpSpPr>
          <a:xfrm>
            <a:off x="1028665" y="302895"/>
            <a:ext cx="16230670" cy="773430"/>
            <a:chOff x="0" y="0"/>
            <a:chExt cx="21640893" cy="1031240"/>
          </a:xfrm>
        </p:grpSpPr>
        <p:sp>
          <p:nvSpPr>
            <p:cNvPr id="3" name="TextBox 3"/>
            <p:cNvSpPr txBox="1"/>
            <p:nvPr/>
          </p:nvSpPr>
          <p:spPr>
            <a:xfrm>
              <a:off x="47" y="-95250"/>
              <a:ext cx="13424098"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POWER SUPPLY</a:t>
              </a:r>
            </a:p>
          </p:txBody>
        </p:sp>
        <p:sp>
          <p:nvSpPr>
            <p:cNvPr id="4" name="AutoShape 4"/>
            <p:cNvSpPr/>
            <p:nvPr/>
          </p:nvSpPr>
          <p:spPr>
            <a:xfrm flipV="1">
              <a:off x="47" y="967740"/>
              <a:ext cx="21640800" cy="31750"/>
            </a:xfrm>
            <a:prstGeom prst="line">
              <a:avLst/>
            </a:prstGeom>
            <a:ln w="63500" cap="flat">
              <a:solidFill>
                <a:srgbClr val="A28231"/>
              </a:solidFill>
              <a:prstDash val="solid"/>
              <a:headEnd type="none" w="sm" len="sm"/>
              <a:tailEnd type="none" w="sm" len="sm"/>
            </a:ln>
          </p:spPr>
          <p:txBody>
            <a:bodyPr/>
            <a:lstStyle/>
            <a:p>
              <a:endParaRPr lang="en-GB"/>
            </a:p>
          </p:txBody>
        </p:sp>
      </p:grpSp>
      <p:sp>
        <p:nvSpPr>
          <p:cNvPr id="5" name="Freeform 5"/>
          <p:cNvSpPr/>
          <p:nvPr/>
        </p:nvSpPr>
        <p:spPr>
          <a:xfrm>
            <a:off x="1879218" y="3416109"/>
            <a:ext cx="2762060" cy="4114800"/>
          </a:xfrm>
          <a:custGeom>
            <a:avLst/>
            <a:gdLst/>
            <a:ahLst/>
            <a:cxnLst/>
            <a:rect l="l" t="t" r="r" b="b"/>
            <a:pathLst>
              <a:path w="2762060" h="4114800">
                <a:moveTo>
                  <a:pt x="0" y="0"/>
                </a:moveTo>
                <a:lnTo>
                  <a:pt x="2762060" y="0"/>
                </a:lnTo>
                <a:lnTo>
                  <a:pt x="276206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flipH="1">
            <a:off x="5508923" y="5677977"/>
            <a:ext cx="2114616" cy="1852932"/>
          </a:xfrm>
          <a:custGeom>
            <a:avLst/>
            <a:gdLst/>
            <a:ahLst/>
            <a:cxnLst/>
            <a:rect l="l" t="t" r="r" b="b"/>
            <a:pathLst>
              <a:path w="2114616" h="1852932">
                <a:moveTo>
                  <a:pt x="2114616" y="0"/>
                </a:moveTo>
                <a:lnTo>
                  <a:pt x="0" y="0"/>
                </a:lnTo>
                <a:lnTo>
                  <a:pt x="0" y="1852932"/>
                </a:lnTo>
                <a:lnTo>
                  <a:pt x="2114616" y="1852932"/>
                </a:lnTo>
                <a:lnTo>
                  <a:pt x="2114616"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grpSp>
        <p:nvGrpSpPr>
          <p:cNvPr id="7" name="Group 7"/>
          <p:cNvGrpSpPr/>
          <p:nvPr/>
        </p:nvGrpSpPr>
        <p:grpSpPr>
          <a:xfrm>
            <a:off x="8773851" y="6181018"/>
            <a:ext cx="2110757" cy="1531950"/>
            <a:chOff x="0" y="0"/>
            <a:chExt cx="2814343" cy="2042599"/>
          </a:xfrm>
        </p:grpSpPr>
        <p:sp>
          <p:nvSpPr>
            <p:cNvPr id="8" name="Freeform 8"/>
            <p:cNvSpPr/>
            <p:nvPr/>
          </p:nvSpPr>
          <p:spPr>
            <a:xfrm rot="-5400000">
              <a:off x="2349055" y="1437744"/>
              <a:ext cx="605579" cy="274782"/>
            </a:xfrm>
            <a:custGeom>
              <a:avLst/>
              <a:gdLst/>
              <a:ahLst/>
              <a:cxnLst/>
              <a:rect l="l" t="t" r="r" b="b"/>
              <a:pathLst>
                <a:path w="605579" h="274782">
                  <a:moveTo>
                    <a:pt x="0" y="0"/>
                  </a:moveTo>
                  <a:lnTo>
                    <a:pt x="605579" y="0"/>
                  </a:lnTo>
                  <a:lnTo>
                    <a:pt x="605579" y="274782"/>
                  </a:lnTo>
                  <a:lnTo>
                    <a:pt x="0" y="2747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9" name="Freeform 9"/>
            <p:cNvSpPr/>
            <p:nvPr/>
          </p:nvSpPr>
          <p:spPr>
            <a:xfrm rot="-5400000">
              <a:off x="1587210" y="1713249"/>
              <a:ext cx="329350" cy="329350"/>
            </a:xfrm>
            <a:custGeom>
              <a:avLst/>
              <a:gdLst/>
              <a:ahLst/>
              <a:cxnLst/>
              <a:rect l="l" t="t" r="r" b="b"/>
              <a:pathLst>
                <a:path w="329350" h="329350">
                  <a:moveTo>
                    <a:pt x="0" y="0"/>
                  </a:moveTo>
                  <a:lnTo>
                    <a:pt x="329350" y="0"/>
                  </a:lnTo>
                  <a:lnTo>
                    <a:pt x="329350" y="329350"/>
                  </a:lnTo>
                  <a:lnTo>
                    <a:pt x="0" y="3293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0" name="Freeform 10"/>
            <p:cNvSpPr/>
            <p:nvPr/>
          </p:nvSpPr>
          <p:spPr>
            <a:xfrm rot="5400000">
              <a:off x="1274051" y="1713249"/>
              <a:ext cx="329350" cy="329350"/>
            </a:xfrm>
            <a:custGeom>
              <a:avLst/>
              <a:gdLst/>
              <a:ahLst/>
              <a:cxnLst/>
              <a:rect l="l" t="t" r="r" b="b"/>
              <a:pathLst>
                <a:path w="329350" h="329350">
                  <a:moveTo>
                    <a:pt x="0" y="0"/>
                  </a:moveTo>
                  <a:lnTo>
                    <a:pt x="329350" y="0"/>
                  </a:lnTo>
                  <a:lnTo>
                    <a:pt x="329350" y="329350"/>
                  </a:lnTo>
                  <a:lnTo>
                    <a:pt x="0" y="32935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1" name="Freeform 11"/>
            <p:cNvSpPr/>
            <p:nvPr/>
          </p:nvSpPr>
          <p:spPr>
            <a:xfrm rot="5400000">
              <a:off x="1390695" y="-53573"/>
              <a:ext cx="409221" cy="516367"/>
            </a:xfrm>
            <a:custGeom>
              <a:avLst/>
              <a:gdLst/>
              <a:ahLst/>
              <a:cxnLst/>
              <a:rect l="l" t="t" r="r" b="b"/>
              <a:pathLst>
                <a:path w="409221" h="516367">
                  <a:moveTo>
                    <a:pt x="0" y="0"/>
                  </a:moveTo>
                  <a:lnTo>
                    <a:pt x="409221" y="0"/>
                  </a:lnTo>
                  <a:lnTo>
                    <a:pt x="409221" y="516367"/>
                  </a:lnTo>
                  <a:lnTo>
                    <a:pt x="0" y="51636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12" name="Freeform 12"/>
            <p:cNvSpPr/>
            <p:nvPr/>
          </p:nvSpPr>
          <p:spPr>
            <a:xfrm rot="-5400000">
              <a:off x="2379443" y="353284"/>
              <a:ext cx="598315" cy="271485"/>
            </a:xfrm>
            <a:custGeom>
              <a:avLst/>
              <a:gdLst/>
              <a:ahLst/>
              <a:cxnLst/>
              <a:rect l="l" t="t" r="r" b="b"/>
              <a:pathLst>
                <a:path w="598315" h="271485">
                  <a:moveTo>
                    <a:pt x="0" y="0"/>
                  </a:moveTo>
                  <a:lnTo>
                    <a:pt x="598314" y="0"/>
                  </a:lnTo>
                  <a:lnTo>
                    <a:pt x="598314" y="271485"/>
                  </a:lnTo>
                  <a:lnTo>
                    <a:pt x="0" y="27148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3" name="Freeform 13"/>
            <p:cNvSpPr/>
            <p:nvPr/>
          </p:nvSpPr>
          <p:spPr>
            <a:xfrm>
              <a:off x="1308328" y="903245"/>
              <a:ext cx="573955" cy="420422"/>
            </a:xfrm>
            <a:custGeom>
              <a:avLst/>
              <a:gdLst/>
              <a:ahLst/>
              <a:cxnLst/>
              <a:rect l="l" t="t" r="r" b="b"/>
              <a:pathLst>
                <a:path w="573955" h="420422">
                  <a:moveTo>
                    <a:pt x="0" y="0"/>
                  </a:moveTo>
                  <a:lnTo>
                    <a:pt x="573955" y="0"/>
                  </a:lnTo>
                  <a:lnTo>
                    <a:pt x="573955" y="420422"/>
                  </a:lnTo>
                  <a:lnTo>
                    <a:pt x="0" y="42042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14" name="Freeform 14"/>
            <p:cNvSpPr/>
            <p:nvPr/>
          </p:nvSpPr>
          <p:spPr>
            <a:xfrm>
              <a:off x="337921" y="1640136"/>
              <a:ext cx="373085" cy="329247"/>
            </a:xfrm>
            <a:custGeom>
              <a:avLst/>
              <a:gdLst/>
              <a:ahLst/>
              <a:cxnLst/>
              <a:rect l="l" t="t" r="r" b="b"/>
              <a:pathLst>
                <a:path w="373085" h="329247">
                  <a:moveTo>
                    <a:pt x="0" y="0"/>
                  </a:moveTo>
                  <a:lnTo>
                    <a:pt x="373085" y="0"/>
                  </a:lnTo>
                  <a:lnTo>
                    <a:pt x="373085" y="329247"/>
                  </a:lnTo>
                  <a:lnTo>
                    <a:pt x="0" y="32924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15" name="Freeform 15"/>
            <p:cNvSpPr/>
            <p:nvPr/>
          </p:nvSpPr>
          <p:spPr>
            <a:xfrm>
              <a:off x="337921" y="903245"/>
              <a:ext cx="373085" cy="329247"/>
            </a:xfrm>
            <a:custGeom>
              <a:avLst/>
              <a:gdLst/>
              <a:ahLst/>
              <a:cxnLst/>
              <a:rect l="l" t="t" r="r" b="b"/>
              <a:pathLst>
                <a:path w="373085" h="329247">
                  <a:moveTo>
                    <a:pt x="0" y="0"/>
                  </a:moveTo>
                  <a:lnTo>
                    <a:pt x="373085" y="0"/>
                  </a:lnTo>
                  <a:lnTo>
                    <a:pt x="373085" y="329247"/>
                  </a:lnTo>
                  <a:lnTo>
                    <a:pt x="0" y="32924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pic>
          <p:nvPicPr>
            <p:cNvPr id="16" name="Picture 16"/>
            <p:cNvPicPr>
              <a:picLocks noChangeAspect="1"/>
            </p:cNvPicPr>
            <p:nvPr/>
          </p:nvPicPr>
          <p:blipFill>
            <a:blip r:embed="rId17"/>
            <a:srcRect/>
            <a:stretch>
              <a:fillRect/>
            </a:stretch>
          </p:blipFill>
          <p:spPr>
            <a:xfrm rot="-5400000">
              <a:off x="1958358" y="1833651"/>
              <a:ext cx="128211" cy="143253"/>
            </a:xfrm>
            <a:prstGeom prst="rect">
              <a:avLst/>
            </a:prstGeom>
          </p:spPr>
        </p:pic>
        <p:pic>
          <p:nvPicPr>
            <p:cNvPr id="17" name="Picture 17"/>
            <p:cNvPicPr>
              <a:picLocks noChangeAspect="1"/>
            </p:cNvPicPr>
            <p:nvPr/>
          </p:nvPicPr>
          <p:blipFill>
            <a:blip r:embed="rId17"/>
            <a:srcRect/>
            <a:stretch>
              <a:fillRect/>
            </a:stretch>
          </p:blipFill>
          <p:spPr>
            <a:xfrm rot="-5400000">
              <a:off x="2085150" y="1833690"/>
              <a:ext cx="127558" cy="142523"/>
            </a:xfrm>
            <a:prstGeom prst="rect">
              <a:avLst/>
            </a:prstGeom>
          </p:spPr>
        </p:pic>
        <p:pic>
          <p:nvPicPr>
            <p:cNvPr id="18" name="Picture 18"/>
            <p:cNvPicPr>
              <a:picLocks noChangeAspect="1"/>
            </p:cNvPicPr>
            <p:nvPr/>
          </p:nvPicPr>
          <p:blipFill>
            <a:blip r:embed="rId17"/>
            <a:srcRect/>
            <a:stretch>
              <a:fillRect/>
            </a:stretch>
          </p:blipFill>
          <p:spPr>
            <a:xfrm rot="-5400000">
              <a:off x="2216133" y="1833651"/>
              <a:ext cx="128211" cy="143253"/>
            </a:xfrm>
            <a:prstGeom prst="rect">
              <a:avLst/>
            </a:prstGeom>
          </p:spPr>
        </p:pic>
        <p:pic>
          <p:nvPicPr>
            <p:cNvPr id="19" name="Picture 19"/>
            <p:cNvPicPr>
              <a:picLocks noChangeAspect="1"/>
            </p:cNvPicPr>
            <p:nvPr/>
          </p:nvPicPr>
          <p:blipFill>
            <a:blip r:embed="rId17"/>
            <a:srcRect/>
            <a:stretch>
              <a:fillRect/>
            </a:stretch>
          </p:blipFill>
          <p:spPr>
            <a:xfrm rot="-5400000">
              <a:off x="2359385" y="1832998"/>
              <a:ext cx="128211" cy="143253"/>
            </a:xfrm>
            <a:prstGeom prst="rect">
              <a:avLst/>
            </a:prstGeom>
          </p:spPr>
        </p:pic>
        <p:pic>
          <p:nvPicPr>
            <p:cNvPr id="20" name="Picture 20"/>
            <p:cNvPicPr>
              <a:picLocks noChangeAspect="1"/>
            </p:cNvPicPr>
            <p:nvPr/>
          </p:nvPicPr>
          <p:blipFill>
            <a:blip r:embed="rId17"/>
            <a:srcRect/>
            <a:stretch>
              <a:fillRect/>
            </a:stretch>
          </p:blipFill>
          <p:spPr>
            <a:xfrm rot="-5400000">
              <a:off x="2490948" y="1832998"/>
              <a:ext cx="128211" cy="143253"/>
            </a:xfrm>
            <a:prstGeom prst="rect">
              <a:avLst/>
            </a:prstGeom>
          </p:spPr>
        </p:pic>
        <p:pic>
          <p:nvPicPr>
            <p:cNvPr id="21" name="Picture 21"/>
            <p:cNvPicPr>
              <a:picLocks noChangeAspect="1"/>
            </p:cNvPicPr>
            <p:nvPr/>
          </p:nvPicPr>
          <p:blipFill>
            <a:blip r:embed="rId17"/>
            <a:srcRect/>
            <a:stretch>
              <a:fillRect/>
            </a:stretch>
          </p:blipFill>
          <p:spPr>
            <a:xfrm rot="-10800000">
              <a:off x="2587739" y="1713249"/>
              <a:ext cx="128211" cy="143253"/>
            </a:xfrm>
            <a:prstGeom prst="rect">
              <a:avLst/>
            </a:prstGeom>
          </p:spPr>
        </p:pic>
        <p:pic>
          <p:nvPicPr>
            <p:cNvPr id="22" name="Picture 22"/>
            <p:cNvPicPr>
              <a:picLocks noChangeAspect="1"/>
            </p:cNvPicPr>
            <p:nvPr/>
          </p:nvPicPr>
          <p:blipFill>
            <a:blip r:embed="rId17"/>
            <a:srcRect/>
            <a:stretch>
              <a:fillRect/>
            </a:stretch>
          </p:blipFill>
          <p:spPr>
            <a:xfrm rot="-10800000">
              <a:off x="2587739" y="1826131"/>
              <a:ext cx="128211" cy="143253"/>
            </a:xfrm>
            <a:prstGeom prst="rect">
              <a:avLst/>
            </a:prstGeom>
          </p:spPr>
        </p:pic>
        <p:pic>
          <p:nvPicPr>
            <p:cNvPr id="23" name="Picture 23"/>
            <p:cNvPicPr>
              <a:picLocks noChangeAspect="1"/>
            </p:cNvPicPr>
            <p:nvPr/>
          </p:nvPicPr>
          <p:blipFill>
            <a:blip r:embed="rId17"/>
            <a:srcRect/>
            <a:stretch>
              <a:fillRect/>
            </a:stretch>
          </p:blipFill>
          <p:spPr>
            <a:xfrm rot="-10800000">
              <a:off x="2587739" y="1186553"/>
              <a:ext cx="128211" cy="143253"/>
            </a:xfrm>
            <a:prstGeom prst="rect">
              <a:avLst/>
            </a:prstGeom>
          </p:spPr>
        </p:pic>
        <p:pic>
          <p:nvPicPr>
            <p:cNvPr id="24" name="Picture 24"/>
            <p:cNvPicPr>
              <a:picLocks noChangeAspect="1"/>
            </p:cNvPicPr>
            <p:nvPr/>
          </p:nvPicPr>
          <p:blipFill>
            <a:blip r:embed="rId17"/>
            <a:srcRect/>
            <a:stretch>
              <a:fillRect/>
            </a:stretch>
          </p:blipFill>
          <p:spPr>
            <a:xfrm rot="-10800000">
              <a:off x="2587739" y="1299434"/>
              <a:ext cx="128211" cy="143253"/>
            </a:xfrm>
            <a:prstGeom prst="rect">
              <a:avLst/>
            </a:prstGeom>
          </p:spPr>
        </p:pic>
        <p:pic>
          <p:nvPicPr>
            <p:cNvPr id="25" name="Picture 25"/>
            <p:cNvPicPr>
              <a:picLocks noChangeAspect="1"/>
            </p:cNvPicPr>
            <p:nvPr/>
          </p:nvPicPr>
          <p:blipFill>
            <a:blip r:embed="rId17"/>
            <a:srcRect/>
            <a:stretch>
              <a:fillRect/>
            </a:stretch>
          </p:blipFill>
          <p:spPr>
            <a:xfrm rot="5400000">
              <a:off x="2456671" y="1060348"/>
              <a:ext cx="128211" cy="143253"/>
            </a:xfrm>
            <a:prstGeom prst="rect">
              <a:avLst/>
            </a:prstGeom>
          </p:spPr>
        </p:pic>
        <p:pic>
          <p:nvPicPr>
            <p:cNvPr id="26" name="Picture 26"/>
            <p:cNvPicPr>
              <a:picLocks noChangeAspect="1"/>
            </p:cNvPicPr>
            <p:nvPr/>
          </p:nvPicPr>
          <p:blipFill>
            <a:blip r:embed="rId17"/>
            <a:srcRect/>
            <a:stretch>
              <a:fillRect/>
            </a:stretch>
          </p:blipFill>
          <p:spPr>
            <a:xfrm rot="5400000">
              <a:off x="2330532" y="1061039"/>
              <a:ext cx="127558" cy="142523"/>
            </a:xfrm>
            <a:prstGeom prst="rect">
              <a:avLst/>
            </a:prstGeom>
          </p:spPr>
        </p:pic>
        <p:pic>
          <p:nvPicPr>
            <p:cNvPr id="27" name="Picture 27"/>
            <p:cNvPicPr>
              <a:picLocks noChangeAspect="1"/>
            </p:cNvPicPr>
            <p:nvPr/>
          </p:nvPicPr>
          <p:blipFill>
            <a:blip r:embed="rId17"/>
            <a:srcRect/>
            <a:stretch>
              <a:fillRect/>
            </a:stretch>
          </p:blipFill>
          <p:spPr>
            <a:xfrm rot="5400000">
              <a:off x="2198897" y="1060348"/>
              <a:ext cx="128211" cy="143253"/>
            </a:xfrm>
            <a:prstGeom prst="rect">
              <a:avLst/>
            </a:prstGeom>
          </p:spPr>
        </p:pic>
        <p:pic>
          <p:nvPicPr>
            <p:cNvPr id="28" name="Picture 28"/>
            <p:cNvPicPr>
              <a:picLocks noChangeAspect="1"/>
            </p:cNvPicPr>
            <p:nvPr/>
          </p:nvPicPr>
          <p:blipFill>
            <a:blip r:embed="rId17"/>
            <a:srcRect/>
            <a:stretch>
              <a:fillRect/>
            </a:stretch>
          </p:blipFill>
          <p:spPr>
            <a:xfrm rot="5400000">
              <a:off x="2055644" y="1061001"/>
              <a:ext cx="128211" cy="143253"/>
            </a:xfrm>
            <a:prstGeom prst="rect">
              <a:avLst/>
            </a:prstGeom>
          </p:spPr>
        </p:pic>
        <p:pic>
          <p:nvPicPr>
            <p:cNvPr id="29" name="Picture 29"/>
            <p:cNvPicPr>
              <a:picLocks noChangeAspect="1"/>
            </p:cNvPicPr>
            <p:nvPr/>
          </p:nvPicPr>
          <p:blipFill>
            <a:blip r:embed="rId17"/>
            <a:srcRect/>
            <a:stretch>
              <a:fillRect/>
            </a:stretch>
          </p:blipFill>
          <p:spPr>
            <a:xfrm rot="5400000">
              <a:off x="1924081" y="1061001"/>
              <a:ext cx="128211" cy="143253"/>
            </a:xfrm>
            <a:prstGeom prst="rect">
              <a:avLst/>
            </a:prstGeom>
          </p:spPr>
        </p:pic>
        <p:pic>
          <p:nvPicPr>
            <p:cNvPr id="30" name="Picture 30"/>
            <p:cNvPicPr>
              <a:picLocks noChangeAspect="1"/>
            </p:cNvPicPr>
            <p:nvPr/>
          </p:nvPicPr>
          <p:blipFill>
            <a:blip r:embed="rId17"/>
            <a:srcRect/>
            <a:stretch>
              <a:fillRect/>
            </a:stretch>
          </p:blipFill>
          <p:spPr>
            <a:xfrm rot="-10800000">
              <a:off x="2587739" y="1067868"/>
              <a:ext cx="128211" cy="143253"/>
            </a:xfrm>
            <a:prstGeom prst="rect">
              <a:avLst/>
            </a:prstGeom>
          </p:spPr>
        </p:pic>
        <p:pic>
          <p:nvPicPr>
            <p:cNvPr id="31" name="Picture 31"/>
            <p:cNvPicPr>
              <a:picLocks noChangeAspect="1"/>
            </p:cNvPicPr>
            <p:nvPr/>
          </p:nvPicPr>
          <p:blipFill>
            <a:blip r:embed="rId17"/>
            <a:srcRect/>
            <a:stretch>
              <a:fillRect/>
            </a:stretch>
          </p:blipFill>
          <p:spPr>
            <a:xfrm rot="-10800000">
              <a:off x="1531200" y="788184"/>
              <a:ext cx="128211" cy="143253"/>
            </a:xfrm>
            <a:prstGeom prst="rect">
              <a:avLst/>
            </a:prstGeom>
          </p:spPr>
        </p:pic>
        <p:pic>
          <p:nvPicPr>
            <p:cNvPr id="32" name="Picture 32"/>
            <p:cNvPicPr>
              <a:picLocks noChangeAspect="1"/>
            </p:cNvPicPr>
            <p:nvPr/>
          </p:nvPicPr>
          <p:blipFill>
            <a:blip r:embed="rId17"/>
            <a:srcRect/>
            <a:stretch>
              <a:fillRect/>
            </a:stretch>
          </p:blipFill>
          <p:spPr>
            <a:xfrm rot="-5400000">
              <a:off x="1666932" y="703058"/>
              <a:ext cx="128211" cy="143253"/>
            </a:xfrm>
            <a:prstGeom prst="rect">
              <a:avLst/>
            </a:prstGeom>
          </p:spPr>
        </p:pic>
        <p:pic>
          <p:nvPicPr>
            <p:cNvPr id="33" name="Picture 33"/>
            <p:cNvPicPr>
              <a:picLocks noChangeAspect="1"/>
            </p:cNvPicPr>
            <p:nvPr/>
          </p:nvPicPr>
          <p:blipFill>
            <a:blip r:embed="rId17"/>
            <a:srcRect/>
            <a:stretch>
              <a:fillRect/>
            </a:stretch>
          </p:blipFill>
          <p:spPr>
            <a:xfrm rot="-5400000">
              <a:off x="1793724" y="703096"/>
              <a:ext cx="127558" cy="142523"/>
            </a:xfrm>
            <a:prstGeom prst="rect">
              <a:avLst/>
            </a:prstGeom>
          </p:spPr>
        </p:pic>
        <p:pic>
          <p:nvPicPr>
            <p:cNvPr id="34" name="Picture 34"/>
            <p:cNvPicPr>
              <a:picLocks noChangeAspect="1"/>
            </p:cNvPicPr>
            <p:nvPr/>
          </p:nvPicPr>
          <p:blipFill>
            <a:blip r:embed="rId17"/>
            <a:srcRect/>
            <a:stretch>
              <a:fillRect/>
            </a:stretch>
          </p:blipFill>
          <p:spPr>
            <a:xfrm rot="-5400000">
              <a:off x="1924706" y="703058"/>
              <a:ext cx="128211" cy="143253"/>
            </a:xfrm>
            <a:prstGeom prst="rect">
              <a:avLst/>
            </a:prstGeom>
          </p:spPr>
        </p:pic>
        <p:pic>
          <p:nvPicPr>
            <p:cNvPr id="35" name="Picture 35"/>
            <p:cNvPicPr>
              <a:picLocks noChangeAspect="1"/>
            </p:cNvPicPr>
            <p:nvPr/>
          </p:nvPicPr>
          <p:blipFill>
            <a:blip r:embed="rId17"/>
            <a:srcRect/>
            <a:stretch>
              <a:fillRect/>
            </a:stretch>
          </p:blipFill>
          <p:spPr>
            <a:xfrm rot="-5400000">
              <a:off x="2067959" y="702405"/>
              <a:ext cx="128211" cy="143253"/>
            </a:xfrm>
            <a:prstGeom prst="rect">
              <a:avLst/>
            </a:prstGeom>
          </p:spPr>
        </p:pic>
        <p:pic>
          <p:nvPicPr>
            <p:cNvPr id="36" name="Picture 36"/>
            <p:cNvPicPr>
              <a:picLocks noChangeAspect="1"/>
            </p:cNvPicPr>
            <p:nvPr/>
          </p:nvPicPr>
          <p:blipFill>
            <a:blip r:embed="rId17"/>
            <a:srcRect/>
            <a:stretch>
              <a:fillRect/>
            </a:stretch>
          </p:blipFill>
          <p:spPr>
            <a:xfrm rot="-5400000">
              <a:off x="2199522" y="702405"/>
              <a:ext cx="128211" cy="143253"/>
            </a:xfrm>
            <a:prstGeom prst="rect">
              <a:avLst/>
            </a:prstGeom>
          </p:spPr>
        </p:pic>
        <p:pic>
          <p:nvPicPr>
            <p:cNvPr id="37" name="Picture 37"/>
            <p:cNvPicPr>
              <a:picLocks noChangeAspect="1"/>
            </p:cNvPicPr>
            <p:nvPr/>
          </p:nvPicPr>
          <p:blipFill>
            <a:blip r:embed="rId17"/>
            <a:srcRect/>
            <a:stretch>
              <a:fillRect/>
            </a:stretch>
          </p:blipFill>
          <p:spPr>
            <a:xfrm rot="-10800000">
              <a:off x="1531200" y="695537"/>
              <a:ext cx="128211" cy="143253"/>
            </a:xfrm>
            <a:prstGeom prst="rect">
              <a:avLst/>
            </a:prstGeom>
          </p:spPr>
        </p:pic>
        <p:pic>
          <p:nvPicPr>
            <p:cNvPr id="38" name="Picture 38"/>
            <p:cNvPicPr>
              <a:picLocks noChangeAspect="1"/>
            </p:cNvPicPr>
            <p:nvPr/>
          </p:nvPicPr>
          <p:blipFill>
            <a:blip r:embed="rId17"/>
            <a:srcRect/>
            <a:stretch>
              <a:fillRect/>
            </a:stretch>
          </p:blipFill>
          <p:spPr>
            <a:xfrm rot="-5400000">
              <a:off x="2321444" y="703058"/>
              <a:ext cx="128211" cy="143253"/>
            </a:xfrm>
            <a:prstGeom prst="rect">
              <a:avLst/>
            </a:prstGeom>
          </p:spPr>
        </p:pic>
        <p:pic>
          <p:nvPicPr>
            <p:cNvPr id="39" name="Picture 39"/>
            <p:cNvPicPr>
              <a:picLocks noChangeAspect="1"/>
            </p:cNvPicPr>
            <p:nvPr/>
          </p:nvPicPr>
          <p:blipFill>
            <a:blip r:embed="rId17"/>
            <a:srcRect/>
            <a:stretch>
              <a:fillRect/>
            </a:stretch>
          </p:blipFill>
          <p:spPr>
            <a:xfrm rot="-5400000">
              <a:off x="2448236" y="703096"/>
              <a:ext cx="127558" cy="142523"/>
            </a:xfrm>
            <a:prstGeom prst="rect">
              <a:avLst/>
            </a:prstGeom>
          </p:spPr>
        </p:pic>
        <p:pic>
          <p:nvPicPr>
            <p:cNvPr id="40" name="Picture 40"/>
            <p:cNvPicPr>
              <a:picLocks noChangeAspect="1"/>
            </p:cNvPicPr>
            <p:nvPr/>
          </p:nvPicPr>
          <p:blipFill>
            <a:blip r:embed="rId17"/>
            <a:srcRect/>
            <a:stretch>
              <a:fillRect/>
            </a:stretch>
          </p:blipFill>
          <p:spPr>
            <a:xfrm rot="-5400000">
              <a:off x="2579218" y="703058"/>
              <a:ext cx="128211" cy="143253"/>
            </a:xfrm>
            <a:prstGeom prst="rect">
              <a:avLst/>
            </a:prstGeom>
          </p:spPr>
        </p:pic>
        <p:pic>
          <p:nvPicPr>
            <p:cNvPr id="41" name="Picture 41"/>
            <p:cNvPicPr>
              <a:picLocks noChangeAspect="1"/>
            </p:cNvPicPr>
            <p:nvPr/>
          </p:nvPicPr>
          <p:blipFill>
            <a:blip r:embed="rId17"/>
            <a:srcRect/>
            <a:stretch>
              <a:fillRect/>
            </a:stretch>
          </p:blipFill>
          <p:spPr>
            <a:xfrm rot="-10800000">
              <a:off x="2614494" y="592456"/>
              <a:ext cx="128211" cy="143253"/>
            </a:xfrm>
            <a:prstGeom prst="rect">
              <a:avLst/>
            </a:prstGeom>
          </p:spPr>
        </p:pic>
        <p:pic>
          <p:nvPicPr>
            <p:cNvPr id="42" name="Picture 42"/>
            <p:cNvPicPr>
              <a:picLocks noChangeAspect="1"/>
            </p:cNvPicPr>
            <p:nvPr/>
          </p:nvPicPr>
          <p:blipFill>
            <a:blip r:embed="rId17"/>
            <a:srcRect/>
            <a:stretch>
              <a:fillRect/>
            </a:stretch>
          </p:blipFill>
          <p:spPr>
            <a:xfrm rot="-10800000">
              <a:off x="2614494" y="204611"/>
              <a:ext cx="128211" cy="143253"/>
            </a:xfrm>
            <a:prstGeom prst="rect">
              <a:avLst/>
            </a:prstGeom>
          </p:spPr>
        </p:pic>
        <p:pic>
          <p:nvPicPr>
            <p:cNvPr id="43" name="Picture 43"/>
            <p:cNvPicPr>
              <a:picLocks noChangeAspect="1"/>
            </p:cNvPicPr>
            <p:nvPr/>
          </p:nvPicPr>
          <p:blipFill>
            <a:blip r:embed="rId17"/>
            <a:srcRect/>
            <a:stretch>
              <a:fillRect/>
            </a:stretch>
          </p:blipFill>
          <p:spPr>
            <a:xfrm rot="5400000">
              <a:off x="2478762" y="132658"/>
              <a:ext cx="128211" cy="143253"/>
            </a:xfrm>
            <a:prstGeom prst="rect">
              <a:avLst/>
            </a:prstGeom>
          </p:spPr>
        </p:pic>
        <p:pic>
          <p:nvPicPr>
            <p:cNvPr id="44" name="Picture 44"/>
            <p:cNvPicPr>
              <a:picLocks noChangeAspect="1"/>
            </p:cNvPicPr>
            <p:nvPr/>
          </p:nvPicPr>
          <p:blipFill>
            <a:blip r:embed="rId17"/>
            <a:srcRect/>
            <a:stretch>
              <a:fillRect/>
            </a:stretch>
          </p:blipFill>
          <p:spPr>
            <a:xfrm rot="5400000">
              <a:off x="2352623" y="133349"/>
              <a:ext cx="127558" cy="142523"/>
            </a:xfrm>
            <a:prstGeom prst="rect">
              <a:avLst/>
            </a:prstGeom>
          </p:spPr>
        </p:pic>
        <p:pic>
          <p:nvPicPr>
            <p:cNvPr id="45" name="Picture 45"/>
            <p:cNvPicPr>
              <a:picLocks noChangeAspect="1"/>
            </p:cNvPicPr>
            <p:nvPr/>
          </p:nvPicPr>
          <p:blipFill>
            <a:blip r:embed="rId17"/>
            <a:srcRect/>
            <a:stretch>
              <a:fillRect/>
            </a:stretch>
          </p:blipFill>
          <p:spPr>
            <a:xfrm rot="5400000">
              <a:off x="2220988" y="132658"/>
              <a:ext cx="128211" cy="143253"/>
            </a:xfrm>
            <a:prstGeom prst="rect">
              <a:avLst/>
            </a:prstGeom>
          </p:spPr>
        </p:pic>
        <p:pic>
          <p:nvPicPr>
            <p:cNvPr id="46" name="Picture 46"/>
            <p:cNvPicPr>
              <a:picLocks noChangeAspect="1"/>
            </p:cNvPicPr>
            <p:nvPr/>
          </p:nvPicPr>
          <p:blipFill>
            <a:blip r:embed="rId17"/>
            <a:srcRect/>
            <a:stretch>
              <a:fillRect/>
            </a:stretch>
          </p:blipFill>
          <p:spPr>
            <a:xfrm rot="5400000">
              <a:off x="2077735" y="133311"/>
              <a:ext cx="128211" cy="143253"/>
            </a:xfrm>
            <a:prstGeom prst="rect">
              <a:avLst/>
            </a:prstGeom>
          </p:spPr>
        </p:pic>
        <p:pic>
          <p:nvPicPr>
            <p:cNvPr id="47" name="Picture 47"/>
            <p:cNvPicPr>
              <a:picLocks noChangeAspect="1"/>
            </p:cNvPicPr>
            <p:nvPr/>
          </p:nvPicPr>
          <p:blipFill>
            <a:blip r:embed="rId17"/>
            <a:srcRect/>
            <a:stretch>
              <a:fillRect/>
            </a:stretch>
          </p:blipFill>
          <p:spPr>
            <a:xfrm rot="5400000">
              <a:off x="1946172" y="133311"/>
              <a:ext cx="128211" cy="143253"/>
            </a:xfrm>
            <a:prstGeom prst="rect">
              <a:avLst/>
            </a:prstGeom>
          </p:spPr>
        </p:pic>
        <p:pic>
          <p:nvPicPr>
            <p:cNvPr id="48" name="Picture 48"/>
            <p:cNvPicPr>
              <a:picLocks noChangeAspect="1"/>
            </p:cNvPicPr>
            <p:nvPr/>
          </p:nvPicPr>
          <p:blipFill>
            <a:blip r:embed="rId17"/>
            <a:srcRect/>
            <a:stretch>
              <a:fillRect/>
            </a:stretch>
          </p:blipFill>
          <p:spPr>
            <a:xfrm rot="-10800000">
              <a:off x="2614494" y="117541"/>
              <a:ext cx="128211" cy="143253"/>
            </a:xfrm>
            <a:prstGeom prst="rect">
              <a:avLst/>
            </a:prstGeom>
          </p:spPr>
        </p:pic>
        <p:pic>
          <p:nvPicPr>
            <p:cNvPr id="49" name="Picture 49"/>
            <p:cNvPicPr>
              <a:picLocks noChangeAspect="1"/>
            </p:cNvPicPr>
            <p:nvPr/>
          </p:nvPicPr>
          <p:blipFill>
            <a:blip r:embed="rId17"/>
            <a:srcRect/>
            <a:stretch>
              <a:fillRect/>
            </a:stretch>
          </p:blipFill>
          <p:spPr>
            <a:xfrm rot="5400000">
              <a:off x="1852455" y="132658"/>
              <a:ext cx="128211" cy="143253"/>
            </a:xfrm>
            <a:prstGeom prst="rect">
              <a:avLst/>
            </a:prstGeom>
          </p:spPr>
        </p:pic>
        <p:pic>
          <p:nvPicPr>
            <p:cNvPr id="50" name="Picture 50"/>
            <p:cNvPicPr>
              <a:picLocks noChangeAspect="1"/>
            </p:cNvPicPr>
            <p:nvPr/>
          </p:nvPicPr>
          <p:blipFill>
            <a:blip r:embed="rId17"/>
            <a:srcRect/>
            <a:stretch>
              <a:fillRect/>
            </a:stretch>
          </p:blipFill>
          <p:spPr>
            <a:xfrm rot="5400000">
              <a:off x="1201390" y="139852"/>
              <a:ext cx="128211" cy="143253"/>
            </a:xfrm>
            <a:prstGeom prst="rect">
              <a:avLst/>
            </a:prstGeom>
          </p:spPr>
        </p:pic>
        <p:pic>
          <p:nvPicPr>
            <p:cNvPr id="51" name="Picture 51"/>
            <p:cNvPicPr>
              <a:picLocks noChangeAspect="1"/>
            </p:cNvPicPr>
            <p:nvPr/>
          </p:nvPicPr>
          <p:blipFill>
            <a:blip r:embed="rId17"/>
            <a:srcRect/>
            <a:stretch>
              <a:fillRect/>
            </a:stretch>
          </p:blipFill>
          <p:spPr>
            <a:xfrm rot="5400000">
              <a:off x="1075251" y="140543"/>
              <a:ext cx="127558" cy="142523"/>
            </a:xfrm>
            <a:prstGeom prst="rect">
              <a:avLst/>
            </a:prstGeom>
          </p:spPr>
        </p:pic>
        <p:pic>
          <p:nvPicPr>
            <p:cNvPr id="52" name="Picture 52"/>
            <p:cNvPicPr>
              <a:picLocks noChangeAspect="1"/>
            </p:cNvPicPr>
            <p:nvPr/>
          </p:nvPicPr>
          <p:blipFill>
            <a:blip r:embed="rId17"/>
            <a:srcRect/>
            <a:stretch>
              <a:fillRect/>
            </a:stretch>
          </p:blipFill>
          <p:spPr>
            <a:xfrm rot="5400000">
              <a:off x="943615" y="139852"/>
              <a:ext cx="128211" cy="143253"/>
            </a:xfrm>
            <a:prstGeom prst="rect">
              <a:avLst/>
            </a:prstGeom>
          </p:spPr>
        </p:pic>
        <p:pic>
          <p:nvPicPr>
            <p:cNvPr id="53" name="Picture 53"/>
            <p:cNvPicPr>
              <a:picLocks noChangeAspect="1"/>
            </p:cNvPicPr>
            <p:nvPr/>
          </p:nvPicPr>
          <p:blipFill>
            <a:blip r:embed="rId17"/>
            <a:srcRect/>
            <a:stretch>
              <a:fillRect/>
            </a:stretch>
          </p:blipFill>
          <p:spPr>
            <a:xfrm rot="5400000">
              <a:off x="800363" y="140505"/>
              <a:ext cx="128211" cy="143253"/>
            </a:xfrm>
            <a:prstGeom prst="rect">
              <a:avLst/>
            </a:prstGeom>
          </p:spPr>
        </p:pic>
        <p:pic>
          <p:nvPicPr>
            <p:cNvPr id="54" name="Picture 54"/>
            <p:cNvPicPr>
              <a:picLocks noChangeAspect="1"/>
            </p:cNvPicPr>
            <p:nvPr/>
          </p:nvPicPr>
          <p:blipFill>
            <a:blip r:embed="rId17"/>
            <a:srcRect/>
            <a:stretch>
              <a:fillRect/>
            </a:stretch>
          </p:blipFill>
          <p:spPr>
            <a:xfrm rot="5400000">
              <a:off x="668800" y="140505"/>
              <a:ext cx="128211" cy="143253"/>
            </a:xfrm>
            <a:prstGeom prst="rect">
              <a:avLst/>
            </a:prstGeom>
          </p:spPr>
        </p:pic>
        <p:pic>
          <p:nvPicPr>
            <p:cNvPr id="55" name="Picture 55"/>
            <p:cNvPicPr>
              <a:picLocks noChangeAspect="1"/>
            </p:cNvPicPr>
            <p:nvPr/>
          </p:nvPicPr>
          <p:blipFill>
            <a:blip r:embed="rId17"/>
            <a:srcRect/>
            <a:stretch>
              <a:fillRect/>
            </a:stretch>
          </p:blipFill>
          <p:spPr>
            <a:xfrm rot="5400000">
              <a:off x="540111" y="139852"/>
              <a:ext cx="128211" cy="143253"/>
            </a:xfrm>
            <a:prstGeom prst="rect">
              <a:avLst/>
            </a:prstGeom>
          </p:spPr>
        </p:pic>
        <p:pic>
          <p:nvPicPr>
            <p:cNvPr id="56" name="Picture 56"/>
            <p:cNvPicPr>
              <a:picLocks noChangeAspect="1"/>
            </p:cNvPicPr>
            <p:nvPr/>
          </p:nvPicPr>
          <p:blipFill>
            <a:blip r:embed="rId17"/>
            <a:srcRect/>
            <a:stretch>
              <a:fillRect/>
            </a:stretch>
          </p:blipFill>
          <p:spPr>
            <a:xfrm rot="5400000">
              <a:off x="413972" y="140543"/>
              <a:ext cx="127558" cy="142523"/>
            </a:xfrm>
            <a:prstGeom prst="rect">
              <a:avLst/>
            </a:prstGeom>
          </p:spPr>
        </p:pic>
        <p:pic>
          <p:nvPicPr>
            <p:cNvPr id="57" name="Picture 57"/>
            <p:cNvPicPr>
              <a:picLocks noChangeAspect="1"/>
            </p:cNvPicPr>
            <p:nvPr/>
          </p:nvPicPr>
          <p:blipFill>
            <a:blip r:embed="rId17"/>
            <a:srcRect/>
            <a:stretch>
              <a:fillRect/>
            </a:stretch>
          </p:blipFill>
          <p:spPr>
            <a:xfrm rot="5400000">
              <a:off x="282337" y="139852"/>
              <a:ext cx="128211" cy="143253"/>
            </a:xfrm>
            <a:prstGeom prst="rect">
              <a:avLst/>
            </a:prstGeom>
          </p:spPr>
        </p:pic>
        <p:pic>
          <p:nvPicPr>
            <p:cNvPr id="58" name="Picture 58"/>
            <p:cNvPicPr>
              <a:picLocks noChangeAspect="1"/>
            </p:cNvPicPr>
            <p:nvPr/>
          </p:nvPicPr>
          <p:blipFill>
            <a:blip r:embed="rId17"/>
            <a:srcRect/>
            <a:stretch>
              <a:fillRect/>
            </a:stretch>
          </p:blipFill>
          <p:spPr>
            <a:xfrm rot="5400000">
              <a:off x="139084" y="140505"/>
              <a:ext cx="128211" cy="143253"/>
            </a:xfrm>
            <a:prstGeom prst="rect">
              <a:avLst/>
            </a:prstGeom>
          </p:spPr>
        </p:pic>
        <p:pic>
          <p:nvPicPr>
            <p:cNvPr id="59" name="Picture 59"/>
            <p:cNvPicPr>
              <a:picLocks noChangeAspect="1"/>
            </p:cNvPicPr>
            <p:nvPr/>
          </p:nvPicPr>
          <p:blipFill>
            <a:blip r:embed="rId17"/>
            <a:srcRect/>
            <a:stretch>
              <a:fillRect/>
            </a:stretch>
          </p:blipFill>
          <p:spPr>
            <a:xfrm rot="5400000">
              <a:off x="7521" y="140505"/>
              <a:ext cx="128211" cy="143253"/>
            </a:xfrm>
            <a:prstGeom prst="rect">
              <a:avLst/>
            </a:prstGeom>
          </p:spPr>
        </p:pic>
        <p:pic>
          <p:nvPicPr>
            <p:cNvPr id="60" name="Picture 60"/>
            <p:cNvPicPr>
              <a:picLocks noChangeAspect="1"/>
            </p:cNvPicPr>
            <p:nvPr/>
          </p:nvPicPr>
          <p:blipFill>
            <a:blip r:embed="rId17"/>
            <a:srcRect/>
            <a:stretch>
              <a:fillRect/>
            </a:stretch>
          </p:blipFill>
          <p:spPr>
            <a:xfrm>
              <a:off x="0" y="227402"/>
              <a:ext cx="128211" cy="143253"/>
            </a:xfrm>
            <a:prstGeom prst="rect">
              <a:avLst/>
            </a:prstGeom>
          </p:spPr>
        </p:pic>
        <p:pic>
          <p:nvPicPr>
            <p:cNvPr id="61" name="Picture 61"/>
            <p:cNvPicPr>
              <a:picLocks noChangeAspect="1"/>
            </p:cNvPicPr>
            <p:nvPr/>
          </p:nvPicPr>
          <p:blipFill>
            <a:blip r:embed="rId17"/>
            <a:srcRect/>
            <a:stretch>
              <a:fillRect/>
            </a:stretch>
          </p:blipFill>
          <p:spPr>
            <a:xfrm>
              <a:off x="653" y="354232"/>
              <a:ext cx="127558" cy="142523"/>
            </a:xfrm>
            <a:prstGeom prst="rect">
              <a:avLst/>
            </a:prstGeom>
          </p:spPr>
        </p:pic>
        <p:pic>
          <p:nvPicPr>
            <p:cNvPr id="62" name="Picture 62"/>
            <p:cNvPicPr>
              <a:picLocks noChangeAspect="1"/>
            </p:cNvPicPr>
            <p:nvPr/>
          </p:nvPicPr>
          <p:blipFill>
            <a:blip r:embed="rId17"/>
            <a:srcRect/>
            <a:stretch>
              <a:fillRect/>
            </a:stretch>
          </p:blipFill>
          <p:spPr>
            <a:xfrm>
              <a:off x="0" y="485176"/>
              <a:ext cx="128211" cy="143253"/>
            </a:xfrm>
            <a:prstGeom prst="rect">
              <a:avLst/>
            </a:prstGeom>
          </p:spPr>
        </p:pic>
        <p:pic>
          <p:nvPicPr>
            <p:cNvPr id="63" name="Picture 63"/>
            <p:cNvPicPr>
              <a:picLocks noChangeAspect="1"/>
            </p:cNvPicPr>
            <p:nvPr/>
          </p:nvPicPr>
          <p:blipFill>
            <a:blip r:embed="rId17"/>
            <a:srcRect/>
            <a:stretch>
              <a:fillRect/>
            </a:stretch>
          </p:blipFill>
          <p:spPr>
            <a:xfrm>
              <a:off x="653" y="628429"/>
              <a:ext cx="128211" cy="143253"/>
            </a:xfrm>
            <a:prstGeom prst="rect">
              <a:avLst/>
            </a:prstGeom>
          </p:spPr>
        </p:pic>
        <p:pic>
          <p:nvPicPr>
            <p:cNvPr id="64" name="Picture 64"/>
            <p:cNvPicPr>
              <a:picLocks noChangeAspect="1"/>
            </p:cNvPicPr>
            <p:nvPr/>
          </p:nvPicPr>
          <p:blipFill>
            <a:blip r:embed="rId17"/>
            <a:srcRect/>
            <a:stretch>
              <a:fillRect/>
            </a:stretch>
          </p:blipFill>
          <p:spPr>
            <a:xfrm>
              <a:off x="653" y="759992"/>
              <a:ext cx="128211" cy="143253"/>
            </a:xfrm>
            <a:prstGeom prst="rect">
              <a:avLst/>
            </a:prstGeom>
          </p:spPr>
        </p:pic>
        <p:pic>
          <p:nvPicPr>
            <p:cNvPr id="65" name="Picture 65"/>
            <p:cNvPicPr>
              <a:picLocks noChangeAspect="1"/>
            </p:cNvPicPr>
            <p:nvPr/>
          </p:nvPicPr>
          <p:blipFill>
            <a:blip r:embed="rId17"/>
            <a:srcRect/>
            <a:stretch>
              <a:fillRect/>
            </a:stretch>
          </p:blipFill>
          <p:spPr>
            <a:xfrm>
              <a:off x="0" y="859810"/>
              <a:ext cx="128211" cy="143253"/>
            </a:xfrm>
            <a:prstGeom prst="rect">
              <a:avLst/>
            </a:prstGeom>
          </p:spPr>
        </p:pic>
        <p:pic>
          <p:nvPicPr>
            <p:cNvPr id="66" name="Picture 66"/>
            <p:cNvPicPr>
              <a:picLocks noChangeAspect="1"/>
            </p:cNvPicPr>
            <p:nvPr/>
          </p:nvPicPr>
          <p:blipFill>
            <a:blip r:embed="rId17"/>
            <a:srcRect/>
            <a:stretch>
              <a:fillRect/>
            </a:stretch>
          </p:blipFill>
          <p:spPr>
            <a:xfrm>
              <a:off x="653" y="986641"/>
              <a:ext cx="127558" cy="142523"/>
            </a:xfrm>
            <a:prstGeom prst="rect">
              <a:avLst/>
            </a:prstGeom>
          </p:spPr>
        </p:pic>
        <p:pic>
          <p:nvPicPr>
            <p:cNvPr id="67" name="Picture 67"/>
            <p:cNvPicPr>
              <a:picLocks noChangeAspect="1"/>
            </p:cNvPicPr>
            <p:nvPr/>
          </p:nvPicPr>
          <p:blipFill>
            <a:blip r:embed="rId17"/>
            <a:srcRect/>
            <a:stretch>
              <a:fillRect/>
            </a:stretch>
          </p:blipFill>
          <p:spPr>
            <a:xfrm>
              <a:off x="0" y="1117585"/>
              <a:ext cx="128211" cy="143253"/>
            </a:xfrm>
            <a:prstGeom prst="rect">
              <a:avLst/>
            </a:prstGeom>
          </p:spPr>
        </p:pic>
        <p:pic>
          <p:nvPicPr>
            <p:cNvPr id="68" name="Picture 68"/>
            <p:cNvPicPr>
              <a:picLocks noChangeAspect="1"/>
            </p:cNvPicPr>
            <p:nvPr/>
          </p:nvPicPr>
          <p:blipFill>
            <a:blip r:embed="rId17"/>
            <a:srcRect/>
            <a:stretch>
              <a:fillRect/>
            </a:stretch>
          </p:blipFill>
          <p:spPr>
            <a:xfrm>
              <a:off x="653" y="1260837"/>
              <a:ext cx="128211" cy="143253"/>
            </a:xfrm>
            <a:prstGeom prst="rect">
              <a:avLst/>
            </a:prstGeom>
          </p:spPr>
        </p:pic>
        <p:pic>
          <p:nvPicPr>
            <p:cNvPr id="69" name="Picture 69"/>
            <p:cNvPicPr>
              <a:picLocks noChangeAspect="1"/>
            </p:cNvPicPr>
            <p:nvPr/>
          </p:nvPicPr>
          <p:blipFill>
            <a:blip r:embed="rId17"/>
            <a:srcRect/>
            <a:stretch>
              <a:fillRect/>
            </a:stretch>
          </p:blipFill>
          <p:spPr>
            <a:xfrm>
              <a:off x="653" y="1392400"/>
              <a:ext cx="128211" cy="143253"/>
            </a:xfrm>
            <a:prstGeom prst="rect">
              <a:avLst/>
            </a:prstGeom>
          </p:spPr>
        </p:pic>
        <p:pic>
          <p:nvPicPr>
            <p:cNvPr id="70" name="Picture 70"/>
            <p:cNvPicPr>
              <a:picLocks noChangeAspect="1"/>
            </p:cNvPicPr>
            <p:nvPr/>
          </p:nvPicPr>
          <p:blipFill>
            <a:blip r:embed="rId17"/>
            <a:srcRect/>
            <a:stretch>
              <a:fillRect/>
            </a:stretch>
          </p:blipFill>
          <p:spPr>
            <a:xfrm>
              <a:off x="0" y="1504215"/>
              <a:ext cx="128211" cy="143253"/>
            </a:xfrm>
            <a:prstGeom prst="rect">
              <a:avLst/>
            </a:prstGeom>
          </p:spPr>
        </p:pic>
        <p:pic>
          <p:nvPicPr>
            <p:cNvPr id="71" name="Picture 71"/>
            <p:cNvPicPr>
              <a:picLocks noChangeAspect="1"/>
            </p:cNvPicPr>
            <p:nvPr/>
          </p:nvPicPr>
          <p:blipFill>
            <a:blip r:embed="rId17"/>
            <a:srcRect/>
            <a:stretch>
              <a:fillRect/>
            </a:stretch>
          </p:blipFill>
          <p:spPr>
            <a:xfrm>
              <a:off x="653" y="1647468"/>
              <a:ext cx="128211" cy="143253"/>
            </a:xfrm>
            <a:prstGeom prst="rect">
              <a:avLst/>
            </a:prstGeom>
          </p:spPr>
        </p:pic>
        <p:pic>
          <p:nvPicPr>
            <p:cNvPr id="72" name="Picture 72"/>
            <p:cNvPicPr>
              <a:picLocks noChangeAspect="1"/>
            </p:cNvPicPr>
            <p:nvPr/>
          </p:nvPicPr>
          <p:blipFill>
            <a:blip r:embed="rId17"/>
            <a:srcRect/>
            <a:stretch>
              <a:fillRect/>
            </a:stretch>
          </p:blipFill>
          <p:spPr>
            <a:xfrm>
              <a:off x="653" y="1779031"/>
              <a:ext cx="128211" cy="143253"/>
            </a:xfrm>
            <a:prstGeom prst="rect">
              <a:avLst/>
            </a:prstGeom>
          </p:spPr>
        </p:pic>
        <p:pic>
          <p:nvPicPr>
            <p:cNvPr id="73" name="Picture 73"/>
            <p:cNvPicPr>
              <a:picLocks noChangeAspect="1"/>
            </p:cNvPicPr>
            <p:nvPr/>
          </p:nvPicPr>
          <p:blipFill>
            <a:blip r:embed="rId17"/>
            <a:srcRect/>
            <a:stretch>
              <a:fillRect/>
            </a:stretch>
          </p:blipFill>
          <p:spPr>
            <a:xfrm rot="-5400000">
              <a:off x="168346" y="1786551"/>
              <a:ext cx="128211" cy="143253"/>
            </a:xfrm>
            <a:prstGeom prst="rect">
              <a:avLst/>
            </a:prstGeom>
          </p:spPr>
        </p:pic>
        <p:pic>
          <p:nvPicPr>
            <p:cNvPr id="74" name="Picture 74"/>
            <p:cNvPicPr>
              <a:picLocks noChangeAspect="1"/>
            </p:cNvPicPr>
            <p:nvPr/>
          </p:nvPicPr>
          <p:blipFill>
            <a:blip r:embed="rId17"/>
            <a:srcRect/>
            <a:stretch>
              <a:fillRect/>
            </a:stretch>
          </p:blipFill>
          <p:spPr>
            <a:xfrm rot="-5400000">
              <a:off x="734581" y="1797892"/>
              <a:ext cx="128211" cy="143253"/>
            </a:xfrm>
            <a:prstGeom prst="rect">
              <a:avLst/>
            </a:prstGeom>
          </p:spPr>
        </p:pic>
        <p:pic>
          <p:nvPicPr>
            <p:cNvPr id="75" name="Picture 75"/>
            <p:cNvPicPr>
              <a:picLocks noChangeAspect="1"/>
            </p:cNvPicPr>
            <p:nvPr/>
          </p:nvPicPr>
          <p:blipFill>
            <a:blip r:embed="rId17"/>
            <a:srcRect/>
            <a:stretch>
              <a:fillRect/>
            </a:stretch>
          </p:blipFill>
          <p:spPr>
            <a:xfrm rot="-5400000">
              <a:off x="861373" y="1797930"/>
              <a:ext cx="127558" cy="142523"/>
            </a:xfrm>
            <a:prstGeom prst="rect">
              <a:avLst/>
            </a:prstGeom>
          </p:spPr>
        </p:pic>
        <p:pic>
          <p:nvPicPr>
            <p:cNvPr id="76" name="Picture 76"/>
            <p:cNvPicPr>
              <a:picLocks noChangeAspect="1"/>
            </p:cNvPicPr>
            <p:nvPr/>
          </p:nvPicPr>
          <p:blipFill>
            <a:blip r:embed="rId17"/>
            <a:srcRect/>
            <a:stretch>
              <a:fillRect/>
            </a:stretch>
          </p:blipFill>
          <p:spPr>
            <a:xfrm rot="-5400000">
              <a:off x="992356" y="1797892"/>
              <a:ext cx="128211" cy="143253"/>
            </a:xfrm>
            <a:prstGeom prst="rect">
              <a:avLst/>
            </a:prstGeom>
          </p:spPr>
        </p:pic>
        <p:pic>
          <p:nvPicPr>
            <p:cNvPr id="77" name="Picture 77"/>
            <p:cNvPicPr>
              <a:picLocks noChangeAspect="1"/>
            </p:cNvPicPr>
            <p:nvPr/>
          </p:nvPicPr>
          <p:blipFill>
            <a:blip r:embed="rId17"/>
            <a:srcRect/>
            <a:stretch>
              <a:fillRect/>
            </a:stretch>
          </p:blipFill>
          <p:spPr>
            <a:xfrm rot="-5400000">
              <a:off x="1135608" y="1797239"/>
              <a:ext cx="128211" cy="143253"/>
            </a:xfrm>
            <a:prstGeom prst="rect">
              <a:avLst/>
            </a:prstGeom>
          </p:spPr>
        </p:pic>
        <p:pic>
          <p:nvPicPr>
            <p:cNvPr id="78" name="Picture 78"/>
            <p:cNvPicPr>
              <a:picLocks noChangeAspect="1"/>
            </p:cNvPicPr>
            <p:nvPr/>
          </p:nvPicPr>
          <p:blipFill>
            <a:blip r:embed="rId17"/>
            <a:srcRect/>
            <a:stretch>
              <a:fillRect/>
            </a:stretch>
          </p:blipFill>
          <p:spPr>
            <a:xfrm rot="-5400000">
              <a:off x="718527" y="1061001"/>
              <a:ext cx="128211" cy="143253"/>
            </a:xfrm>
            <a:prstGeom prst="rect">
              <a:avLst/>
            </a:prstGeom>
          </p:spPr>
        </p:pic>
        <p:pic>
          <p:nvPicPr>
            <p:cNvPr id="79" name="Picture 79"/>
            <p:cNvPicPr>
              <a:picLocks noChangeAspect="1"/>
            </p:cNvPicPr>
            <p:nvPr/>
          </p:nvPicPr>
          <p:blipFill>
            <a:blip r:embed="rId17"/>
            <a:srcRect/>
            <a:stretch>
              <a:fillRect/>
            </a:stretch>
          </p:blipFill>
          <p:spPr>
            <a:xfrm rot="-5400000">
              <a:off x="845319" y="1061039"/>
              <a:ext cx="127558" cy="142523"/>
            </a:xfrm>
            <a:prstGeom prst="rect">
              <a:avLst/>
            </a:prstGeom>
          </p:spPr>
        </p:pic>
        <p:pic>
          <p:nvPicPr>
            <p:cNvPr id="80" name="Picture 80"/>
            <p:cNvPicPr>
              <a:picLocks noChangeAspect="1"/>
            </p:cNvPicPr>
            <p:nvPr/>
          </p:nvPicPr>
          <p:blipFill>
            <a:blip r:embed="rId17"/>
            <a:srcRect/>
            <a:stretch>
              <a:fillRect/>
            </a:stretch>
          </p:blipFill>
          <p:spPr>
            <a:xfrm rot="-5400000">
              <a:off x="976301" y="1061001"/>
              <a:ext cx="128211" cy="143253"/>
            </a:xfrm>
            <a:prstGeom prst="rect">
              <a:avLst/>
            </a:prstGeom>
          </p:spPr>
        </p:pic>
        <p:pic>
          <p:nvPicPr>
            <p:cNvPr id="81" name="Picture 81"/>
            <p:cNvPicPr>
              <a:picLocks noChangeAspect="1"/>
            </p:cNvPicPr>
            <p:nvPr/>
          </p:nvPicPr>
          <p:blipFill>
            <a:blip r:embed="rId17"/>
            <a:srcRect/>
            <a:stretch>
              <a:fillRect/>
            </a:stretch>
          </p:blipFill>
          <p:spPr>
            <a:xfrm rot="-5400000">
              <a:off x="1119554" y="1060348"/>
              <a:ext cx="128211" cy="143253"/>
            </a:xfrm>
            <a:prstGeom prst="rect">
              <a:avLst/>
            </a:prstGeom>
          </p:spPr>
        </p:pic>
        <p:pic>
          <p:nvPicPr>
            <p:cNvPr id="82" name="Picture 82"/>
            <p:cNvPicPr>
              <a:picLocks noChangeAspect="1"/>
            </p:cNvPicPr>
            <p:nvPr/>
          </p:nvPicPr>
          <p:blipFill>
            <a:blip r:embed="rId17"/>
            <a:srcRect/>
            <a:stretch>
              <a:fillRect/>
            </a:stretch>
          </p:blipFill>
          <p:spPr>
            <a:xfrm rot="-5400000">
              <a:off x="168346" y="1062000"/>
              <a:ext cx="128211" cy="143253"/>
            </a:xfrm>
            <a:prstGeom prst="rect">
              <a:avLst/>
            </a:prstGeom>
          </p:spPr>
        </p:pic>
      </p:grpSp>
      <p:sp>
        <p:nvSpPr>
          <p:cNvPr id="83" name="Freeform 83"/>
          <p:cNvSpPr/>
          <p:nvPr/>
        </p:nvSpPr>
        <p:spPr>
          <a:xfrm>
            <a:off x="11514287" y="5473509"/>
            <a:ext cx="3469695" cy="2604075"/>
          </a:xfrm>
          <a:custGeom>
            <a:avLst/>
            <a:gdLst/>
            <a:ahLst/>
            <a:cxnLst/>
            <a:rect l="l" t="t" r="r" b="b"/>
            <a:pathLst>
              <a:path w="3469695" h="2604075">
                <a:moveTo>
                  <a:pt x="0" y="0"/>
                </a:moveTo>
                <a:lnTo>
                  <a:pt x="3469695" y="0"/>
                </a:lnTo>
                <a:lnTo>
                  <a:pt x="3469695" y="2604075"/>
                </a:lnTo>
                <a:lnTo>
                  <a:pt x="0" y="2604075"/>
                </a:lnTo>
                <a:lnTo>
                  <a:pt x="0" y="0"/>
                </a:lnTo>
                <a:close/>
              </a:path>
            </a:pathLst>
          </a:custGeom>
          <a:blipFill>
            <a:blip r:embed="rId18"/>
            <a:stretch>
              <a:fillRect/>
            </a:stretch>
          </a:blipFill>
        </p:spPr>
        <p:txBody>
          <a:bodyPr/>
          <a:lstStyle/>
          <a:p>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1028665" y="302895"/>
            <a:ext cx="16230670" cy="773430"/>
            <a:chOff x="0" y="0"/>
            <a:chExt cx="21640893" cy="1031240"/>
          </a:xfrm>
        </p:grpSpPr>
        <p:sp>
          <p:nvSpPr>
            <p:cNvPr id="3" name="TextBox 3"/>
            <p:cNvSpPr txBox="1"/>
            <p:nvPr/>
          </p:nvSpPr>
          <p:spPr>
            <a:xfrm>
              <a:off x="47" y="-95250"/>
              <a:ext cx="13424098"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IMPACT</a:t>
              </a:r>
            </a:p>
          </p:txBody>
        </p:sp>
        <p:sp>
          <p:nvSpPr>
            <p:cNvPr id="4" name="AutoShape 4"/>
            <p:cNvSpPr/>
            <p:nvPr/>
          </p:nvSpPr>
          <p:spPr>
            <a:xfrm flipV="1">
              <a:off x="47" y="967740"/>
              <a:ext cx="21640800" cy="31750"/>
            </a:xfrm>
            <a:prstGeom prst="line">
              <a:avLst/>
            </a:prstGeom>
            <a:ln w="63500" cap="flat">
              <a:solidFill>
                <a:srgbClr val="A28231"/>
              </a:solidFill>
              <a:prstDash val="solid"/>
              <a:headEnd type="none" w="sm" len="sm"/>
              <a:tailEnd type="none" w="sm" len="sm"/>
            </a:ln>
          </p:spPr>
          <p:txBody>
            <a:bodyPr/>
            <a:lstStyle/>
            <a:p>
              <a:endParaRPr lang="en-GB"/>
            </a:p>
          </p:txBody>
        </p:sp>
      </p:grpSp>
      <p:sp>
        <p:nvSpPr>
          <p:cNvPr id="5" name="Freeform 5"/>
          <p:cNvSpPr/>
          <p:nvPr/>
        </p:nvSpPr>
        <p:spPr>
          <a:xfrm>
            <a:off x="2403738" y="1846065"/>
            <a:ext cx="4896690" cy="6594869"/>
          </a:xfrm>
          <a:custGeom>
            <a:avLst/>
            <a:gdLst/>
            <a:ahLst/>
            <a:cxnLst/>
            <a:rect l="l" t="t" r="r" b="b"/>
            <a:pathLst>
              <a:path w="4896690" h="6594869">
                <a:moveTo>
                  <a:pt x="0" y="0"/>
                </a:moveTo>
                <a:lnTo>
                  <a:pt x="4896690" y="0"/>
                </a:lnTo>
                <a:lnTo>
                  <a:pt x="4896690" y="6594870"/>
                </a:lnTo>
                <a:lnTo>
                  <a:pt x="0" y="65948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a:off x="10829234" y="2336743"/>
            <a:ext cx="5613514" cy="5613514"/>
          </a:xfrm>
          <a:custGeom>
            <a:avLst/>
            <a:gdLst/>
            <a:ahLst/>
            <a:cxnLst/>
            <a:rect l="l" t="t" r="r" b="b"/>
            <a:pathLst>
              <a:path w="5613514" h="5613514">
                <a:moveTo>
                  <a:pt x="0" y="0"/>
                </a:moveTo>
                <a:lnTo>
                  <a:pt x="5613514" y="0"/>
                </a:lnTo>
                <a:lnTo>
                  <a:pt x="5613514" y="5613514"/>
                </a:lnTo>
                <a:lnTo>
                  <a:pt x="0" y="5613514"/>
                </a:lnTo>
                <a:lnTo>
                  <a:pt x="0" y="0"/>
                </a:lnTo>
                <a:close/>
              </a:path>
            </a:pathLst>
          </a:custGeom>
          <a:blipFill>
            <a:blip r:embed="rId5"/>
            <a:stretch>
              <a:fillRect/>
            </a:stretch>
          </a:blipFill>
        </p:spPr>
        <p:txBody>
          <a:bodyPr/>
          <a:lstStyle/>
          <a:p>
            <a:endParaRPr lang="en-GB"/>
          </a:p>
        </p:txBody>
      </p:sp>
      <p:sp>
        <p:nvSpPr>
          <p:cNvPr id="7" name="Freeform 7"/>
          <p:cNvSpPr/>
          <p:nvPr/>
        </p:nvSpPr>
        <p:spPr>
          <a:xfrm>
            <a:off x="10771128" y="3172613"/>
            <a:ext cx="6084732" cy="4114800"/>
          </a:xfrm>
          <a:custGeom>
            <a:avLst/>
            <a:gdLst/>
            <a:ahLst/>
            <a:cxnLst/>
            <a:rect l="l" t="t" r="r" b="b"/>
            <a:pathLst>
              <a:path w="6084732" h="4114800">
                <a:moveTo>
                  <a:pt x="0" y="0"/>
                </a:moveTo>
                <a:lnTo>
                  <a:pt x="6084732" y="0"/>
                </a:lnTo>
                <a:lnTo>
                  <a:pt x="608473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8" name="TextBox 8"/>
          <p:cNvSpPr txBox="1"/>
          <p:nvPr/>
        </p:nvSpPr>
        <p:spPr>
          <a:xfrm>
            <a:off x="0" y="9220200"/>
            <a:ext cx="18288000" cy="763269"/>
          </a:xfrm>
          <a:prstGeom prst="rect">
            <a:avLst/>
          </a:prstGeom>
        </p:spPr>
        <p:txBody>
          <a:bodyPr lIns="0" tIns="0" rIns="0" bIns="0" rtlCol="0" anchor="t">
            <a:spAutoFit/>
          </a:bodyPr>
          <a:lstStyle/>
          <a:p>
            <a:pPr algn="ctr">
              <a:lnSpc>
                <a:spcPts val="3080"/>
              </a:lnSpc>
            </a:pPr>
            <a:r>
              <a:rPr lang="en-US" sz="2200">
                <a:solidFill>
                  <a:srgbClr val="1D1D1F"/>
                </a:solidFill>
                <a:latin typeface="Canva Sans"/>
              </a:rPr>
              <a:t>Blaauw, Sheldon and Broekman, Andre and Maina, James and JvdM Steyn, Wynand and Haddad, Wiam, Life Cycle Assessment of an Avocado: Grown in South Africa – Enjoyed in Europe. Available at SSRN: </a:t>
            </a:r>
            <a:r>
              <a:rPr lang="en-US" sz="2200" u="sng">
                <a:solidFill>
                  <a:srgbClr val="1D1D1F"/>
                </a:solidFill>
                <a:latin typeface="Canva Sans"/>
                <a:hlinkClick r:id="rId8" tooltip="https://ssrn.com/abstract=4665264"/>
              </a:rPr>
              <a:t>Add a little bit of body text</a:t>
            </a:r>
            <a:r>
              <a:rPr lang="en-US" sz="2200">
                <a:solidFill>
                  <a:srgbClr val="1D1D1F"/>
                </a:solidFill>
                <a:latin typeface="Canva Sans"/>
              </a:rPr>
              <a:t> or </a:t>
            </a:r>
            <a:r>
              <a:rPr lang="en-US" sz="2200" u="sng">
                <a:solidFill>
                  <a:srgbClr val="1D1D1F"/>
                </a:solidFill>
                <a:latin typeface="Canva Sans"/>
                <a:hlinkClick r:id="rId9" tooltip="http://dx.doi.org/10.2139/ssrn.4665264"/>
              </a:rPr>
              <a:t>Add a little bit of body text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4106515" y="3913220"/>
            <a:ext cx="10074970" cy="1651635"/>
          </a:xfrm>
          <a:prstGeom prst="rect">
            <a:avLst/>
          </a:prstGeom>
        </p:spPr>
        <p:txBody>
          <a:bodyPr lIns="0" tIns="0" rIns="0" bIns="0" rtlCol="0" anchor="t">
            <a:spAutoFit/>
          </a:bodyPr>
          <a:lstStyle/>
          <a:p>
            <a:pPr algn="ctr">
              <a:lnSpc>
                <a:spcPts val="13439"/>
              </a:lnSpc>
            </a:pPr>
            <a:r>
              <a:rPr lang="en-US" sz="9600">
                <a:solidFill>
                  <a:srgbClr val="1D1D1F"/>
                </a:solidFill>
                <a:latin typeface="Raleway Heavy"/>
              </a:rPr>
              <a:t>THANK YOU</a:t>
            </a:r>
          </a:p>
        </p:txBody>
      </p:sp>
      <p:sp>
        <p:nvSpPr>
          <p:cNvPr id="3" name="AutoShape 3"/>
          <p:cNvSpPr/>
          <p:nvPr/>
        </p:nvSpPr>
        <p:spPr>
          <a:xfrm flipV="1">
            <a:off x="5668852" y="5732216"/>
            <a:ext cx="7000045" cy="0"/>
          </a:xfrm>
          <a:prstGeom prst="line">
            <a:avLst/>
          </a:prstGeom>
          <a:ln w="47625" cap="flat">
            <a:solidFill>
              <a:srgbClr val="A28231"/>
            </a:solidFill>
            <a:prstDash val="solid"/>
            <a:headEnd type="none" w="sm" len="sm"/>
            <a:tailEnd type="none" w="sm" len="sm"/>
          </a:ln>
        </p:spPr>
        <p:txBody>
          <a:bodyPr/>
          <a:lstStyle/>
          <a:p>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833744"/>
            <a:ext cx="5973358" cy="470628"/>
            <a:chOff x="0" y="0"/>
            <a:chExt cx="7964477" cy="627504"/>
          </a:xfrm>
        </p:grpSpPr>
        <p:sp>
          <p:nvSpPr>
            <p:cNvPr id="3" name="Freeform 3"/>
            <p:cNvSpPr/>
            <p:nvPr/>
          </p:nvSpPr>
          <p:spPr>
            <a:xfrm>
              <a:off x="0" y="0"/>
              <a:ext cx="7964477" cy="627504"/>
            </a:xfrm>
            <a:custGeom>
              <a:avLst/>
              <a:gdLst/>
              <a:ahLst/>
              <a:cxnLst/>
              <a:rect l="l" t="t" r="r" b="b"/>
              <a:pathLst>
                <a:path w="7964477" h="627504">
                  <a:moveTo>
                    <a:pt x="0" y="0"/>
                  </a:moveTo>
                  <a:lnTo>
                    <a:pt x="7964477" y="0"/>
                  </a:lnTo>
                  <a:lnTo>
                    <a:pt x="7964477" y="627504"/>
                  </a:lnTo>
                  <a:lnTo>
                    <a:pt x="0" y="6275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sp>
        <p:nvSpPr>
          <p:cNvPr id="4" name="TextBox 4"/>
          <p:cNvSpPr txBox="1"/>
          <p:nvPr/>
        </p:nvSpPr>
        <p:spPr>
          <a:xfrm>
            <a:off x="999495" y="1191623"/>
            <a:ext cx="3586758"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Bold"/>
              </a:rPr>
              <a:t>Temp generation</a:t>
            </a:r>
          </a:p>
        </p:txBody>
      </p:sp>
      <p:grpSp>
        <p:nvGrpSpPr>
          <p:cNvPr id="5" name="Group 5"/>
          <p:cNvGrpSpPr/>
          <p:nvPr/>
        </p:nvGrpSpPr>
        <p:grpSpPr>
          <a:xfrm>
            <a:off x="1028700" y="2532972"/>
            <a:ext cx="5671673" cy="470628"/>
            <a:chOff x="0" y="0"/>
            <a:chExt cx="7562230" cy="627504"/>
          </a:xfrm>
        </p:grpSpPr>
        <p:sp>
          <p:nvSpPr>
            <p:cNvPr id="6" name="Freeform 6"/>
            <p:cNvSpPr/>
            <p:nvPr/>
          </p:nvSpPr>
          <p:spPr>
            <a:xfrm>
              <a:off x="0" y="0"/>
              <a:ext cx="7562230" cy="627504"/>
            </a:xfrm>
            <a:custGeom>
              <a:avLst/>
              <a:gdLst/>
              <a:ahLst/>
              <a:cxnLst/>
              <a:rect l="l" t="t" r="r" b="b"/>
              <a:pathLst>
                <a:path w="7562230" h="627504">
                  <a:moveTo>
                    <a:pt x="0" y="0"/>
                  </a:moveTo>
                  <a:lnTo>
                    <a:pt x="7562230" y="0"/>
                  </a:lnTo>
                  <a:lnTo>
                    <a:pt x="7562230" y="627504"/>
                  </a:lnTo>
                  <a:lnTo>
                    <a:pt x="0" y="6275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grpSp>
      <p:sp>
        <p:nvSpPr>
          <p:cNvPr id="7" name="TextBox 7"/>
          <p:cNvSpPr txBox="1"/>
          <p:nvPr/>
        </p:nvSpPr>
        <p:spPr>
          <a:xfrm>
            <a:off x="1016048" y="3117900"/>
            <a:ext cx="2818656" cy="580390"/>
          </a:xfrm>
          <a:prstGeom prst="rect">
            <a:avLst/>
          </a:prstGeom>
        </p:spPr>
        <p:txBody>
          <a:bodyPr lIns="0" tIns="0" rIns="0" bIns="0" rtlCol="0" anchor="t">
            <a:spAutoFit/>
          </a:bodyPr>
          <a:lstStyle/>
          <a:p>
            <a:pPr algn="ctr">
              <a:lnSpc>
                <a:spcPts val="4759"/>
              </a:lnSpc>
            </a:pPr>
            <a:r>
              <a:rPr lang="en-US" sz="3399">
                <a:solidFill>
                  <a:srgbClr val="000000"/>
                </a:solidFill>
                <a:latin typeface="Canva Sans Bold"/>
              </a:rPr>
              <a:t>Heat transfer</a:t>
            </a:r>
          </a:p>
        </p:txBody>
      </p:sp>
      <p:grpSp>
        <p:nvGrpSpPr>
          <p:cNvPr id="8" name="Group 8"/>
          <p:cNvGrpSpPr/>
          <p:nvPr/>
        </p:nvGrpSpPr>
        <p:grpSpPr>
          <a:xfrm>
            <a:off x="1040009" y="3926890"/>
            <a:ext cx="4368158" cy="749439"/>
            <a:chOff x="0" y="0"/>
            <a:chExt cx="5824211" cy="999252"/>
          </a:xfrm>
        </p:grpSpPr>
        <p:sp>
          <p:nvSpPr>
            <p:cNvPr id="9" name="Freeform 9"/>
            <p:cNvSpPr/>
            <p:nvPr/>
          </p:nvSpPr>
          <p:spPr>
            <a:xfrm>
              <a:off x="0" y="0"/>
              <a:ext cx="5824211" cy="999252"/>
            </a:xfrm>
            <a:custGeom>
              <a:avLst/>
              <a:gdLst/>
              <a:ahLst/>
              <a:cxnLst/>
              <a:rect l="l" t="t" r="r" b="b"/>
              <a:pathLst>
                <a:path w="5824211" h="999252">
                  <a:moveTo>
                    <a:pt x="0" y="0"/>
                  </a:moveTo>
                  <a:lnTo>
                    <a:pt x="5824211" y="0"/>
                  </a:lnTo>
                  <a:lnTo>
                    <a:pt x="5824211" y="999252"/>
                  </a:lnTo>
                  <a:lnTo>
                    <a:pt x="0" y="99925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grpSp>
        <p:nvGrpSpPr>
          <p:cNvPr id="10" name="Group 10"/>
          <p:cNvGrpSpPr/>
          <p:nvPr/>
        </p:nvGrpSpPr>
        <p:grpSpPr>
          <a:xfrm>
            <a:off x="1028700" y="4739222"/>
            <a:ext cx="4118779" cy="298462"/>
            <a:chOff x="0" y="0"/>
            <a:chExt cx="5491706" cy="397950"/>
          </a:xfrm>
        </p:grpSpPr>
        <p:sp>
          <p:nvSpPr>
            <p:cNvPr id="11" name="Freeform 11"/>
            <p:cNvSpPr/>
            <p:nvPr/>
          </p:nvSpPr>
          <p:spPr>
            <a:xfrm>
              <a:off x="0" y="0"/>
              <a:ext cx="5491706" cy="397950"/>
            </a:xfrm>
            <a:custGeom>
              <a:avLst/>
              <a:gdLst/>
              <a:ahLst/>
              <a:cxnLst/>
              <a:rect l="l" t="t" r="r" b="b"/>
              <a:pathLst>
                <a:path w="5491706" h="397950">
                  <a:moveTo>
                    <a:pt x="0" y="0"/>
                  </a:moveTo>
                  <a:lnTo>
                    <a:pt x="5491706" y="0"/>
                  </a:lnTo>
                  <a:lnTo>
                    <a:pt x="5491706" y="397950"/>
                  </a:lnTo>
                  <a:lnTo>
                    <a:pt x="0" y="3979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grpSp>
      <p:grpSp>
        <p:nvGrpSpPr>
          <p:cNvPr id="12" name="Group 12"/>
          <p:cNvGrpSpPr/>
          <p:nvPr/>
        </p:nvGrpSpPr>
        <p:grpSpPr>
          <a:xfrm>
            <a:off x="1028700" y="5266284"/>
            <a:ext cx="7070121" cy="815783"/>
            <a:chOff x="0" y="0"/>
            <a:chExt cx="9426828" cy="1087711"/>
          </a:xfrm>
        </p:grpSpPr>
        <p:sp>
          <p:nvSpPr>
            <p:cNvPr id="13" name="Freeform 13"/>
            <p:cNvSpPr/>
            <p:nvPr/>
          </p:nvSpPr>
          <p:spPr>
            <a:xfrm>
              <a:off x="0" y="0"/>
              <a:ext cx="9426828" cy="1087711"/>
            </a:xfrm>
            <a:custGeom>
              <a:avLst/>
              <a:gdLst/>
              <a:ahLst/>
              <a:cxnLst/>
              <a:rect l="l" t="t" r="r" b="b"/>
              <a:pathLst>
                <a:path w="9426828" h="1087711">
                  <a:moveTo>
                    <a:pt x="0" y="0"/>
                  </a:moveTo>
                  <a:lnTo>
                    <a:pt x="9426828" y="0"/>
                  </a:lnTo>
                  <a:lnTo>
                    <a:pt x="9426828" y="1087711"/>
                  </a:lnTo>
                  <a:lnTo>
                    <a:pt x="0" y="108771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grpSp>
      <p:sp>
        <p:nvSpPr>
          <p:cNvPr id="14" name="TextBox 14"/>
          <p:cNvSpPr txBox="1"/>
          <p:nvPr/>
        </p:nvSpPr>
        <p:spPr>
          <a:xfrm>
            <a:off x="5329535" y="6648986"/>
            <a:ext cx="1202900" cy="181000"/>
          </a:xfrm>
          <a:prstGeom prst="rect">
            <a:avLst/>
          </a:prstGeom>
        </p:spPr>
        <p:txBody>
          <a:bodyPr lIns="0" tIns="0" rIns="0" bIns="0" rtlCol="0" anchor="t">
            <a:spAutoFit/>
          </a:bodyPr>
          <a:lstStyle/>
          <a:p>
            <a:pPr algn="ctr">
              <a:lnSpc>
                <a:spcPts val="1588"/>
              </a:lnSpc>
            </a:pPr>
            <a:r>
              <a:rPr lang="en-US" sz="1134">
                <a:solidFill>
                  <a:srgbClr val="000000"/>
                </a:solidFill>
                <a:latin typeface="Canva Sans"/>
              </a:rPr>
              <a:t>(With heat pump)</a:t>
            </a:r>
          </a:p>
        </p:txBody>
      </p:sp>
      <p:grpSp>
        <p:nvGrpSpPr>
          <p:cNvPr id="15" name="Group 15"/>
          <p:cNvGrpSpPr/>
          <p:nvPr/>
        </p:nvGrpSpPr>
        <p:grpSpPr>
          <a:xfrm>
            <a:off x="1040009" y="6418560"/>
            <a:ext cx="4206975" cy="305635"/>
            <a:chOff x="0" y="0"/>
            <a:chExt cx="5609300" cy="407513"/>
          </a:xfrm>
        </p:grpSpPr>
        <p:sp>
          <p:nvSpPr>
            <p:cNvPr id="16" name="Freeform 16"/>
            <p:cNvSpPr/>
            <p:nvPr/>
          </p:nvSpPr>
          <p:spPr>
            <a:xfrm>
              <a:off x="0" y="0"/>
              <a:ext cx="5609300" cy="407513"/>
            </a:xfrm>
            <a:custGeom>
              <a:avLst/>
              <a:gdLst/>
              <a:ahLst/>
              <a:cxnLst/>
              <a:rect l="l" t="t" r="r" b="b"/>
              <a:pathLst>
                <a:path w="5609300" h="407513">
                  <a:moveTo>
                    <a:pt x="0" y="0"/>
                  </a:moveTo>
                  <a:lnTo>
                    <a:pt x="5609300" y="0"/>
                  </a:lnTo>
                  <a:lnTo>
                    <a:pt x="5609300" y="407513"/>
                  </a:lnTo>
                  <a:lnTo>
                    <a:pt x="0" y="40751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GB"/>
            </a:p>
          </p:txBody>
        </p:sp>
      </p:grpSp>
      <p:sp>
        <p:nvSpPr>
          <p:cNvPr id="17" name="TextBox 17"/>
          <p:cNvSpPr txBox="1"/>
          <p:nvPr/>
        </p:nvSpPr>
        <p:spPr>
          <a:xfrm>
            <a:off x="9428390" y="1191623"/>
            <a:ext cx="2352080" cy="580390"/>
          </a:xfrm>
          <a:prstGeom prst="rect">
            <a:avLst/>
          </a:prstGeom>
        </p:spPr>
        <p:txBody>
          <a:bodyPr lIns="0" tIns="0" rIns="0" bIns="0" rtlCol="0" anchor="t">
            <a:spAutoFit/>
          </a:bodyPr>
          <a:lstStyle/>
          <a:p>
            <a:pPr>
              <a:lnSpc>
                <a:spcPts val="4759"/>
              </a:lnSpc>
            </a:pPr>
            <a:r>
              <a:rPr lang="en-US" sz="3399">
                <a:solidFill>
                  <a:srgbClr val="000000"/>
                </a:solidFill>
                <a:latin typeface="Canva Sans Bold"/>
              </a:rPr>
              <a:t>Heat Pump</a:t>
            </a:r>
          </a:p>
        </p:txBody>
      </p:sp>
      <p:grpSp>
        <p:nvGrpSpPr>
          <p:cNvPr id="18" name="Group 18"/>
          <p:cNvGrpSpPr/>
          <p:nvPr/>
        </p:nvGrpSpPr>
        <p:grpSpPr>
          <a:xfrm>
            <a:off x="9428390" y="1847795"/>
            <a:ext cx="1732447" cy="562675"/>
            <a:chOff x="0" y="0"/>
            <a:chExt cx="2309929" cy="750233"/>
          </a:xfrm>
        </p:grpSpPr>
        <p:sp>
          <p:nvSpPr>
            <p:cNvPr id="19" name="Freeform 19"/>
            <p:cNvSpPr/>
            <p:nvPr/>
          </p:nvSpPr>
          <p:spPr>
            <a:xfrm>
              <a:off x="0" y="0"/>
              <a:ext cx="2309929" cy="750233"/>
            </a:xfrm>
            <a:custGeom>
              <a:avLst/>
              <a:gdLst/>
              <a:ahLst/>
              <a:cxnLst/>
              <a:rect l="l" t="t" r="r" b="b"/>
              <a:pathLst>
                <a:path w="2309929" h="750233">
                  <a:moveTo>
                    <a:pt x="0" y="0"/>
                  </a:moveTo>
                  <a:lnTo>
                    <a:pt x="2309929" y="0"/>
                  </a:lnTo>
                  <a:lnTo>
                    <a:pt x="2309929" y="750233"/>
                  </a:lnTo>
                  <a:lnTo>
                    <a:pt x="0" y="75023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GB"/>
            </a:p>
          </p:txBody>
        </p:sp>
      </p:grpSp>
      <p:grpSp>
        <p:nvGrpSpPr>
          <p:cNvPr id="20" name="Group 20"/>
          <p:cNvGrpSpPr/>
          <p:nvPr/>
        </p:nvGrpSpPr>
        <p:grpSpPr>
          <a:xfrm>
            <a:off x="9428390" y="2548732"/>
            <a:ext cx="2033303" cy="562675"/>
            <a:chOff x="0" y="0"/>
            <a:chExt cx="2711070" cy="750233"/>
          </a:xfrm>
        </p:grpSpPr>
        <p:sp>
          <p:nvSpPr>
            <p:cNvPr id="21" name="Freeform 21"/>
            <p:cNvSpPr/>
            <p:nvPr/>
          </p:nvSpPr>
          <p:spPr>
            <a:xfrm>
              <a:off x="0" y="0"/>
              <a:ext cx="2711070" cy="750233"/>
            </a:xfrm>
            <a:custGeom>
              <a:avLst/>
              <a:gdLst/>
              <a:ahLst/>
              <a:cxnLst/>
              <a:rect l="l" t="t" r="r" b="b"/>
              <a:pathLst>
                <a:path w="2711070" h="750233">
                  <a:moveTo>
                    <a:pt x="0" y="0"/>
                  </a:moveTo>
                  <a:lnTo>
                    <a:pt x="2711070" y="0"/>
                  </a:lnTo>
                  <a:lnTo>
                    <a:pt x="2711070" y="750233"/>
                  </a:lnTo>
                  <a:lnTo>
                    <a:pt x="0" y="75023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GB"/>
            </a:p>
          </p:txBody>
        </p:sp>
      </p:grpSp>
      <p:grpSp>
        <p:nvGrpSpPr>
          <p:cNvPr id="22" name="Group 22"/>
          <p:cNvGrpSpPr/>
          <p:nvPr/>
        </p:nvGrpSpPr>
        <p:grpSpPr>
          <a:xfrm>
            <a:off x="9428390" y="3292382"/>
            <a:ext cx="3224560" cy="562675"/>
            <a:chOff x="0" y="0"/>
            <a:chExt cx="4299414" cy="750233"/>
          </a:xfrm>
        </p:grpSpPr>
        <p:sp>
          <p:nvSpPr>
            <p:cNvPr id="23" name="Freeform 23"/>
            <p:cNvSpPr/>
            <p:nvPr/>
          </p:nvSpPr>
          <p:spPr>
            <a:xfrm>
              <a:off x="0" y="0"/>
              <a:ext cx="4299414" cy="750233"/>
            </a:xfrm>
            <a:custGeom>
              <a:avLst/>
              <a:gdLst/>
              <a:ahLst/>
              <a:cxnLst/>
              <a:rect l="l" t="t" r="r" b="b"/>
              <a:pathLst>
                <a:path w="4299414" h="750233">
                  <a:moveTo>
                    <a:pt x="0" y="0"/>
                  </a:moveTo>
                  <a:lnTo>
                    <a:pt x="4299414" y="0"/>
                  </a:lnTo>
                  <a:lnTo>
                    <a:pt x="4299414" y="750233"/>
                  </a:lnTo>
                  <a:lnTo>
                    <a:pt x="0" y="75023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GB"/>
            </a:p>
          </p:txBody>
        </p:sp>
      </p:grpSp>
      <p:grpSp>
        <p:nvGrpSpPr>
          <p:cNvPr id="24" name="Group 24"/>
          <p:cNvGrpSpPr/>
          <p:nvPr/>
        </p:nvGrpSpPr>
        <p:grpSpPr>
          <a:xfrm>
            <a:off x="9428390" y="4176547"/>
            <a:ext cx="3334370" cy="562675"/>
            <a:chOff x="0" y="0"/>
            <a:chExt cx="4445827" cy="750233"/>
          </a:xfrm>
        </p:grpSpPr>
        <p:sp>
          <p:nvSpPr>
            <p:cNvPr id="25" name="Freeform 25"/>
            <p:cNvSpPr/>
            <p:nvPr/>
          </p:nvSpPr>
          <p:spPr>
            <a:xfrm>
              <a:off x="0" y="0"/>
              <a:ext cx="4445827" cy="750233"/>
            </a:xfrm>
            <a:custGeom>
              <a:avLst/>
              <a:gdLst/>
              <a:ahLst/>
              <a:cxnLst/>
              <a:rect l="l" t="t" r="r" b="b"/>
              <a:pathLst>
                <a:path w="4445827" h="750233">
                  <a:moveTo>
                    <a:pt x="0" y="0"/>
                  </a:moveTo>
                  <a:lnTo>
                    <a:pt x="4445827" y="0"/>
                  </a:lnTo>
                  <a:lnTo>
                    <a:pt x="4445827" y="750233"/>
                  </a:lnTo>
                  <a:lnTo>
                    <a:pt x="0" y="75023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GB"/>
            </a:p>
          </p:txBody>
        </p:sp>
      </p:grpSp>
      <p:grpSp>
        <p:nvGrpSpPr>
          <p:cNvPr id="26" name="Group 26"/>
          <p:cNvGrpSpPr/>
          <p:nvPr/>
        </p:nvGrpSpPr>
        <p:grpSpPr>
          <a:xfrm>
            <a:off x="9428390" y="4920197"/>
            <a:ext cx="3334370" cy="562675"/>
            <a:chOff x="0" y="0"/>
            <a:chExt cx="4445827" cy="750233"/>
          </a:xfrm>
        </p:grpSpPr>
        <p:sp>
          <p:nvSpPr>
            <p:cNvPr id="27" name="Freeform 27"/>
            <p:cNvSpPr/>
            <p:nvPr/>
          </p:nvSpPr>
          <p:spPr>
            <a:xfrm>
              <a:off x="0" y="0"/>
              <a:ext cx="4445827" cy="750233"/>
            </a:xfrm>
            <a:custGeom>
              <a:avLst/>
              <a:gdLst/>
              <a:ahLst/>
              <a:cxnLst/>
              <a:rect l="l" t="t" r="r" b="b"/>
              <a:pathLst>
                <a:path w="4445827" h="750233">
                  <a:moveTo>
                    <a:pt x="0" y="0"/>
                  </a:moveTo>
                  <a:lnTo>
                    <a:pt x="4445827" y="0"/>
                  </a:lnTo>
                  <a:lnTo>
                    <a:pt x="4445827" y="750233"/>
                  </a:lnTo>
                  <a:lnTo>
                    <a:pt x="0" y="750233"/>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GB"/>
            </a:p>
          </p:txBody>
        </p:sp>
      </p:grpSp>
      <p:grpSp>
        <p:nvGrpSpPr>
          <p:cNvPr id="28" name="Group 28"/>
          <p:cNvGrpSpPr/>
          <p:nvPr/>
        </p:nvGrpSpPr>
        <p:grpSpPr>
          <a:xfrm>
            <a:off x="9428390" y="5663847"/>
            <a:ext cx="1910478" cy="562675"/>
            <a:chOff x="0" y="0"/>
            <a:chExt cx="2547304" cy="750233"/>
          </a:xfrm>
        </p:grpSpPr>
        <p:sp>
          <p:nvSpPr>
            <p:cNvPr id="29" name="Freeform 29"/>
            <p:cNvSpPr/>
            <p:nvPr/>
          </p:nvSpPr>
          <p:spPr>
            <a:xfrm>
              <a:off x="0" y="0"/>
              <a:ext cx="2547304" cy="750233"/>
            </a:xfrm>
            <a:custGeom>
              <a:avLst/>
              <a:gdLst/>
              <a:ahLst/>
              <a:cxnLst/>
              <a:rect l="l" t="t" r="r" b="b"/>
              <a:pathLst>
                <a:path w="2547304" h="750233">
                  <a:moveTo>
                    <a:pt x="0" y="0"/>
                  </a:moveTo>
                  <a:lnTo>
                    <a:pt x="2547304" y="0"/>
                  </a:lnTo>
                  <a:lnTo>
                    <a:pt x="2547304" y="750233"/>
                  </a:lnTo>
                  <a:lnTo>
                    <a:pt x="0" y="750233"/>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GB"/>
            </a:p>
          </p:txBody>
        </p:sp>
      </p:grpSp>
      <p:grpSp>
        <p:nvGrpSpPr>
          <p:cNvPr id="30" name="Group 30"/>
          <p:cNvGrpSpPr/>
          <p:nvPr/>
        </p:nvGrpSpPr>
        <p:grpSpPr>
          <a:xfrm>
            <a:off x="1028665" y="302895"/>
            <a:ext cx="16230670" cy="773430"/>
            <a:chOff x="0" y="0"/>
            <a:chExt cx="21640893" cy="1031240"/>
          </a:xfrm>
        </p:grpSpPr>
        <p:sp>
          <p:nvSpPr>
            <p:cNvPr id="31" name="TextBox 31"/>
            <p:cNvSpPr txBox="1"/>
            <p:nvPr/>
          </p:nvSpPr>
          <p:spPr>
            <a:xfrm>
              <a:off x="47" y="-95250"/>
              <a:ext cx="13424098"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APPENDIX: EQUATIONS</a:t>
              </a:r>
            </a:p>
          </p:txBody>
        </p:sp>
        <p:sp>
          <p:nvSpPr>
            <p:cNvPr id="32" name="AutoShape 32"/>
            <p:cNvSpPr/>
            <p:nvPr/>
          </p:nvSpPr>
          <p:spPr>
            <a:xfrm flipV="1">
              <a:off x="47" y="967740"/>
              <a:ext cx="21640800" cy="31750"/>
            </a:xfrm>
            <a:prstGeom prst="line">
              <a:avLst/>
            </a:prstGeom>
            <a:ln w="63500" cap="flat">
              <a:solidFill>
                <a:srgbClr val="A28231"/>
              </a:solidFill>
              <a:prstDash val="solid"/>
              <a:headEnd type="none" w="sm" len="sm"/>
              <a:tailEnd type="none" w="sm" len="sm"/>
            </a:ln>
          </p:spPr>
          <p:txBody>
            <a:bodyPr/>
            <a:lstStyle/>
            <a:p>
              <a:endParaRPr lang="en-GB"/>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1028669" y="302895"/>
            <a:ext cx="17126379" cy="773430"/>
            <a:chOff x="0" y="0"/>
            <a:chExt cx="22835172" cy="1031240"/>
          </a:xfrm>
        </p:grpSpPr>
        <p:sp>
          <p:nvSpPr>
            <p:cNvPr id="3" name="TextBox 3"/>
            <p:cNvSpPr txBox="1"/>
            <p:nvPr/>
          </p:nvSpPr>
          <p:spPr>
            <a:xfrm>
              <a:off x="44" y="-95250"/>
              <a:ext cx="14164929"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APPENDIX: AMMONIA EXTRACTION</a:t>
              </a:r>
            </a:p>
          </p:txBody>
        </p:sp>
        <p:sp>
          <p:nvSpPr>
            <p:cNvPr id="4" name="AutoShape 4"/>
            <p:cNvSpPr/>
            <p:nvPr/>
          </p:nvSpPr>
          <p:spPr>
            <a:xfrm flipV="1">
              <a:off x="44" y="967740"/>
              <a:ext cx="22835084" cy="31750"/>
            </a:xfrm>
            <a:prstGeom prst="line">
              <a:avLst/>
            </a:prstGeom>
            <a:ln w="63500" cap="flat">
              <a:solidFill>
                <a:srgbClr val="A28231"/>
              </a:solidFill>
              <a:prstDash val="solid"/>
              <a:headEnd type="none" w="sm" len="sm"/>
              <a:tailEnd type="none" w="sm" len="sm"/>
            </a:ln>
          </p:spPr>
          <p:txBody>
            <a:bodyPr/>
            <a:lstStyle/>
            <a:p>
              <a:endParaRPr lang="en-GB"/>
            </a:p>
          </p:txBody>
        </p:sp>
      </p:grpSp>
      <p:grpSp>
        <p:nvGrpSpPr>
          <p:cNvPr id="5" name="Group 5"/>
          <p:cNvGrpSpPr/>
          <p:nvPr/>
        </p:nvGrpSpPr>
        <p:grpSpPr>
          <a:xfrm>
            <a:off x="2881851" y="1328415"/>
            <a:ext cx="2518276" cy="298462"/>
            <a:chOff x="0" y="0"/>
            <a:chExt cx="3357701" cy="397950"/>
          </a:xfrm>
        </p:grpSpPr>
        <p:sp>
          <p:nvSpPr>
            <p:cNvPr id="6" name="Freeform 6"/>
            <p:cNvSpPr/>
            <p:nvPr/>
          </p:nvSpPr>
          <p:spPr>
            <a:xfrm>
              <a:off x="0" y="0"/>
              <a:ext cx="3357701" cy="397950"/>
            </a:xfrm>
            <a:custGeom>
              <a:avLst/>
              <a:gdLst/>
              <a:ahLst/>
              <a:cxnLst/>
              <a:rect l="l" t="t" r="r" b="b"/>
              <a:pathLst>
                <a:path w="3357701" h="397950">
                  <a:moveTo>
                    <a:pt x="0" y="0"/>
                  </a:moveTo>
                  <a:lnTo>
                    <a:pt x="3357701" y="0"/>
                  </a:lnTo>
                  <a:lnTo>
                    <a:pt x="3357701" y="397950"/>
                  </a:lnTo>
                  <a:lnTo>
                    <a:pt x="0" y="3979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sp>
        <p:nvSpPr>
          <p:cNvPr id="7" name="AutoShape 7"/>
          <p:cNvSpPr/>
          <p:nvPr/>
        </p:nvSpPr>
        <p:spPr>
          <a:xfrm>
            <a:off x="5480563" y="1496696"/>
            <a:ext cx="612522" cy="0"/>
          </a:xfrm>
          <a:prstGeom prst="line">
            <a:avLst/>
          </a:prstGeom>
          <a:ln w="38100" cap="flat">
            <a:solidFill>
              <a:srgbClr val="000000"/>
            </a:solidFill>
            <a:prstDash val="solid"/>
            <a:headEnd type="none" w="sm" len="sm"/>
            <a:tailEnd type="arrow" w="med" len="sm"/>
          </a:ln>
        </p:spPr>
        <p:txBody>
          <a:bodyPr/>
          <a:lstStyle/>
          <a:p>
            <a:endParaRPr lang="en-GB"/>
          </a:p>
        </p:txBody>
      </p:sp>
      <p:grpSp>
        <p:nvGrpSpPr>
          <p:cNvPr id="8" name="Group 8"/>
          <p:cNvGrpSpPr/>
          <p:nvPr/>
        </p:nvGrpSpPr>
        <p:grpSpPr>
          <a:xfrm>
            <a:off x="2881851" y="1889431"/>
            <a:ext cx="1151212" cy="298462"/>
            <a:chOff x="0" y="0"/>
            <a:chExt cx="1534949" cy="397950"/>
          </a:xfrm>
        </p:grpSpPr>
        <p:sp>
          <p:nvSpPr>
            <p:cNvPr id="9" name="Freeform 9"/>
            <p:cNvSpPr/>
            <p:nvPr/>
          </p:nvSpPr>
          <p:spPr>
            <a:xfrm>
              <a:off x="0" y="0"/>
              <a:ext cx="1534949" cy="397950"/>
            </a:xfrm>
            <a:custGeom>
              <a:avLst/>
              <a:gdLst/>
              <a:ahLst/>
              <a:cxnLst/>
              <a:rect l="l" t="t" r="r" b="b"/>
              <a:pathLst>
                <a:path w="1534949" h="397950">
                  <a:moveTo>
                    <a:pt x="0" y="0"/>
                  </a:moveTo>
                  <a:lnTo>
                    <a:pt x="1534949" y="0"/>
                  </a:lnTo>
                  <a:lnTo>
                    <a:pt x="1534949" y="397950"/>
                  </a:lnTo>
                  <a:lnTo>
                    <a:pt x="0" y="3979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grpSp>
      <p:sp>
        <p:nvSpPr>
          <p:cNvPr id="10" name="AutoShape 10"/>
          <p:cNvSpPr/>
          <p:nvPr/>
        </p:nvSpPr>
        <p:spPr>
          <a:xfrm>
            <a:off x="4102354" y="2019612"/>
            <a:ext cx="612522" cy="0"/>
          </a:xfrm>
          <a:prstGeom prst="line">
            <a:avLst/>
          </a:prstGeom>
          <a:ln w="38100" cap="flat">
            <a:solidFill>
              <a:srgbClr val="000000"/>
            </a:solidFill>
            <a:prstDash val="solid"/>
            <a:headEnd type="none" w="sm" len="sm"/>
            <a:tailEnd type="arrow" w="med" len="sm"/>
          </a:ln>
        </p:spPr>
        <p:txBody>
          <a:bodyPr/>
          <a:lstStyle/>
          <a:p>
            <a:endParaRPr lang="en-GB"/>
          </a:p>
        </p:txBody>
      </p:sp>
      <p:grpSp>
        <p:nvGrpSpPr>
          <p:cNvPr id="11" name="Group 11"/>
          <p:cNvGrpSpPr/>
          <p:nvPr/>
        </p:nvGrpSpPr>
        <p:grpSpPr>
          <a:xfrm>
            <a:off x="2881851" y="2498396"/>
            <a:ext cx="1641543" cy="298462"/>
            <a:chOff x="0" y="0"/>
            <a:chExt cx="2188723" cy="397950"/>
          </a:xfrm>
        </p:grpSpPr>
        <p:sp>
          <p:nvSpPr>
            <p:cNvPr id="12" name="Freeform 12"/>
            <p:cNvSpPr/>
            <p:nvPr/>
          </p:nvSpPr>
          <p:spPr>
            <a:xfrm>
              <a:off x="0" y="0"/>
              <a:ext cx="2188723" cy="397950"/>
            </a:xfrm>
            <a:custGeom>
              <a:avLst/>
              <a:gdLst/>
              <a:ahLst/>
              <a:cxnLst/>
              <a:rect l="l" t="t" r="r" b="b"/>
              <a:pathLst>
                <a:path w="2188723" h="397950">
                  <a:moveTo>
                    <a:pt x="0" y="0"/>
                  </a:moveTo>
                  <a:lnTo>
                    <a:pt x="2188723" y="0"/>
                  </a:lnTo>
                  <a:lnTo>
                    <a:pt x="2188723" y="397950"/>
                  </a:lnTo>
                  <a:lnTo>
                    <a:pt x="0" y="3979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sp>
        <p:nvSpPr>
          <p:cNvPr id="13" name="AutoShape 13"/>
          <p:cNvSpPr/>
          <p:nvPr/>
        </p:nvSpPr>
        <p:spPr>
          <a:xfrm>
            <a:off x="4714876" y="2647627"/>
            <a:ext cx="612522" cy="0"/>
          </a:xfrm>
          <a:prstGeom prst="line">
            <a:avLst/>
          </a:prstGeom>
          <a:ln w="38100" cap="flat">
            <a:solidFill>
              <a:srgbClr val="000000"/>
            </a:solidFill>
            <a:prstDash val="solid"/>
            <a:headEnd type="none" w="sm" len="sm"/>
            <a:tailEnd type="arrow" w="med" len="sm"/>
          </a:ln>
        </p:spPr>
        <p:txBody>
          <a:bodyPr/>
          <a:lstStyle/>
          <a:p>
            <a:endParaRPr lang="en-GB"/>
          </a:p>
        </p:txBody>
      </p:sp>
      <p:grpSp>
        <p:nvGrpSpPr>
          <p:cNvPr id="14" name="Group 14"/>
          <p:cNvGrpSpPr/>
          <p:nvPr/>
        </p:nvGrpSpPr>
        <p:grpSpPr>
          <a:xfrm>
            <a:off x="2881851" y="3111183"/>
            <a:ext cx="1215168" cy="298462"/>
            <a:chOff x="0" y="0"/>
            <a:chExt cx="1620224" cy="397950"/>
          </a:xfrm>
        </p:grpSpPr>
        <p:sp>
          <p:nvSpPr>
            <p:cNvPr id="15" name="Freeform 15"/>
            <p:cNvSpPr/>
            <p:nvPr/>
          </p:nvSpPr>
          <p:spPr>
            <a:xfrm>
              <a:off x="0" y="0"/>
              <a:ext cx="1620224" cy="397950"/>
            </a:xfrm>
            <a:custGeom>
              <a:avLst/>
              <a:gdLst/>
              <a:ahLst/>
              <a:cxnLst/>
              <a:rect l="l" t="t" r="r" b="b"/>
              <a:pathLst>
                <a:path w="1620224" h="397950">
                  <a:moveTo>
                    <a:pt x="0" y="0"/>
                  </a:moveTo>
                  <a:lnTo>
                    <a:pt x="1620224" y="0"/>
                  </a:lnTo>
                  <a:lnTo>
                    <a:pt x="1620224" y="397950"/>
                  </a:lnTo>
                  <a:lnTo>
                    <a:pt x="0" y="3979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grpSp>
      <p:grpSp>
        <p:nvGrpSpPr>
          <p:cNvPr id="16" name="Group 16"/>
          <p:cNvGrpSpPr/>
          <p:nvPr/>
        </p:nvGrpSpPr>
        <p:grpSpPr>
          <a:xfrm>
            <a:off x="4258341" y="3111183"/>
            <a:ext cx="1151212" cy="298462"/>
            <a:chOff x="0" y="0"/>
            <a:chExt cx="1534949" cy="397950"/>
          </a:xfrm>
        </p:grpSpPr>
        <p:sp>
          <p:nvSpPr>
            <p:cNvPr id="17" name="Freeform 17"/>
            <p:cNvSpPr/>
            <p:nvPr/>
          </p:nvSpPr>
          <p:spPr>
            <a:xfrm>
              <a:off x="0" y="0"/>
              <a:ext cx="1534949" cy="397950"/>
            </a:xfrm>
            <a:custGeom>
              <a:avLst/>
              <a:gdLst/>
              <a:ahLst/>
              <a:cxnLst/>
              <a:rect l="l" t="t" r="r" b="b"/>
              <a:pathLst>
                <a:path w="1534949" h="397950">
                  <a:moveTo>
                    <a:pt x="0" y="0"/>
                  </a:moveTo>
                  <a:lnTo>
                    <a:pt x="1534949" y="0"/>
                  </a:lnTo>
                  <a:lnTo>
                    <a:pt x="1534949" y="397950"/>
                  </a:lnTo>
                  <a:lnTo>
                    <a:pt x="0" y="39795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grpSp>
      <p:grpSp>
        <p:nvGrpSpPr>
          <p:cNvPr id="18" name="Group 18"/>
          <p:cNvGrpSpPr/>
          <p:nvPr/>
        </p:nvGrpSpPr>
        <p:grpSpPr>
          <a:xfrm>
            <a:off x="5571478" y="3111183"/>
            <a:ext cx="1172530" cy="298462"/>
            <a:chOff x="0" y="0"/>
            <a:chExt cx="1563374" cy="397950"/>
          </a:xfrm>
        </p:grpSpPr>
        <p:sp>
          <p:nvSpPr>
            <p:cNvPr id="19" name="Freeform 19"/>
            <p:cNvSpPr/>
            <p:nvPr/>
          </p:nvSpPr>
          <p:spPr>
            <a:xfrm>
              <a:off x="0" y="0"/>
              <a:ext cx="1563374" cy="397950"/>
            </a:xfrm>
            <a:custGeom>
              <a:avLst/>
              <a:gdLst/>
              <a:ahLst/>
              <a:cxnLst/>
              <a:rect l="l" t="t" r="r" b="b"/>
              <a:pathLst>
                <a:path w="1563374" h="397950">
                  <a:moveTo>
                    <a:pt x="0" y="0"/>
                  </a:moveTo>
                  <a:lnTo>
                    <a:pt x="1563374" y="0"/>
                  </a:lnTo>
                  <a:lnTo>
                    <a:pt x="1563374" y="397950"/>
                  </a:lnTo>
                  <a:lnTo>
                    <a:pt x="0" y="39795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GB"/>
            </a:p>
          </p:txBody>
        </p:sp>
      </p:grpSp>
      <p:grpSp>
        <p:nvGrpSpPr>
          <p:cNvPr id="20" name="Group 20"/>
          <p:cNvGrpSpPr/>
          <p:nvPr/>
        </p:nvGrpSpPr>
        <p:grpSpPr>
          <a:xfrm>
            <a:off x="6905933" y="3111183"/>
            <a:ext cx="1770876" cy="298462"/>
            <a:chOff x="0" y="0"/>
            <a:chExt cx="2361168" cy="397950"/>
          </a:xfrm>
        </p:grpSpPr>
        <p:sp>
          <p:nvSpPr>
            <p:cNvPr id="21" name="Freeform 21"/>
            <p:cNvSpPr/>
            <p:nvPr/>
          </p:nvSpPr>
          <p:spPr>
            <a:xfrm>
              <a:off x="0" y="0"/>
              <a:ext cx="2361168" cy="397950"/>
            </a:xfrm>
            <a:custGeom>
              <a:avLst/>
              <a:gdLst/>
              <a:ahLst/>
              <a:cxnLst/>
              <a:rect l="l" t="t" r="r" b="b"/>
              <a:pathLst>
                <a:path w="2361168" h="397950">
                  <a:moveTo>
                    <a:pt x="0" y="0"/>
                  </a:moveTo>
                  <a:lnTo>
                    <a:pt x="2361168" y="0"/>
                  </a:lnTo>
                  <a:lnTo>
                    <a:pt x="2361168" y="397950"/>
                  </a:lnTo>
                  <a:lnTo>
                    <a:pt x="0" y="39795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GB"/>
            </a:p>
          </p:txBody>
        </p:sp>
      </p:grpSp>
      <p:grpSp>
        <p:nvGrpSpPr>
          <p:cNvPr id="22" name="Group 22"/>
          <p:cNvGrpSpPr/>
          <p:nvPr/>
        </p:nvGrpSpPr>
        <p:grpSpPr>
          <a:xfrm>
            <a:off x="2887186" y="3723971"/>
            <a:ext cx="1215168" cy="298462"/>
            <a:chOff x="0" y="0"/>
            <a:chExt cx="1620224" cy="397950"/>
          </a:xfrm>
        </p:grpSpPr>
        <p:sp>
          <p:nvSpPr>
            <p:cNvPr id="23" name="Freeform 23"/>
            <p:cNvSpPr/>
            <p:nvPr/>
          </p:nvSpPr>
          <p:spPr>
            <a:xfrm>
              <a:off x="0" y="0"/>
              <a:ext cx="1620224" cy="397950"/>
            </a:xfrm>
            <a:custGeom>
              <a:avLst/>
              <a:gdLst/>
              <a:ahLst/>
              <a:cxnLst/>
              <a:rect l="l" t="t" r="r" b="b"/>
              <a:pathLst>
                <a:path w="1620224" h="397950">
                  <a:moveTo>
                    <a:pt x="0" y="0"/>
                  </a:moveTo>
                  <a:lnTo>
                    <a:pt x="1620224" y="0"/>
                  </a:lnTo>
                  <a:lnTo>
                    <a:pt x="1620224" y="397950"/>
                  </a:lnTo>
                  <a:lnTo>
                    <a:pt x="0" y="3979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GB"/>
            </a:p>
          </p:txBody>
        </p:sp>
      </p:grpSp>
      <p:grpSp>
        <p:nvGrpSpPr>
          <p:cNvPr id="24" name="Group 24"/>
          <p:cNvGrpSpPr/>
          <p:nvPr/>
        </p:nvGrpSpPr>
        <p:grpSpPr>
          <a:xfrm>
            <a:off x="4263676" y="3723971"/>
            <a:ext cx="1151212" cy="298462"/>
            <a:chOff x="0" y="0"/>
            <a:chExt cx="1534949" cy="397950"/>
          </a:xfrm>
        </p:grpSpPr>
        <p:sp>
          <p:nvSpPr>
            <p:cNvPr id="25" name="Freeform 25"/>
            <p:cNvSpPr/>
            <p:nvPr/>
          </p:nvSpPr>
          <p:spPr>
            <a:xfrm>
              <a:off x="0" y="0"/>
              <a:ext cx="1534949" cy="397950"/>
            </a:xfrm>
            <a:custGeom>
              <a:avLst/>
              <a:gdLst/>
              <a:ahLst/>
              <a:cxnLst/>
              <a:rect l="l" t="t" r="r" b="b"/>
              <a:pathLst>
                <a:path w="1534949" h="397950">
                  <a:moveTo>
                    <a:pt x="0" y="0"/>
                  </a:moveTo>
                  <a:lnTo>
                    <a:pt x="1534949" y="0"/>
                  </a:lnTo>
                  <a:lnTo>
                    <a:pt x="1534949" y="397950"/>
                  </a:lnTo>
                  <a:lnTo>
                    <a:pt x="0" y="39795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GB"/>
            </a:p>
          </p:txBody>
        </p:sp>
      </p:grpSp>
      <p:grpSp>
        <p:nvGrpSpPr>
          <p:cNvPr id="26" name="Group 26"/>
          <p:cNvGrpSpPr/>
          <p:nvPr/>
        </p:nvGrpSpPr>
        <p:grpSpPr>
          <a:xfrm>
            <a:off x="5576813" y="3723971"/>
            <a:ext cx="1172530" cy="298462"/>
            <a:chOff x="0" y="0"/>
            <a:chExt cx="1563374" cy="397950"/>
          </a:xfrm>
        </p:grpSpPr>
        <p:sp>
          <p:nvSpPr>
            <p:cNvPr id="27" name="Freeform 27"/>
            <p:cNvSpPr/>
            <p:nvPr/>
          </p:nvSpPr>
          <p:spPr>
            <a:xfrm>
              <a:off x="0" y="0"/>
              <a:ext cx="1563374" cy="397950"/>
            </a:xfrm>
            <a:custGeom>
              <a:avLst/>
              <a:gdLst/>
              <a:ahLst/>
              <a:cxnLst/>
              <a:rect l="l" t="t" r="r" b="b"/>
              <a:pathLst>
                <a:path w="1563374" h="397950">
                  <a:moveTo>
                    <a:pt x="0" y="0"/>
                  </a:moveTo>
                  <a:lnTo>
                    <a:pt x="1563374" y="0"/>
                  </a:lnTo>
                  <a:lnTo>
                    <a:pt x="1563374" y="397950"/>
                  </a:lnTo>
                  <a:lnTo>
                    <a:pt x="0" y="39795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GB"/>
            </a:p>
          </p:txBody>
        </p:sp>
      </p:grpSp>
      <p:grpSp>
        <p:nvGrpSpPr>
          <p:cNvPr id="28" name="Group 28"/>
          <p:cNvGrpSpPr/>
          <p:nvPr/>
        </p:nvGrpSpPr>
        <p:grpSpPr>
          <a:xfrm>
            <a:off x="6911268" y="3723971"/>
            <a:ext cx="1770876" cy="298462"/>
            <a:chOff x="0" y="0"/>
            <a:chExt cx="2361168" cy="397950"/>
          </a:xfrm>
        </p:grpSpPr>
        <p:sp>
          <p:nvSpPr>
            <p:cNvPr id="29" name="Freeform 29"/>
            <p:cNvSpPr/>
            <p:nvPr/>
          </p:nvSpPr>
          <p:spPr>
            <a:xfrm>
              <a:off x="0" y="0"/>
              <a:ext cx="2361168" cy="397950"/>
            </a:xfrm>
            <a:custGeom>
              <a:avLst/>
              <a:gdLst/>
              <a:ahLst/>
              <a:cxnLst/>
              <a:rect l="l" t="t" r="r" b="b"/>
              <a:pathLst>
                <a:path w="2361168" h="397950">
                  <a:moveTo>
                    <a:pt x="0" y="0"/>
                  </a:moveTo>
                  <a:lnTo>
                    <a:pt x="2361168" y="0"/>
                  </a:lnTo>
                  <a:lnTo>
                    <a:pt x="2361168" y="397950"/>
                  </a:lnTo>
                  <a:lnTo>
                    <a:pt x="0" y="39795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GB"/>
            </a:p>
          </p:txBody>
        </p:sp>
      </p:grpSp>
      <p:grpSp>
        <p:nvGrpSpPr>
          <p:cNvPr id="30" name="Group 30"/>
          <p:cNvGrpSpPr/>
          <p:nvPr/>
        </p:nvGrpSpPr>
        <p:grpSpPr>
          <a:xfrm>
            <a:off x="2881851" y="4336758"/>
            <a:ext cx="1215168" cy="298462"/>
            <a:chOff x="0" y="0"/>
            <a:chExt cx="1620224" cy="397950"/>
          </a:xfrm>
        </p:grpSpPr>
        <p:sp>
          <p:nvSpPr>
            <p:cNvPr id="31" name="Freeform 31"/>
            <p:cNvSpPr/>
            <p:nvPr/>
          </p:nvSpPr>
          <p:spPr>
            <a:xfrm>
              <a:off x="0" y="0"/>
              <a:ext cx="1620224" cy="397950"/>
            </a:xfrm>
            <a:custGeom>
              <a:avLst/>
              <a:gdLst/>
              <a:ahLst/>
              <a:cxnLst/>
              <a:rect l="l" t="t" r="r" b="b"/>
              <a:pathLst>
                <a:path w="1620224" h="397950">
                  <a:moveTo>
                    <a:pt x="0" y="0"/>
                  </a:moveTo>
                  <a:lnTo>
                    <a:pt x="1620224" y="0"/>
                  </a:lnTo>
                  <a:lnTo>
                    <a:pt x="1620224" y="397950"/>
                  </a:lnTo>
                  <a:lnTo>
                    <a:pt x="0" y="39795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GB"/>
            </a:p>
          </p:txBody>
        </p:sp>
      </p:grpSp>
      <p:grpSp>
        <p:nvGrpSpPr>
          <p:cNvPr id="32" name="Group 32"/>
          <p:cNvGrpSpPr/>
          <p:nvPr/>
        </p:nvGrpSpPr>
        <p:grpSpPr>
          <a:xfrm>
            <a:off x="2887186" y="4949545"/>
            <a:ext cx="1215168" cy="298462"/>
            <a:chOff x="0" y="0"/>
            <a:chExt cx="1620224" cy="397950"/>
          </a:xfrm>
        </p:grpSpPr>
        <p:sp>
          <p:nvSpPr>
            <p:cNvPr id="33" name="Freeform 33"/>
            <p:cNvSpPr/>
            <p:nvPr/>
          </p:nvSpPr>
          <p:spPr>
            <a:xfrm>
              <a:off x="0" y="0"/>
              <a:ext cx="1620224" cy="397950"/>
            </a:xfrm>
            <a:custGeom>
              <a:avLst/>
              <a:gdLst/>
              <a:ahLst/>
              <a:cxnLst/>
              <a:rect l="l" t="t" r="r" b="b"/>
              <a:pathLst>
                <a:path w="1620224" h="397950">
                  <a:moveTo>
                    <a:pt x="0" y="0"/>
                  </a:moveTo>
                  <a:lnTo>
                    <a:pt x="1620224" y="0"/>
                  </a:lnTo>
                  <a:lnTo>
                    <a:pt x="1620224" y="397950"/>
                  </a:lnTo>
                  <a:lnTo>
                    <a:pt x="0" y="39795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GB"/>
            </a:p>
          </p:txBody>
        </p:sp>
      </p:grpSp>
      <p:grpSp>
        <p:nvGrpSpPr>
          <p:cNvPr id="34" name="Group 34"/>
          <p:cNvGrpSpPr/>
          <p:nvPr/>
        </p:nvGrpSpPr>
        <p:grpSpPr>
          <a:xfrm>
            <a:off x="4297044" y="4317708"/>
            <a:ext cx="1268465" cy="298462"/>
            <a:chOff x="0" y="0"/>
            <a:chExt cx="1691286" cy="397950"/>
          </a:xfrm>
        </p:grpSpPr>
        <p:sp>
          <p:nvSpPr>
            <p:cNvPr id="35" name="Freeform 35"/>
            <p:cNvSpPr/>
            <p:nvPr/>
          </p:nvSpPr>
          <p:spPr>
            <a:xfrm>
              <a:off x="0" y="0"/>
              <a:ext cx="1691286" cy="397950"/>
            </a:xfrm>
            <a:custGeom>
              <a:avLst/>
              <a:gdLst/>
              <a:ahLst/>
              <a:cxnLst/>
              <a:rect l="l" t="t" r="r" b="b"/>
              <a:pathLst>
                <a:path w="1691286" h="397950">
                  <a:moveTo>
                    <a:pt x="0" y="0"/>
                  </a:moveTo>
                  <a:lnTo>
                    <a:pt x="1691286" y="0"/>
                  </a:lnTo>
                  <a:lnTo>
                    <a:pt x="1691286" y="397950"/>
                  </a:lnTo>
                  <a:lnTo>
                    <a:pt x="0" y="397950"/>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GB"/>
            </a:p>
          </p:txBody>
        </p:sp>
      </p:grpSp>
      <p:grpSp>
        <p:nvGrpSpPr>
          <p:cNvPr id="36" name="Group 36"/>
          <p:cNvGrpSpPr/>
          <p:nvPr/>
        </p:nvGrpSpPr>
        <p:grpSpPr>
          <a:xfrm>
            <a:off x="4311904" y="4949545"/>
            <a:ext cx="1268465" cy="298462"/>
            <a:chOff x="0" y="0"/>
            <a:chExt cx="1691286" cy="397950"/>
          </a:xfrm>
        </p:grpSpPr>
        <p:sp>
          <p:nvSpPr>
            <p:cNvPr id="37" name="Freeform 37"/>
            <p:cNvSpPr/>
            <p:nvPr/>
          </p:nvSpPr>
          <p:spPr>
            <a:xfrm>
              <a:off x="0" y="0"/>
              <a:ext cx="1691286" cy="397950"/>
            </a:xfrm>
            <a:custGeom>
              <a:avLst/>
              <a:gdLst/>
              <a:ahLst/>
              <a:cxnLst/>
              <a:rect l="l" t="t" r="r" b="b"/>
              <a:pathLst>
                <a:path w="1691286" h="397950">
                  <a:moveTo>
                    <a:pt x="0" y="0"/>
                  </a:moveTo>
                  <a:lnTo>
                    <a:pt x="1691286" y="0"/>
                  </a:lnTo>
                  <a:lnTo>
                    <a:pt x="1691286" y="397950"/>
                  </a:lnTo>
                  <a:lnTo>
                    <a:pt x="0" y="397950"/>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GB"/>
            </a:p>
          </p:txBody>
        </p:sp>
      </p:grpSp>
      <p:sp>
        <p:nvSpPr>
          <p:cNvPr id="38" name="AutoShape 38"/>
          <p:cNvSpPr/>
          <p:nvPr/>
        </p:nvSpPr>
        <p:spPr>
          <a:xfrm>
            <a:off x="5580368" y="5117826"/>
            <a:ext cx="612522" cy="0"/>
          </a:xfrm>
          <a:prstGeom prst="line">
            <a:avLst/>
          </a:prstGeom>
          <a:ln w="38100" cap="flat">
            <a:solidFill>
              <a:srgbClr val="000000"/>
            </a:solidFill>
            <a:prstDash val="solid"/>
            <a:headEnd type="none" w="sm" len="sm"/>
            <a:tailEnd type="arrow" w="med" len="sm"/>
          </a:ln>
        </p:spPr>
        <p:txBody>
          <a:bodyPr/>
          <a:lstStyle/>
          <a:p>
            <a:endParaRPr lang="en-GB"/>
          </a:p>
        </p:txBody>
      </p:sp>
      <p:sp>
        <p:nvSpPr>
          <p:cNvPr id="39" name="AutoShape 39"/>
          <p:cNvSpPr/>
          <p:nvPr/>
        </p:nvSpPr>
        <p:spPr>
          <a:xfrm>
            <a:off x="5580368" y="4447889"/>
            <a:ext cx="612522" cy="0"/>
          </a:xfrm>
          <a:prstGeom prst="line">
            <a:avLst/>
          </a:prstGeom>
          <a:ln w="38100" cap="flat">
            <a:solidFill>
              <a:srgbClr val="000000"/>
            </a:solidFill>
            <a:prstDash val="solid"/>
            <a:headEnd type="none" w="sm" len="sm"/>
            <a:tailEnd type="arrow" w="med" len="sm"/>
          </a:ln>
        </p:spPr>
        <p:txBody>
          <a:bodyPr/>
          <a:lstStyle/>
          <a:p>
            <a:endParaRPr lang="en-GB"/>
          </a:p>
        </p:txBody>
      </p:sp>
      <p:sp>
        <p:nvSpPr>
          <p:cNvPr id="40" name="Freeform 40"/>
          <p:cNvSpPr/>
          <p:nvPr/>
        </p:nvSpPr>
        <p:spPr>
          <a:xfrm>
            <a:off x="905093" y="6167756"/>
            <a:ext cx="4422304" cy="3125837"/>
          </a:xfrm>
          <a:custGeom>
            <a:avLst/>
            <a:gdLst/>
            <a:ahLst/>
            <a:cxnLst/>
            <a:rect l="l" t="t" r="r" b="b"/>
            <a:pathLst>
              <a:path w="4422304" h="3125837">
                <a:moveTo>
                  <a:pt x="0" y="0"/>
                </a:moveTo>
                <a:lnTo>
                  <a:pt x="4422305" y="0"/>
                </a:lnTo>
                <a:lnTo>
                  <a:pt x="4422305" y="3125838"/>
                </a:lnTo>
                <a:lnTo>
                  <a:pt x="0" y="3125838"/>
                </a:lnTo>
                <a:lnTo>
                  <a:pt x="0" y="0"/>
                </a:lnTo>
                <a:close/>
              </a:path>
            </a:pathLst>
          </a:custGeom>
          <a:blipFill>
            <a:blip r:embed="rId32"/>
            <a:stretch>
              <a:fillRect/>
            </a:stretch>
          </a:blipFill>
        </p:spPr>
        <p:txBody>
          <a:bodyPr/>
          <a:lstStyle/>
          <a:p>
            <a:endParaRPr lang="en-GB"/>
          </a:p>
        </p:txBody>
      </p:sp>
      <p:sp>
        <p:nvSpPr>
          <p:cNvPr id="41" name="Freeform 41"/>
          <p:cNvSpPr/>
          <p:nvPr/>
        </p:nvSpPr>
        <p:spPr>
          <a:xfrm>
            <a:off x="5565508" y="6167756"/>
            <a:ext cx="5890506" cy="2278335"/>
          </a:xfrm>
          <a:custGeom>
            <a:avLst/>
            <a:gdLst/>
            <a:ahLst/>
            <a:cxnLst/>
            <a:rect l="l" t="t" r="r" b="b"/>
            <a:pathLst>
              <a:path w="5890506" h="2278335">
                <a:moveTo>
                  <a:pt x="0" y="0"/>
                </a:moveTo>
                <a:lnTo>
                  <a:pt x="5890506" y="0"/>
                </a:lnTo>
                <a:lnTo>
                  <a:pt x="5890506" y="2278335"/>
                </a:lnTo>
                <a:lnTo>
                  <a:pt x="0" y="2278335"/>
                </a:lnTo>
                <a:lnTo>
                  <a:pt x="0" y="0"/>
                </a:lnTo>
                <a:close/>
              </a:path>
            </a:pathLst>
          </a:custGeom>
          <a:blipFill>
            <a:blip r:embed="rId33"/>
            <a:stretch>
              <a:fillRect/>
            </a:stretch>
          </a:blipFill>
        </p:spPr>
        <p:txBody>
          <a:bodyPr/>
          <a:lstStyle/>
          <a:p>
            <a:endParaRPr lang="en-GB"/>
          </a:p>
        </p:txBody>
      </p:sp>
      <p:sp>
        <p:nvSpPr>
          <p:cNvPr id="42" name="TextBox 42"/>
          <p:cNvSpPr txBox="1"/>
          <p:nvPr/>
        </p:nvSpPr>
        <p:spPr>
          <a:xfrm>
            <a:off x="6169284" y="1290315"/>
            <a:ext cx="7318115" cy="406458"/>
          </a:xfrm>
          <a:prstGeom prst="rect">
            <a:avLst/>
          </a:prstGeom>
        </p:spPr>
        <p:txBody>
          <a:bodyPr wrap="square" lIns="0" tIns="0" rIns="0" bIns="0" rtlCol="0" anchor="t">
            <a:spAutoFit/>
          </a:bodyPr>
          <a:lstStyle/>
          <a:p>
            <a:pPr algn="ctr">
              <a:lnSpc>
                <a:spcPts val="3360"/>
              </a:lnSpc>
            </a:pPr>
            <a:r>
              <a:rPr lang="en-US" sz="2400" dirty="0">
                <a:solidFill>
                  <a:srgbClr val="1D1D1F"/>
                </a:solidFill>
                <a:latin typeface="Canva Sans"/>
              </a:rPr>
              <a:t>Extract row from saturated properties (vapor)</a:t>
            </a:r>
          </a:p>
        </p:txBody>
      </p:sp>
      <p:sp>
        <p:nvSpPr>
          <p:cNvPr id="43" name="TextBox 43"/>
          <p:cNvSpPr txBox="1"/>
          <p:nvPr/>
        </p:nvSpPr>
        <p:spPr>
          <a:xfrm>
            <a:off x="4781551" y="1802442"/>
            <a:ext cx="6689229" cy="396239"/>
          </a:xfrm>
          <a:prstGeom prst="rect">
            <a:avLst/>
          </a:prstGeom>
        </p:spPr>
        <p:txBody>
          <a:bodyPr lIns="0" tIns="0" rIns="0" bIns="0" rtlCol="0" anchor="t">
            <a:spAutoFit/>
          </a:bodyPr>
          <a:lstStyle/>
          <a:p>
            <a:pPr algn="ctr">
              <a:lnSpc>
                <a:spcPts val="3360"/>
              </a:lnSpc>
            </a:pPr>
            <a:r>
              <a:rPr lang="en-US" sz="2400">
                <a:solidFill>
                  <a:srgbClr val="1D1D1F"/>
                </a:solidFill>
                <a:latin typeface="Canva Sans"/>
              </a:rPr>
              <a:t>Extract row from saturated properties (liquid)</a:t>
            </a:r>
          </a:p>
        </p:txBody>
      </p:sp>
      <p:sp>
        <p:nvSpPr>
          <p:cNvPr id="44" name="TextBox 44"/>
          <p:cNvSpPr txBox="1"/>
          <p:nvPr/>
        </p:nvSpPr>
        <p:spPr>
          <a:xfrm>
            <a:off x="5409552" y="2400620"/>
            <a:ext cx="7309505" cy="406458"/>
          </a:xfrm>
          <a:prstGeom prst="rect">
            <a:avLst/>
          </a:prstGeom>
        </p:spPr>
        <p:txBody>
          <a:bodyPr wrap="square" lIns="0" tIns="0" rIns="0" bIns="0" rtlCol="0" anchor="t">
            <a:spAutoFit/>
          </a:bodyPr>
          <a:lstStyle/>
          <a:p>
            <a:pPr algn="ctr">
              <a:lnSpc>
                <a:spcPts val="3360"/>
              </a:lnSpc>
            </a:pPr>
            <a:r>
              <a:rPr lang="en-US" sz="2400" dirty="0">
                <a:solidFill>
                  <a:srgbClr val="1D1D1F"/>
                </a:solidFill>
                <a:latin typeface="Canva Sans"/>
              </a:rPr>
              <a:t>Extract row from saturated properties (vapor)</a:t>
            </a:r>
          </a:p>
        </p:txBody>
      </p:sp>
      <p:sp>
        <p:nvSpPr>
          <p:cNvPr id="45" name="TextBox 45"/>
          <p:cNvSpPr txBox="1"/>
          <p:nvPr/>
        </p:nvSpPr>
        <p:spPr>
          <a:xfrm>
            <a:off x="1052626" y="1076326"/>
            <a:ext cx="1641277" cy="574196"/>
          </a:xfrm>
          <a:prstGeom prst="rect">
            <a:avLst/>
          </a:prstGeom>
        </p:spPr>
        <p:txBody>
          <a:bodyPr wrap="square" lIns="0" tIns="0" rIns="0" bIns="0" rtlCol="0" anchor="t">
            <a:spAutoFit/>
          </a:bodyPr>
          <a:lstStyle/>
          <a:p>
            <a:pPr algn="ctr">
              <a:lnSpc>
                <a:spcPts val="4759"/>
              </a:lnSpc>
            </a:pPr>
            <a:r>
              <a:rPr lang="en-US" sz="3399" dirty="0">
                <a:solidFill>
                  <a:srgbClr val="1D1D1F"/>
                </a:solidFill>
                <a:latin typeface="Canva Sans"/>
              </a:rPr>
              <a:t>Stage 1:</a:t>
            </a:r>
          </a:p>
        </p:txBody>
      </p:sp>
      <p:sp>
        <p:nvSpPr>
          <p:cNvPr id="46" name="TextBox 46"/>
          <p:cNvSpPr txBox="1"/>
          <p:nvPr/>
        </p:nvSpPr>
        <p:spPr>
          <a:xfrm>
            <a:off x="1049055" y="4730116"/>
            <a:ext cx="1624459" cy="580390"/>
          </a:xfrm>
          <a:prstGeom prst="rect">
            <a:avLst/>
          </a:prstGeom>
        </p:spPr>
        <p:txBody>
          <a:bodyPr lIns="0" tIns="0" rIns="0" bIns="0" rtlCol="0" anchor="t">
            <a:spAutoFit/>
          </a:bodyPr>
          <a:lstStyle/>
          <a:p>
            <a:pPr algn="ctr">
              <a:lnSpc>
                <a:spcPts val="4759"/>
              </a:lnSpc>
            </a:pPr>
            <a:r>
              <a:rPr lang="en-US" sz="3399" dirty="0">
                <a:solidFill>
                  <a:srgbClr val="1D1D1F"/>
                </a:solidFill>
                <a:latin typeface="Canva Sans"/>
              </a:rPr>
              <a:t>Stage 2:</a:t>
            </a:r>
          </a:p>
        </p:txBody>
      </p:sp>
      <p:sp>
        <p:nvSpPr>
          <p:cNvPr id="47" name="TextBox 47"/>
          <p:cNvSpPr txBox="1"/>
          <p:nvPr/>
        </p:nvSpPr>
        <p:spPr>
          <a:xfrm>
            <a:off x="1042282" y="2294256"/>
            <a:ext cx="1757413" cy="574196"/>
          </a:xfrm>
          <a:prstGeom prst="rect">
            <a:avLst/>
          </a:prstGeom>
        </p:spPr>
        <p:txBody>
          <a:bodyPr wrap="square" lIns="0" tIns="0" rIns="0" bIns="0" rtlCol="0" anchor="t">
            <a:spAutoFit/>
          </a:bodyPr>
          <a:lstStyle/>
          <a:p>
            <a:pPr algn="ctr">
              <a:lnSpc>
                <a:spcPts val="4759"/>
              </a:lnSpc>
            </a:pPr>
            <a:r>
              <a:rPr lang="en-US" sz="3399" dirty="0">
                <a:solidFill>
                  <a:srgbClr val="1D1D1F"/>
                </a:solidFill>
                <a:latin typeface="Canva Sans"/>
              </a:rPr>
              <a:t>Stage 3:</a:t>
            </a:r>
          </a:p>
        </p:txBody>
      </p:sp>
      <p:sp>
        <p:nvSpPr>
          <p:cNvPr id="48" name="TextBox 48"/>
          <p:cNvSpPr txBox="1"/>
          <p:nvPr/>
        </p:nvSpPr>
        <p:spPr>
          <a:xfrm>
            <a:off x="1036924" y="4121151"/>
            <a:ext cx="1743675" cy="574196"/>
          </a:xfrm>
          <a:prstGeom prst="rect">
            <a:avLst/>
          </a:prstGeom>
        </p:spPr>
        <p:txBody>
          <a:bodyPr wrap="square" lIns="0" tIns="0" rIns="0" bIns="0" rtlCol="0" anchor="t">
            <a:spAutoFit/>
          </a:bodyPr>
          <a:lstStyle/>
          <a:p>
            <a:pPr algn="ctr">
              <a:lnSpc>
                <a:spcPts val="4759"/>
              </a:lnSpc>
            </a:pPr>
            <a:r>
              <a:rPr lang="en-US" sz="3399" dirty="0">
                <a:solidFill>
                  <a:srgbClr val="1D1D1F"/>
                </a:solidFill>
                <a:latin typeface="Canva Sans"/>
              </a:rPr>
              <a:t>Stage 4:</a:t>
            </a:r>
          </a:p>
        </p:txBody>
      </p:sp>
      <p:sp>
        <p:nvSpPr>
          <p:cNvPr id="49" name="TextBox 49"/>
          <p:cNvSpPr txBox="1"/>
          <p:nvPr/>
        </p:nvSpPr>
        <p:spPr>
          <a:xfrm>
            <a:off x="1039976" y="1685291"/>
            <a:ext cx="1772584" cy="574196"/>
          </a:xfrm>
          <a:prstGeom prst="rect">
            <a:avLst/>
          </a:prstGeom>
        </p:spPr>
        <p:txBody>
          <a:bodyPr wrap="square" lIns="0" tIns="0" rIns="0" bIns="0" rtlCol="0" anchor="t">
            <a:spAutoFit/>
          </a:bodyPr>
          <a:lstStyle/>
          <a:p>
            <a:pPr algn="ctr">
              <a:lnSpc>
                <a:spcPts val="4759"/>
              </a:lnSpc>
            </a:pPr>
            <a:r>
              <a:rPr lang="en-US" sz="3399" dirty="0">
                <a:solidFill>
                  <a:srgbClr val="1D1D1F"/>
                </a:solidFill>
                <a:latin typeface="Canva Sans"/>
              </a:rPr>
              <a:t>Stage 5:</a:t>
            </a:r>
          </a:p>
        </p:txBody>
      </p:sp>
      <p:sp>
        <p:nvSpPr>
          <p:cNvPr id="50" name="TextBox 50"/>
          <p:cNvSpPr txBox="1"/>
          <p:nvPr/>
        </p:nvSpPr>
        <p:spPr>
          <a:xfrm>
            <a:off x="1028665" y="2903221"/>
            <a:ext cx="1757412" cy="574196"/>
          </a:xfrm>
          <a:prstGeom prst="rect">
            <a:avLst/>
          </a:prstGeom>
        </p:spPr>
        <p:txBody>
          <a:bodyPr wrap="square" lIns="0" tIns="0" rIns="0" bIns="0" rtlCol="0" anchor="t">
            <a:spAutoFit/>
          </a:bodyPr>
          <a:lstStyle/>
          <a:p>
            <a:pPr algn="ctr">
              <a:lnSpc>
                <a:spcPts val="4759"/>
              </a:lnSpc>
            </a:pPr>
            <a:r>
              <a:rPr lang="en-US" sz="3399" dirty="0">
                <a:solidFill>
                  <a:srgbClr val="1D1D1F"/>
                </a:solidFill>
                <a:latin typeface="Canva Sans"/>
              </a:rPr>
              <a:t>Stage 6:</a:t>
            </a:r>
          </a:p>
        </p:txBody>
      </p:sp>
      <p:sp>
        <p:nvSpPr>
          <p:cNvPr id="51" name="TextBox 51"/>
          <p:cNvSpPr txBox="1"/>
          <p:nvPr/>
        </p:nvSpPr>
        <p:spPr>
          <a:xfrm>
            <a:off x="1061034" y="3512186"/>
            <a:ext cx="1770875" cy="574196"/>
          </a:xfrm>
          <a:prstGeom prst="rect">
            <a:avLst/>
          </a:prstGeom>
        </p:spPr>
        <p:txBody>
          <a:bodyPr wrap="square" lIns="0" tIns="0" rIns="0" bIns="0" rtlCol="0" anchor="t">
            <a:spAutoFit/>
          </a:bodyPr>
          <a:lstStyle/>
          <a:p>
            <a:pPr algn="ctr">
              <a:lnSpc>
                <a:spcPts val="4759"/>
              </a:lnSpc>
            </a:pPr>
            <a:r>
              <a:rPr lang="en-US" sz="3399" dirty="0">
                <a:solidFill>
                  <a:srgbClr val="1D1D1F"/>
                </a:solidFill>
                <a:latin typeface="Canva Sans"/>
              </a:rPr>
              <a:t>Stage 7:</a:t>
            </a:r>
          </a:p>
        </p:txBody>
      </p:sp>
      <p:sp>
        <p:nvSpPr>
          <p:cNvPr id="52" name="TextBox 52"/>
          <p:cNvSpPr txBox="1"/>
          <p:nvPr/>
        </p:nvSpPr>
        <p:spPr>
          <a:xfrm>
            <a:off x="6294139" y="4219931"/>
            <a:ext cx="6135291" cy="396239"/>
          </a:xfrm>
          <a:prstGeom prst="rect">
            <a:avLst/>
          </a:prstGeom>
        </p:spPr>
        <p:txBody>
          <a:bodyPr lIns="0" tIns="0" rIns="0" bIns="0" rtlCol="0" anchor="t">
            <a:spAutoFit/>
          </a:bodyPr>
          <a:lstStyle/>
          <a:p>
            <a:pPr algn="ctr">
              <a:lnSpc>
                <a:spcPts val="3360"/>
              </a:lnSpc>
            </a:pPr>
            <a:r>
              <a:rPr lang="en-US" sz="2400">
                <a:solidFill>
                  <a:srgbClr val="1D1D1F"/>
                </a:solidFill>
                <a:latin typeface="Canva Sans"/>
              </a:rPr>
              <a:t>Extract row from Superheated properties </a:t>
            </a:r>
          </a:p>
        </p:txBody>
      </p:sp>
      <p:sp>
        <p:nvSpPr>
          <p:cNvPr id="53" name="TextBox 53"/>
          <p:cNvSpPr txBox="1"/>
          <p:nvPr/>
        </p:nvSpPr>
        <p:spPr>
          <a:xfrm>
            <a:off x="6294139" y="4881607"/>
            <a:ext cx="6135291" cy="396239"/>
          </a:xfrm>
          <a:prstGeom prst="rect">
            <a:avLst/>
          </a:prstGeom>
        </p:spPr>
        <p:txBody>
          <a:bodyPr lIns="0" tIns="0" rIns="0" bIns="0" rtlCol="0" anchor="t">
            <a:spAutoFit/>
          </a:bodyPr>
          <a:lstStyle/>
          <a:p>
            <a:pPr algn="ctr">
              <a:lnSpc>
                <a:spcPts val="3360"/>
              </a:lnSpc>
            </a:pPr>
            <a:r>
              <a:rPr lang="en-US" sz="2400">
                <a:solidFill>
                  <a:srgbClr val="1D1D1F"/>
                </a:solidFill>
                <a:latin typeface="Canva Sans"/>
              </a:rPr>
              <a:t>Extract row from Superheated properties </a:t>
            </a:r>
          </a:p>
        </p:txBody>
      </p:sp>
      <p:sp>
        <p:nvSpPr>
          <p:cNvPr id="54" name="TextBox 54"/>
          <p:cNvSpPr txBox="1"/>
          <p:nvPr/>
        </p:nvSpPr>
        <p:spPr>
          <a:xfrm>
            <a:off x="905093" y="9426944"/>
            <a:ext cx="14645872" cy="280669"/>
          </a:xfrm>
          <a:prstGeom prst="rect">
            <a:avLst/>
          </a:prstGeom>
        </p:spPr>
        <p:txBody>
          <a:bodyPr lIns="0" tIns="0" rIns="0" bIns="0" rtlCol="0" anchor="t">
            <a:spAutoFit/>
          </a:bodyPr>
          <a:lstStyle/>
          <a:p>
            <a:pPr>
              <a:lnSpc>
                <a:spcPts val="2380"/>
              </a:lnSpc>
            </a:pPr>
            <a:r>
              <a:rPr lang="en-US" sz="1700">
                <a:solidFill>
                  <a:srgbClr val="1D1D1F"/>
                </a:solidFill>
                <a:latin typeface="Canva Sans"/>
              </a:rPr>
              <a:t>https://web.iiar.org/membersonly/PDF/CO/databook_AppA.pdf</a:t>
            </a:r>
          </a:p>
        </p:txBody>
      </p:sp>
      <p:sp>
        <p:nvSpPr>
          <p:cNvPr id="55" name="AutoShape 55"/>
          <p:cNvSpPr/>
          <p:nvPr/>
        </p:nvSpPr>
        <p:spPr>
          <a:xfrm>
            <a:off x="12795258" y="8727132"/>
            <a:ext cx="5487492" cy="19050"/>
          </a:xfrm>
          <a:prstGeom prst="line">
            <a:avLst/>
          </a:prstGeom>
          <a:ln w="38100" cap="flat">
            <a:solidFill>
              <a:srgbClr val="000000"/>
            </a:solidFill>
            <a:prstDash val="solid"/>
            <a:headEnd type="none" w="sm" len="sm"/>
            <a:tailEnd type="none" w="sm" len="sm"/>
          </a:ln>
        </p:spPr>
        <p:txBody>
          <a:bodyPr/>
          <a:lstStyle/>
          <a:p>
            <a:endParaRPr lang="en-GB"/>
          </a:p>
        </p:txBody>
      </p:sp>
      <p:sp>
        <p:nvSpPr>
          <p:cNvPr id="56" name="AutoShape 56"/>
          <p:cNvSpPr/>
          <p:nvPr/>
        </p:nvSpPr>
        <p:spPr>
          <a:xfrm flipV="1">
            <a:off x="12795258" y="3984950"/>
            <a:ext cx="0" cy="4761232"/>
          </a:xfrm>
          <a:prstGeom prst="line">
            <a:avLst/>
          </a:prstGeom>
          <a:ln w="38100" cap="flat">
            <a:solidFill>
              <a:srgbClr val="000000"/>
            </a:solidFill>
            <a:prstDash val="solid"/>
            <a:headEnd type="none" w="sm" len="sm"/>
            <a:tailEnd type="none" w="sm" len="sm"/>
          </a:ln>
        </p:spPr>
        <p:txBody>
          <a:bodyPr/>
          <a:lstStyle/>
          <a:p>
            <a:endParaRPr lang="en-GB"/>
          </a:p>
        </p:txBody>
      </p:sp>
      <p:grpSp>
        <p:nvGrpSpPr>
          <p:cNvPr id="57" name="Group 57"/>
          <p:cNvGrpSpPr/>
          <p:nvPr/>
        </p:nvGrpSpPr>
        <p:grpSpPr>
          <a:xfrm>
            <a:off x="13023858" y="4299275"/>
            <a:ext cx="4104322" cy="4251960"/>
            <a:chOff x="0" y="0"/>
            <a:chExt cx="5472430" cy="5669280"/>
          </a:xfrm>
        </p:grpSpPr>
        <p:sp>
          <p:nvSpPr>
            <p:cNvPr id="58" name="Freeform 58"/>
            <p:cNvSpPr/>
            <p:nvPr/>
          </p:nvSpPr>
          <p:spPr>
            <a:xfrm>
              <a:off x="50800" y="45720"/>
              <a:ext cx="5378450" cy="5575300"/>
            </a:xfrm>
            <a:custGeom>
              <a:avLst/>
              <a:gdLst/>
              <a:ahLst/>
              <a:cxnLst/>
              <a:rect l="l" t="t" r="r" b="b"/>
              <a:pathLst>
                <a:path w="5378450" h="5575300">
                  <a:moveTo>
                    <a:pt x="0" y="5190490"/>
                  </a:moveTo>
                  <a:cubicBezTo>
                    <a:pt x="6350" y="5058410"/>
                    <a:pt x="20320" y="5021580"/>
                    <a:pt x="35560" y="4983480"/>
                  </a:cubicBezTo>
                  <a:cubicBezTo>
                    <a:pt x="53340" y="4941570"/>
                    <a:pt x="77470" y="4908550"/>
                    <a:pt x="99060" y="4853940"/>
                  </a:cubicBezTo>
                  <a:cubicBezTo>
                    <a:pt x="133350" y="4767580"/>
                    <a:pt x="165100" y="4655820"/>
                    <a:pt x="204470" y="4508500"/>
                  </a:cubicBezTo>
                  <a:cubicBezTo>
                    <a:pt x="271780" y="4259580"/>
                    <a:pt x="365760" y="3820160"/>
                    <a:pt x="449580" y="3486150"/>
                  </a:cubicBezTo>
                  <a:cubicBezTo>
                    <a:pt x="532130" y="3163570"/>
                    <a:pt x="627380" y="2780030"/>
                    <a:pt x="701040" y="2540000"/>
                  </a:cubicBezTo>
                  <a:cubicBezTo>
                    <a:pt x="748030" y="2387600"/>
                    <a:pt x="791210" y="2268220"/>
                    <a:pt x="831850" y="2172970"/>
                  </a:cubicBezTo>
                  <a:cubicBezTo>
                    <a:pt x="858520" y="2110740"/>
                    <a:pt x="877570" y="2086610"/>
                    <a:pt x="906780" y="2019300"/>
                  </a:cubicBezTo>
                  <a:cubicBezTo>
                    <a:pt x="960120" y="1901190"/>
                    <a:pt x="1037590" y="1675130"/>
                    <a:pt x="1109980" y="1518920"/>
                  </a:cubicBezTo>
                  <a:cubicBezTo>
                    <a:pt x="1176020" y="1374140"/>
                    <a:pt x="1244600" y="1240790"/>
                    <a:pt x="1322070" y="1111250"/>
                  </a:cubicBezTo>
                  <a:cubicBezTo>
                    <a:pt x="1397000" y="982980"/>
                    <a:pt x="1465580" y="862330"/>
                    <a:pt x="1563370" y="741680"/>
                  </a:cubicBezTo>
                  <a:cubicBezTo>
                    <a:pt x="1673860" y="605790"/>
                    <a:pt x="1819910" y="452120"/>
                    <a:pt x="1962150" y="341630"/>
                  </a:cubicBezTo>
                  <a:cubicBezTo>
                    <a:pt x="2094230" y="237490"/>
                    <a:pt x="2272030" y="140970"/>
                    <a:pt x="2381250" y="90170"/>
                  </a:cubicBezTo>
                  <a:cubicBezTo>
                    <a:pt x="2447290" y="59690"/>
                    <a:pt x="2477770" y="46990"/>
                    <a:pt x="2545080" y="33020"/>
                  </a:cubicBezTo>
                  <a:cubicBezTo>
                    <a:pt x="2649220" y="12700"/>
                    <a:pt x="2835910" y="10160"/>
                    <a:pt x="2952750" y="6350"/>
                  </a:cubicBezTo>
                  <a:cubicBezTo>
                    <a:pt x="3040380" y="2540"/>
                    <a:pt x="3093720" y="0"/>
                    <a:pt x="3182620" y="5080"/>
                  </a:cubicBezTo>
                  <a:cubicBezTo>
                    <a:pt x="3310890" y="12700"/>
                    <a:pt x="3506470" y="33020"/>
                    <a:pt x="3646170" y="57150"/>
                  </a:cubicBezTo>
                  <a:cubicBezTo>
                    <a:pt x="3765550" y="78740"/>
                    <a:pt x="3878580" y="104140"/>
                    <a:pt x="3972560" y="133350"/>
                  </a:cubicBezTo>
                  <a:cubicBezTo>
                    <a:pt x="4046220" y="157480"/>
                    <a:pt x="4088130" y="173990"/>
                    <a:pt x="4164330" y="214630"/>
                  </a:cubicBezTo>
                  <a:cubicBezTo>
                    <a:pt x="4292600" y="280670"/>
                    <a:pt x="4538980" y="430530"/>
                    <a:pt x="4655820" y="521970"/>
                  </a:cubicBezTo>
                  <a:cubicBezTo>
                    <a:pt x="4729480" y="579120"/>
                    <a:pt x="4784090" y="631190"/>
                    <a:pt x="4822190" y="680720"/>
                  </a:cubicBezTo>
                  <a:cubicBezTo>
                    <a:pt x="4847590" y="716280"/>
                    <a:pt x="4852670" y="749300"/>
                    <a:pt x="4874260" y="781050"/>
                  </a:cubicBezTo>
                  <a:cubicBezTo>
                    <a:pt x="4897120" y="815340"/>
                    <a:pt x="4927600" y="835660"/>
                    <a:pt x="4958080" y="880110"/>
                  </a:cubicBezTo>
                  <a:cubicBezTo>
                    <a:pt x="5006340" y="952500"/>
                    <a:pt x="5074920" y="1083310"/>
                    <a:pt x="5119370" y="1187450"/>
                  </a:cubicBezTo>
                  <a:cubicBezTo>
                    <a:pt x="5162550" y="1286510"/>
                    <a:pt x="5189220" y="1369060"/>
                    <a:pt x="5220970" y="1487170"/>
                  </a:cubicBezTo>
                  <a:cubicBezTo>
                    <a:pt x="5265420" y="1652270"/>
                    <a:pt x="5316220" y="1925320"/>
                    <a:pt x="5341620" y="2091690"/>
                  </a:cubicBezTo>
                  <a:cubicBezTo>
                    <a:pt x="5358130" y="2207260"/>
                    <a:pt x="5365750" y="2288540"/>
                    <a:pt x="5369560" y="2388870"/>
                  </a:cubicBezTo>
                  <a:cubicBezTo>
                    <a:pt x="5374640" y="2491740"/>
                    <a:pt x="5378450" y="2599690"/>
                    <a:pt x="5370830" y="2698750"/>
                  </a:cubicBezTo>
                  <a:cubicBezTo>
                    <a:pt x="5363210" y="2791460"/>
                    <a:pt x="5346700" y="2912110"/>
                    <a:pt x="5330190" y="2965450"/>
                  </a:cubicBezTo>
                  <a:cubicBezTo>
                    <a:pt x="5322570" y="2988310"/>
                    <a:pt x="5313680" y="2992120"/>
                    <a:pt x="5306060" y="3013710"/>
                  </a:cubicBezTo>
                  <a:cubicBezTo>
                    <a:pt x="5293360" y="3053080"/>
                    <a:pt x="5284470" y="3135630"/>
                    <a:pt x="5280660" y="3190240"/>
                  </a:cubicBezTo>
                  <a:cubicBezTo>
                    <a:pt x="5276850" y="3237230"/>
                    <a:pt x="5281930" y="3271520"/>
                    <a:pt x="5278120" y="3321050"/>
                  </a:cubicBezTo>
                  <a:cubicBezTo>
                    <a:pt x="5271770" y="3389630"/>
                    <a:pt x="5255260" y="3467100"/>
                    <a:pt x="5237480" y="3561080"/>
                  </a:cubicBezTo>
                  <a:cubicBezTo>
                    <a:pt x="5213350" y="3695700"/>
                    <a:pt x="5175250" y="3930650"/>
                    <a:pt x="5142230" y="4048760"/>
                  </a:cubicBezTo>
                  <a:cubicBezTo>
                    <a:pt x="5123180" y="4117340"/>
                    <a:pt x="5095240" y="4156710"/>
                    <a:pt x="5083810" y="4208780"/>
                  </a:cubicBezTo>
                  <a:cubicBezTo>
                    <a:pt x="5072380" y="4257040"/>
                    <a:pt x="5081270" y="4296410"/>
                    <a:pt x="5067300" y="4348480"/>
                  </a:cubicBezTo>
                  <a:cubicBezTo>
                    <a:pt x="5049520" y="4423410"/>
                    <a:pt x="4989830" y="4532630"/>
                    <a:pt x="4966970" y="4607560"/>
                  </a:cubicBezTo>
                  <a:cubicBezTo>
                    <a:pt x="4949190" y="4664710"/>
                    <a:pt x="4949190" y="4699000"/>
                    <a:pt x="4932680" y="4758690"/>
                  </a:cubicBezTo>
                  <a:cubicBezTo>
                    <a:pt x="4907280" y="4853940"/>
                    <a:pt x="4852670" y="4988560"/>
                    <a:pt x="4815840" y="5114290"/>
                  </a:cubicBezTo>
                  <a:cubicBezTo>
                    <a:pt x="4776470" y="5252720"/>
                    <a:pt x="4732020" y="5505450"/>
                    <a:pt x="4706620" y="5553710"/>
                  </a:cubicBezTo>
                  <a:cubicBezTo>
                    <a:pt x="4701540" y="5565140"/>
                    <a:pt x="4697730" y="5570220"/>
                    <a:pt x="4691380" y="5572760"/>
                  </a:cubicBezTo>
                  <a:cubicBezTo>
                    <a:pt x="4685030" y="5575300"/>
                    <a:pt x="4673600" y="5574030"/>
                    <a:pt x="4668520" y="5570220"/>
                  </a:cubicBezTo>
                  <a:cubicBezTo>
                    <a:pt x="4662170" y="5566410"/>
                    <a:pt x="4655820" y="5556250"/>
                    <a:pt x="4657090" y="5549900"/>
                  </a:cubicBezTo>
                  <a:cubicBezTo>
                    <a:pt x="4657090" y="5541010"/>
                    <a:pt x="4667250" y="5527040"/>
                    <a:pt x="4674870" y="5524500"/>
                  </a:cubicBezTo>
                  <a:cubicBezTo>
                    <a:pt x="4681220" y="5521960"/>
                    <a:pt x="4692650" y="5524500"/>
                    <a:pt x="4697730" y="5529580"/>
                  </a:cubicBezTo>
                  <a:cubicBezTo>
                    <a:pt x="4704080" y="5533390"/>
                    <a:pt x="4707890" y="5544820"/>
                    <a:pt x="4706620" y="5551170"/>
                  </a:cubicBezTo>
                  <a:cubicBezTo>
                    <a:pt x="4706620" y="5558790"/>
                    <a:pt x="4700270" y="5568950"/>
                    <a:pt x="4693920" y="5571490"/>
                  </a:cubicBezTo>
                  <a:cubicBezTo>
                    <a:pt x="4686300" y="5575300"/>
                    <a:pt x="4669790" y="5572760"/>
                    <a:pt x="4663440" y="5566410"/>
                  </a:cubicBezTo>
                  <a:cubicBezTo>
                    <a:pt x="4658360" y="5562600"/>
                    <a:pt x="4657090" y="5554980"/>
                    <a:pt x="4657090" y="5543550"/>
                  </a:cubicBezTo>
                  <a:cubicBezTo>
                    <a:pt x="4655820" y="5518150"/>
                    <a:pt x="4674870" y="5447030"/>
                    <a:pt x="4686300" y="5414010"/>
                  </a:cubicBezTo>
                  <a:cubicBezTo>
                    <a:pt x="4693920" y="5391150"/>
                    <a:pt x="4705350" y="5383530"/>
                    <a:pt x="4712970" y="5358130"/>
                  </a:cubicBezTo>
                  <a:cubicBezTo>
                    <a:pt x="4728210" y="5311140"/>
                    <a:pt x="4732020" y="5228590"/>
                    <a:pt x="4753610" y="5148580"/>
                  </a:cubicBezTo>
                  <a:cubicBezTo>
                    <a:pt x="4781550" y="5036820"/>
                    <a:pt x="4853940" y="4857750"/>
                    <a:pt x="4883150" y="4753610"/>
                  </a:cubicBezTo>
                  <a:cubicBezTo>
                    <a:pt x="4900930" y="4687570"/>
                    <a:pt x="4900930" y="4648200"/>
                    <a:pt x="4919980" y="4588510"/>
                  </a:cubicBezTo>
                  <a:cubicBezTo>
                    <a:pt x="4942840" y="4513580"/>
                    <a:pt x="4997450" y="4417060"/>
                    <a:pt x="5017770" y="4342130"/>
                  </a:cubicBezTo>
                  <a:cubicBezTo>
                    <a:pt x="5033010" y="4284980"/>
                    <a:pt x="5026660" y="4235450"/>
                    <a:pt x="5039360" y="4183380"/>
                  </a:cubicBezTo>
                  <a:cubicBezTo>
                    <a:pt x="5053330" y="4131310"/>
                    <a:pt x="5078730" y="4102100"/>
                    <a:pt x="5099050" y="4030980"/>
                  </a:cubicBezTo>
                  <a:cubicBezTo>
                    <a:pt x="5140960" y="3882390"/>
                    <a:pt x="5201920" y="3509010"/>
                    <a:pt x="5227320" y="3321050"/>
                  </a:cubicBezTo>
                  <a:cubicBezTo>
                    <a:pt x="5243830" y="3199130"/>
                    <a:pt x="5240020" y="3079750"/>
                    <a:pt x="5255260" y="3014980"/>
                  </a:cubicBezTo>
                  <a:cubicBezTo>
                    <a:pt x="5262880" y="2983230"/>
                    <a:pt x="5271770" y="2976880"/>
                    <a:pt x="5280660" y="2946400"/>
                  </a:cubicBezTo>
                  <a:cubicBezTo>
                    <a:pt x="5294630" y="2890520"/>
                    <a:pt x="5312410" y="2788920"/>
                    <a:pt x="5320030" y="2698750"/>
                  </a:cubicBezTo>
                  <a:cubicBezTo>
                    <a:pt x="5327650" y="2594610"/>
                    <a:pt x="5325110" y="2476500"/>
                    <a:pt x="5317490" y="2354580"/>
                  </a:cubicBezTo>
                  <a:cubicBezTo>
                    <a:pt x="5308600" y="2214880"/>
                    <a:pt x="5287010" y="2053590"/>
                    <a:pt x="5262880" y="1907540"/>
                  </a:cubicBezTo>
                  <a:cubicBezTo>
                    <a:pt x="5238750" y="1766570"/>
                    <a:pt x="5205730" y="1616710"/>
                    <a:pt x="5171440" y="1493520"/>
                  </a:cubicBezTo>
                  <a:cubicBezTo>
                    <a:pt x="5143500" y="1390650"/>
                    <a:pt x="5118100" y="1309370"/>
                    <a:pt x="5078730" y="1216660"/>
                  </a:cubicBezTo>
                  <a:cubicBezTo>
                    <a:pt x="5035550" y="1116330"/>
                    <a:pt x="4961890" y="972820"/>
                    <a:pt x="4919980" y="913130"/>
                  </a:cubicBezTo>
                  <a:cubicBezTo>
                    <a:pt x="4899660" y="886460"/>
                    <a:pt x="4884420" y="882650"/>
                    <a:pt x="4866640" y="858520"/>
                  </a:cubicBezTo>
                  <a:cubicBezTo>
                    <a:pt x="4841240" y="824230"/>
                    <a:pt x="4823460" y="764540"/>
                    <a:pt x="4789170" y="718820"/>
                  </a:cubicBezTo>
                  <a:cubicBezTo>
                    <a:pt x="4748530" y="666750"/>
                    <a:pt x="4701540" y="619760"/>
                    <a:pt x="4635500" y="566420"/>
                  </a:cubicBezTo>
                  <a:cubicBezTo>
                    <a:pt x="4540250" y="490220"/>
                    <a:pt x="4370070" y="388620"/>
                    <a:pt x="4257040" y="322580"/>
                  </a:cubicBezTo>
                  <a:cubicBezTo>
                    <a:pt x="4169410" y="273050"/>
                    <a:pt x="4091940" y="231140"/>
                    <a:pt x="4018280" y="200660"/>
                  </a:cubicBezTo>
                  <a:cubicBezTo>
                    <a:pt x="3957320" y="175260"/>
                    <a:pt x="3910330" y="163830"/>
                    <a:pt x="3845560" y="148590"/>
                  </a:cubicBezTo>
                  <a:cubicBezTo>
                    <a:pt x="3768090" y="128270"/>
                    <a:pt x="3669030" y="106680"/>
                    <a:pt x="3581400" y="96520"/>
                  </a:cubicBezTo>
                  <a:cubicBezTo>
                    <a:pt x="3493770" y="85090"/>
                    <a:pt x="3390900" y="88900"/>
                    <a:pt x="3321050" y="80010"/>
                  </a:cubicBezTo>
                  <a:cubicBezTo>
                    <a:pt x="3271520" y="73660"/>
                    <a:pt x="3253740" y="60960"/>
                    <a:pt x="3197860" y="55880"/>
                  </a:cubicBezTo>
                  <a:cubicBezTo>
                    <a:pt x="3081020" y="46990"/>
                    <a:pt x="2772410" y="63500"/>
                    <a:pt x="2653030" y="72390"/>
                  </a:cubicBezTo>
                  <a:cubicBezTo>
                    <a:pt x="2593340" y="77470"/>
                    <a:pt x="2562860" y="77470"/>
                    <a:pt x="2519680" y="88900"/>
                  </a:cubicBezTo>
                  <a:cubicBezTo>
                    <a:pt x="2477770" y="99060"/>
                    <a:pt x="2449830" y="113030"/>
                    <a:pt x="2399030" y="138430"/>
                  </a:cubicBezTo>
                  <a:cubicBezTo>
                    <a:pt x="2302510" y="186690"/>
                    <a:pt x="2122170" y="279400"/>
                    <a:pt x="1995170" y="378460"/>
                  </a:cubicBezTo>
                  <a:cubicBezTo>
                    <a:pt x="1856740" y="486410"/>
                    <a:pt x="1718310" y="631190"/>
                    <a:pt x="1604010" y="772160"/>
                  </a:cubicBezTo>
                  <a:cubicBezTo>
                    <a:pt x="1494790" y="908050"/>
                    <a:pt x="1397000" y="1075690"/>
                    <a:pt x="1319530" y="1209040"/>
                  </a:cubicBezTo>
                  <a:cubicBezTo>
                    <a:pt x="1259840" y="1313180"/>
                    <a:pt x="1229360" y="1377950"/>
                    <a:pt x="1174750" y="1496060"/>
                  </a:cubicBezTo>
                  <a:cubicBezTo>
                    <a:pt x="1088390" y="1680210"/>
                    <a:pt x="949960" y="2004060"/>
                    <a:pt x="869950" y="2211070"/>
                  </a:cubicBezTo>
                  <a:cubicBezTo>
                    <a:pt x="808990" y="2368550"/>
                    <a:pt x="765810" y="2487930"/>
                    <a:pt x="723900" y="2628900"/>
                  </a:cubicBezTo>
                  <a:cubicBezTo>
                    <a:pt x="683260" y="2769870"/>
                    <a:pt x="661670" y="2915920"/>
                    <a:pt x="623570" y="3058160"/>
                  </a:cubicBezTo>
                  <a:cubicBezTo>
                    <a:pt x="586740" y="3202940"/>
                    <a:pt x="542290" y="3329940"/>
                    <a:pt x="500380" y="3489960"/>
                  </a:cubicBezTo>
                  <a:cubicBezTo>
                    <a:pt x="449580" y="3688080"/>
                    <a:pt x="389890" y="3991610"/>
                    <a:pt x="346710" y="4157980"/>
                  </a:cubicBezTo>
                  <a:cubicBezTo>
                    <a:pt x="318770" y="4258310"/>
                    <a:pt x="289560" y="4330700"/>
                    <a:pt x="274320" y="4399280"/>
                  </a:cubicBezTo>
                  <a:cubicBezTo>
                    <a:pt x="262890" y="4447540"/>
                    <a:pt x="265430" y="4472940"/>
                    <a:pt x="252730" y="4525010"/>
                  </a:cubicBezTo>
                  <a:cubicBezTo>
                    <a:pt x="231140" y="4613910"/>
                    <a:pt x="181610" y="4779010"/>
                    <a:pt x="144780" y="4876800"/>
                  </a:cubicBezTo>
                  <a:cubicBezTo>
                    <a:pt x="118110" y="4949190"/>
                    <a:pt x="76200" y="5002530"/>
                    <a:pt x="60960" y="5060950"/>
                  </a:cubicBezTo>
                  <a:cubicBezTo>
                    <a:pt x="49530" y="5107940"/>
                    <a:pt x="64770" y="5173980"/>
                    <a:pt x="50800" y="5196840"/>
                  </a:cubicBezTo>
                  <a:cubicBezTo>
                    <a:pt x="44450" y="5208270"/>
                    <a:pt x="31750" y="5217160"/>
                    <a:pt x="22860" y="5215890"/>
                  </a:cubicBezTo>
                  <a:cubicBezTo>
                    <a:pt x="13970" y="5214620"/>
                    <a:pt x="0" y="5190490"/>
                    <a:pt x="0" y="5190490"/>
                  </a:cubicBezTo>
                </a:path>
              </a:pathLst>
            </a:custGeom>
            <a:solidFill>
              <a:srgbClr val="0571D3"/>
            </a:solidFill>
            <a:ln cap="sq">
              <a:noFill/>
              <a:prstDash val="solid"/>
              <a:miter/>
            </a:ln>
          </p:spPr>
          <p:txBody>
            <a:bodyPr/>
            <a:lstStyle/>
            <a:p>
              <a:endParaRPr lang="en-GB"/>
            </a:p>
          </p:txBody>
        </p:sp>
      </p:grpSp>
      <p:sp>
        <p:nvSpPr>
          <p:cNvPr id="59" name="AutoShape 59"/>
          <p:cNvSpPr/>
          <p:nvPr/>
        </p:nvSpPr>
        <p:spPr>
          <a:xfrm>
            <a:off x="13827369" y="7871619"/>
            <a:ext cx="2909417" cy="11798"/>
          </a:xfrm>
          <a:prstGeom prst="line">
            <a:avLst/>
          </a:prstGeom>
          <a:ln w="38100" cap="flat">
            <a:solidFill>
              <a:srgbClr val="000000"/>
            </a:solidFill>
            <a:prstDash val="sysDash"/>
            <a:headEnd type="none" w="sm" len="sm"/>
            <a:tailEnd type="none" w="sm" len="sm"/>
          </a:ln>
        </p:spPr>
        <p:txBody>
          <a:bodyPr/>
          <a:lstStyle/>
          <a:p>
            <a:endParaRPr lang="en-GB"/>
          </a:p>
        </p:txBody>
      </p:sp>
      <p:sp>
        <p:nvSpPr>
          <p:cNvPr id="60" name="AutoShape 60"/>
          <p:cNvSpPr/>
          <p:nvPr/>
        </p:nvSpPr>
        <p:spPr>
          <a:xfrm flipV="1">
            <a:off x="13827471" y="6813274"/>
            <a:ext cx="3759087" cy="7252"/>
          </a:xfrm>
          <a:prstGeom prst="line">
            <a:avLst/>
          </a:prstGeom>
          <a:ln w="38100" cap="flat">
            <a:solidFill>
              <a:srgbClr val="000000"/>
            </a:solidFill>
            <a:prstDash val="sysDash"/>
            <a:headEnd type="none" w="sm" len="sm"/>
            <a:tailEnd type="none" w="sm" len="sm"/>
          </a:ln>
        </p:spPr>
        <p:txBody>
          <a:bodyPr/>
          <a:lstStyle/>
          <a:p>
            <a:endParaRPr lang="en-GB"/>
          </a:p>
        </p:txBody>
      </p:sp>
      <p:sp>
        <p:nvSpPr>
          <p:cNvPr id="61" name="AutoShape 61"/>
          <p:cNvSpPr/>
          <p:nvPr/>
        </p:nvSpPr>
        <p:spPr>
          <a:xfrm flipV="1">
            <a:off x="16751743" y="6813274"/>
            <a:ext cx="834815" cy="1058345"/>
          </a:xfrm>
          <a:prstGeom prst="line">
            <a:avLst/>
          </a:prstGeom>
          <a:ln w="38100" cap="flat">
            <a:solidFill>
              <a:srgbClr val="000000"/>
            </a:solidFill>
            <a:prstDash val="sysDash"/>
            <a:headEnd type="none" w="sm" len="sm"/>
            <a:tailEnd type="none" w="sm" len="sm"/>
          </a:ln>
        </p:spPr>
        <p:txBody>
          <a:bodyPr/>
          <a:lstStyle/>
          <a:p>
            <a:endParaRPr lang="en-GB"/>
          </a:p>
        </p:txBody>
      </p:sp>
      <p:sp>
        <p:nvSpPr>
          <p:cNvPr id="62" name="AutoShape 62"/>
          <p:cNvSpPr/>
          <p:nvPr/>
        </p:nvSpPr>
        <p:spPr>
          <a:xfrm flipV="1">
            <a:off x="13808319" y="5724082"/>
            <a:ext cx="4087714" cy="19050"/>
          </a:xfrm>
          <a:prstGeom prst="line">
            <a:avLst/>
          </a:prstGeom>
          <a:ln w="38100" cap="flat">
            <a:solidFill>
              <a:srgbClr val="000000"/>
            </a:solidFill>
            <a:prstDash val="sysDash"/>
            <a:headEnd type="none" w="sm" len="sm"/>
            <a:tailEnd type="none" w="sm" len="sm"/>
          </a:ln>
        </p:spPr>
        <p:txBody>
          <a:bodyPr/>
          <a:lstStyle/>
          <a:p>
            <a:endParaRPr lang="en-GB"/>
          </a:p>
        </p:txBody>
      </p:sp>
      <p:sp>
        <p:nvSpPr>
          <p:cNvPr id="63" name="AutoShape 63"/>
          <p:cNvSpPr/>
          <p:nvPr/>
        </p:nvSpPr>
        <p:spPr>
          <a:xfrm flipV="1">
            <a:off x="17061319" y="5743132"/>
            <a:ext cx="834815" cy="1058345"/>
          </a:xfrm>
          <a:prstGeom prst="line">
            <a:avLst/>
          </a:prstGeom>
          <a:ln w="38100" cap="flat">
            <a:solidFill>
              <a:srgbClr val="000000"/>
            </a:solidFill>
            <a:prstDash val="sysDash"/>
            <a:headEnd type="none" w="sm" len="sm"/>
            <a:tailEnd type="none" w="sm" len="sm"/>
          </a:ln>
        </p:spPr>
        <p:txBody>
          <a:bodyPr/>
          <a:lstStyle/>
          <a:p>
            <a:endParaRPr lang="en-GB"/>
          </a:p>
        </p:txBody>
      </p:sp>
      <p:sp>
        <p:nvSpPr>
          <p:cNvPr id="64" name="AutoShape 64"/>
          <p:cNvSpPr/>
          <p:nvPr/>
        </p:nvSpPr>
        <p:spPr>
          <a:xfrm flipV="1">
            <a:off x="13808319" y="5724082"/>
            <a:ext cx="0" cy="2147537"/>
          </a:xfrm>
          <a:prstGeom prst="line">
            <a:avLst/>
          </a:prstGeom>
          <a:ln w="38100" cap="flat">
            <a:solidFill>
              <a:srgbClr val="000000"/>
            </a:solidFill>
            <a:prstDash val="sysDash"/>
            <a:headEnd type="none" w="sm" len="sm"/>
            <a:tailEnd type="none" w="sm" len="sm"/>
          </a:ln>
        </p:spPr>
        <p:txBody>
          <a:bodyPr/>
          <a:lstStyle/>
          <a:p>
            <a:endParaRPr lang="en-GB"/>
          </a:p>
        </p:txBody>
      </p:sp>
      <p:sp>
        <p:nvSpPr>
          <p:cNvPr id="65" name="TextBox 65"/>
          <p:cNvSpPr txBox="1"/>
          <p:nvPr/>
        </p:nvSpPr>
        <p:spPr>
          <a:xfrm>
            <a:off x="16856843" y="7835792"/>
            <a:ext cx="135285" cy="349249"/>
          </a:xfrm>
          <a:prstGeom prst="rect">
            <a:avLst/>
          </a:prstGeom>
        </p:spPr>
        <p:txBody>
          <a:bodyPr lIns="0" tIns="0" rIns="0" bIns="0" rtlCol="0" anchor="t">
            <a:spAutoFit/>
          </a:bodyPr>
          <a:lstStyle/>
          <a:p>
            <a:pPr algn="ctr">
              <a:lnSpc>
                <a:spcPts val="2800"/>
              </a:lnSpc>
            </a:pPr>
            <a:r>
              <a:rPr lang="en-US" sz="2000">
                <a:solidFill>
                  <a:srgbClr val="1D1D1F"/>
                </a:solidFill>
                <a:latin typeface="Canva Sans"/>
              </a:rPr>
              <a:t>1</a:t>
            </a:r>
          </a:p>
        </p:txBody>
      </p:sp>
      <p:sp>
        <p:nvSpPr>
          <p:cNvPr id="66" name="TextBox 66"/>
          <p:cNvSpPr txBox="1"/>
          <p:nvPr/>
        </p:nvSpPr>
        <p:spPr>
          <a:xfrm>
            <a:off x="17663778" y="6753851"/>
            <a:ext cx="139452" cy="349249"/>
          </a:xfrm>
          <a:prstGeom prst="rect">
            <a:avLst/>
          </a:prstGeom>
        </p:spPr>
        <p:txBody>
          <a:bodyPr lIns="0" tIns="0" rIns="0" bIns="0" rtlCol="0" anchor="t">
            <a:spAutoFit/>
          </a:bodyPr>
          <a:lstStyle/>
          <a:p>
            <a:pPr algn="ctr">
              <a:lnSpc>
                <a:spcPts val="2800"/>
              </a:lnSpc>
            </a:pPr>
            <a:r>
              <a:rPr lang="en-US" sz="2000">
                <a:solidFill>
                  <a:srgbClr val="1D1D1F"/>
                </a:solidFill>
                <a:latin typeface="Canva Sans"/>
              </a:rPr>
              <a:t>2</a:t>
            </a:r>
          </a:p>
        </p:txBody>
      </p:sp>
      <p:sp>
        <p:nvSpPr>
          <p:cNvPr id="67" name="TextBox 67"/>
          <p:cNvSpPr txBox="1"/>
          <p:nvPr/>
        </p:nvSpPr>
        <p:spPr>
          <a:xfrm>
            <a:off x="16747800" y="6452227"/>
            <a:ext cx="147340" cy="349249"/>
          </a:xfrm>
          <a:prstGeom prst="rect">
            <a:avLst/>
          </a:prstGeom>
        </p:spPr>
        <p:txBody>
          <a:bodyPr lIns="0" tIns="0" rIns="0" bIns="0" rtlCol="0" anchor="t">
            <a:spAutoFit/>
          </a:bodyPr>
          <a:lstStyle/>
          <a:p>
            <a:pPr algn="ctr">
              <a:lnSpc>
                <a:spcPts val="2800"/>
              </a:lnSpc>
            </a:pPr>
            <a:r>
              <a:rPr lang="en-US" sz="2000">
                <a:solidFill>
                  <a:srgbClr val="1D1D1F"/>
                </a:solidFill>
                <a:latin typeface="Canva Sans"/>
              </a:rPr>
              <a:t>3</a:t>
            </a:r>
          </a:p>
        </p:txBody>
      </p:sp>
      <p:sp>
        <p:nvSpPr>
          <p:cNvPr id="68" name="TextBox 68"/>
          <p:cNvSpPr txBox="1"/>
          <p:nvPr/>
        </p:nvSpPr>
        <p:spPr>
          <a:xfrm>
            <a:off x="18001312" y="5525645"/>
            <a:ext cx="153739" cy="349249"/>
          </a:xfrm>
          <a:prstGeom prst="rect">
            <a:avLst/>
          </a:prstGeom>
        </p:spPr>
        <p:txBody>
          <a:bodyPr lIns="0" tIns="0" rIns="0" bIns="0" rtlCol="0" anchor="t">
            <a:spAutoFit/>
          </a:bodyPr>
          <a:lstStyle/>
          <a:p>
            <a:pPr algn="ctr">
              <a:lnSpc>
                <a:spcPts val="2800"/>
              </a:lnSpc>
            </a:pPr>
            <a:r>
              <a:rPr lang="en-US" sz="2000">
                <a:solidFill>
                  <a:srgbClr val="1D1D1F"/>
                </a:solidFill>
                <a:latin typeface="Canva Sans"/>
              </a:rPr>
              <a:t>4</a:t>
            </a:r>
          </a:p>
        </p:txBody>
      </p:sp>
      <p:sp>
        <p:nvSpPr>
          <p:cNvPr id="69" name="TextBox 69"/>
          <p:cNvSpPr txBox="1"/>
          <p:nvPr/>
        </p:nvSpPr>
        <p:spPr>
          <a:xfrm>
            <a:off x="13656366" y="5374833"/>
            <a:ext cx="150168" cy="349249"/>
          </a:xfrm>
          <a:prstGeom prst="rect">
            <a:avLst/>
          </a:prstGeom>
        </p:spPr>
        <p:txBody>
          <a:bodyPr lIns="0" tIns="0" rIns="0" bIns="0" rtlCol="0" anchor="t">
            <a:spAutoFit/>
          </a:bodyPr>
          <a:lstStyle/>
          <a:p>
            <a:pPr algn="ctr">
              <a:lnSpc>
                <a:spcPts val="2800"/>
              </a:lnSpc>
            </a:pPr>
            <a:r>
              <a:rPr lang="en-US" sz="2000">
                <a:solidFill>
                  <a:srgbClr val="1D1D1F"/>
                </a:solidFill>
                <a:latin typeface="Canva Sans"/>
              </a:rPr>
              <a:t>5</a:t>
            </a:r>
          </a:p>
        </p:txBody>
      </p:sp>
      <p:sp>
        <p:nvSpPr>
          <p:cNvPr id="70" name="TextBox 70"/>
          <p:cNvSpPr txBox="1"/>
          <p:nvPr/>
        </p:nvSpPr>
        <p:spPr>
          <a:xfrm>
            <a:off x="13881733" y="6452227"/>
            <a:ext cx="163413" cy="349249"/>
          </a:xfrm>
          <a:prstGeom prst="rect">
            <a:avLst/>
          </a:prstGeom>
        </p:spPr>
        <p:txBody>
          <a:bodyPr lIns="0" tIns="0" rIns="0" bIns="0" rtlCol="0" anchor="t">
            <a:spAutoFit/>
          </a:bodyPr>
          <a:lstStyle/>
          <a:p>
            <a:pPr algn="ctr">
              <a:lnSpc>
                <a:spcPts val="2800"/>
              </a:lnSpc>
            </a:pPr>
            <a:r>
              <a:rPr lang="en-US" sz="2000">
                <a:solidFill>
                  <a:srgbClr val="1D1D1F"/>
                </a:solidFill>
                <a:latin typeface="Canva Sans"/>
              </a:rPr>
              <a:t>6</a:t>
            </a:r>
          </a:p>
        </p:txBody>
      </p:sp>
      <p:sp>
        <p:nvSpPr>
          <p:cNvPr id="71" name="TextBox 71"/>
          <p:cNvSpPr txBox="1"/>
          <p:nvPr/>
        </p:nvSpPr>
        <p:spPr>
          <a:xfrm>
            <a:off x="13900783" y="7494755"/>
            <a:ext cx="125313" cy="349249"/>
          </a:xfrm>
          <a:prstGeom prst="rect">
            <a:avLst/>
          </a:prstGeom>
        </p:spPr>
        <p:txBody>
          <a:bodyPr lIns="0" tIns="0" rIns="0" bIns="0" rtlCol="0" anchor="t">
            <a:spAutoFit/>
          </a:bodyPr>
          <a:lstStyle/>
          <a:p>
            <a:pPr algn="ctr">
              <a:lnSpc>
                <a:spcPts val="2800"/>
              </a:lnSpc>
            </a:pPr>
            <a:r>
              <a:rPr lang="en-US" sz="2000">
                <a:solidFill>
                  <a:srgbClr val="1D1D1F"/>
                </a:solidFill>
                <a:latin typeface="Canva Sans"/>
              </a:rPr>
              <a:t>7</a:t>
            </a:r>
          </a:p>
        </p:txBody>
      </p:sp>
      <p:sp>
        <p:nvSpPr>
          <p:cNvPr id="72" name="TextBox 72"/>
          <p:cNvSpPr txBox="1"/>
          <p:nvPr/>
        </p:nvSpPr>
        <p:spPr>
          <a:xfrm>
            <a:off x="12082651" y="6354963"/>
            <a:ext cx="636407" cy="261203"/>
          </a:xfrm>
          <a:prstGeom prst="rect">
            <a:avLst/>
          </a:prstGeom>
        </p:spPr>
        <p:txBody>
          <a:bodyPr lIns="0" tIns="0" rIns="0" bIns="0" rtlCol="0" anchor="t">
            <a:spAutoFit/>
          </a:bodyPr>
          <a:lstStyle/>
          <a:p>
            <a:pPr algn="ctr">
              <a:lnSpc>
                <a:spcPts val="2155"/>
              </a:lnSpc>
            </a:pPr>
            <a:r>
              <a:rPr lang="en-US" sz="1539">
                <a:solidFill>
                  <a:srgbClr val="1D1D1F"/>
                </a:solidFill>
                <a:latin typeface="Canva Sans"/>
              </a:rPr>
              <a:t>P (kPa)</a:t>
            </a:r>
          </a:p>
        </p:txBody>
      </p:sp>
      <p:sp>
        <p:nvSpPr>
          <p:cNvPr id="73" name="TextBox 73"/>
          <p:cNvSpPr txBox="1"/>
          <p:nvPr/>
        </p:nvSpPr>
        <p:spPr>
          <a:xfrm>
            <a:off x="15159100" y="8717607"/>
            <a:ext cx="783731" cy="261203"/>
          </a:xfrm>
          <a:prstGeom prst="rect">
            <a:avLst/>
          </a:prstGeom>
        </p:spPr>
        <p:txBody>
          <a:bodyPr lIns="0" tIns="0" rIns="0" bIns="0" rtlCol="0" anchor="t">
            <a:spAutoFit/>
          </a:bodyPr>
          <a:lstStyle/>
          <a:p>
            <a:pPr algn="ctr">
              <a:lnSpc>
                <a:spcPts val="2155"/>
              </a:lnSpc>
            </a:pPr>
            <a:r>
              <a:rPr lang="en-US" sz="1539">
                <a:solidFill>
                  <a:srgbClr val="1D1D1F"/>
                </a:solidFill>
                <a:latin typeface="Canva Sans"/>
              </a:rPr>
              <a:t>h (kJ/kg)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1028669" y="302895"/>
            <a:ext cx="17126379" cy="773430"/>
            <a:chOff x="0" y="0"/>
            <a:chExt cx="22835172" cy="1031240"/>
          </a:xfrm>
        </p:grpSpPr>
        <p:sp>
          <p:nvSpPr>
            <p:cNvPr id="3" name="TextBox 3"/>
            <p:cNvSpPr txBox="1"/>
            <p:nvPr/>
          </p:nvSpPr>
          <p:spPr>
            <a:xfrm>
              <a:off x="44" y="-95250"/>
              <a:ext cx="14164929"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APPENDIX: RADIATOR</a:t>
              </a:r>
            </a:p>
          </p:txBody>
        </p:sp>
        <p:sp>
          <p:nvSpPr>
            <p:cNvPr id="4" name="AutoShape 4"/>
            <p:cNvSpPr/>
            <p:nvPr/>
          </p:nvSpPr>
          <p:spPr>
            <a:xfrm flipV="1">
              <a:off x="44" y="967740"/>
              <a:ext cx="22835084" cy="31750"/>
            </a:xfrm>
            <a:prstGeom prst="line">
              <a:avLst/>
            </a:prstGeom>
            <a:ln w="63500" cap="flat">
              <a:solidFill>
                <a:srgbClr val="A28231"/>
              </a:solidFill>
              <a:prstDash val="solid"/>
              <a:headEnd type="none" w="sm" len="sm"/>
              <a:tailEnd type="none" w="sm" len="sm"/>
            </a:ln>
          </p:spPr>
          <p:txBody>
            <a:bodyPr/>
            <a:lstStyle/>
            <a:p>
              <a:endParaRPr lang="en-GB"/>
            </a:p>
          </p:txBody>
        </p:sp>
      </p:grpSp>
      <p:grpSp>
        <p:nvGrpSpPr>
          <p:cNvPr id="5" name="Group 5"/>
          <p:cNvGrpSpPr/>
          <p:nvPr/>
        </p:nvGrpSpPr>
        <p:grpSpPr>
          <a:xfrm>
            <a:off x="1028700" y="1272993"/>
            <a:ext cx="2357984" cy="377735"/>
            <a:chOff x="0" y="0"/>
            <a:chExt cx="3143979" cy="503647"/>
          </a:xfrm>
        </p:grpSpPr>
        <p:sp>
          <p:nvSpPr>
            <p:cNvPr id="6" name="Freeform 6"/>
            <p:cNvSpPr/>
            <p:nvPr/>
          </p:nvSpPr>
          <p:spPr>
            <a:xfrm>
              <a:off x="0" y="0"/>
              <a:ext cx="3143979" cy="503647"/>
            </a:xfrm>
            <a:custGeom>
              <a:avLst/>
              <a:gdLst/>
              <a:ahLst/>
              <a:cxnLst/>
              <a:rect l="l" t="t" r="r" b="b"/>
              <a:pathLst>
                <a:path w="3143979" h="503647">
                  <a:moveTo>
                    <a:pt x="0" y="0"/>
                  </a:moveTo>
                  <a:lnTo>
                    <a:pt x="3143979" y="0"/>
                  </a:lnTo>
                  <a:lnTo>
                    <a:pt x="3143979" y="503647"/>
                  </a:lnTo>
                  <a:lnTo>
                    <a:pt x="0" y="5036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grpSp>
        <p:nvGrpSpPr>
          <p:cNvPr id="7" name="Group 7"/>
          <p:cNvGrpSpPr/>
          <p:nvPr/>
        </p:nvGrpSpPr>
        <p:grpSpPr>
          <a:xfrm>
            <a:off x="1028700" y="1847397"/>
            <a:ext cx="2464432" cy="595433"/>
            <a:chOff x="0" y="0"/>
            <a:chExt cx="3285910" cy="793911"/>
          </a:xfrm>
        </p:grpSpPr>
        <p:sp>
          <p:nvSpPr>
            <p:cNvPr id="8" name="Freeform 8"/>
            <p:cNvSpPr/>
            <p:nvPr/>
          </p:nvSpPr>
          <p:spPr>
            <a:xfrm>
              <a:off x="0" y="0"/>
              <a:ext cx="3285910" cy="793911"/>
            </a:xfrm>
            <a:custGeom>
              <a:avLst/>
              <a:gdLst/>
              <a:ahLst/>
              <a:cxnLst/>
              <a:rect l="l" t="t" r="r" b="b"/>
              <a:pathLst>
                <a:path w="3285910" h="793911">
                  <a:moveTo>
                    <a:pt x="0" y="0"/>
                  </a:moveTo>
                  <a:lnTo>
                    <a:pt x="3285910" y="0"/>
                  </a:lnTo>
                  <a:lnTo>
                    <a:pt x="3285910" y="793911"/>
                  </a:lnTo>
                  <a:lnTo>
                    <a:pt x="0" y="7939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grpSp>
      <p:grpSp>
        <p:nvGrpSpPr>
          <p:cNvPr id="9" name="Group 9"/>
          <p:cNvGrpSpPr/>
          <p:nvPr/>
        </p:nvGrpSpPr>
        <p:grpSpPr>
          <a:xfrm>
            <a:off x="1028669" y="2780891"/>
            <a:ext cx="4215780" cy="298462"/>
            <a:chOff x="0" y="0"/>
            <a:chExt cx="5621040" cy="397950"/>
          </a:xfrm>
        </p:grpSpPr>
        <p:sp>
          <p:nvSpPr>
            <p:cNvPr id="10" name="Freeform 10"/>
            <p:cNvSpPr/>
            <p:nvPr/>
          </p:nvSpPr>
          <p:spPr>
            <a:xfrm>
              <a:off x="0" y="0"/>
              <a:ext cx="5621040" cy="397950"/>
            </a:xfrm>
            <a:custGeom>
              <a:avLst/>
              <a:gdLst/>
              <a:ahLst/>
              <a:cxnLst/>
              <a:rect l="l" t="t" r="r" b="b"/>
              <a:pathLst>
                <a:path w="5621040" h="397950">
                  <a:moveTo>
                    <a:pt x="0" y="0"/>
                  </a:moveTo>
                  <a:lnTo>
                    <a:pt x="5621040" y="0"/>
                  </a:lnTo>
                  <a:lnTo>
                    <a:pt x="5621040" y="397950"/>
                  </a:lnTo>
                  <a:lnTo>
                    <a:pt x="0" y="3979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grpSp>
        <p:nvGrpSpPr>
          <p:cNvPr id="11" name="Group 11"/>
          <p:cNvGrpSpPr/>
          <p:nvPr/>
        </p:nvGrpSpPr>
        <p:grpSpPr>
          <a:xfrm>
            <a:off x="1028669" y="3417415"/>
            <a:ext cx="2807103" cy="309607"/>
            <a:chOff x="0" y="0"/>
            <a:chExt cx="3742804" cy="412809"/>
          </a:xfrm>
        </p:grpSpPr>
        <p:sp>
          <p:nvSpPr>
            <p:cNvPr id="12" name="Freeform 12"/>
            <p:cNvSpPr/>
            <p:nvPr/>
          </p:nvSpPr>
          <p:spPr>
            <a:xfrm>
              <a:off x="0" y="0"/>
              <a:ext cx="3742804" cy="412809"/>
            </a:xfrm>
            <a:custGeom>
              <a:avLst/>
              <a:gdLst/>
              <a:ahLst/>
              <a:cxnLst/>
              <a:rect l="l" t="t" r="r" b="b"/>
              <a:pathLst>
                <a:path w="3742804" h="412809">
                  <a:moveTo>
                    <a:pt x="0" y="0"/>
                  </a:moveTo>
                  <a:lnTo>
                    <a:pt x="3742804" y="0"/>
                  </a:lnTo>
                  <a:lnTo>
                    <a:pt x="3742804" y="412809"/>
                  </a:lnTo>
                  <a:lnTo>
                    <a:pt x="0" y="412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1028665" y="302895"/>
            <a:ext cx="16230670" cy="773430"/>
            <a:chOff x="0" y="0"/>
            <a:chExt cx="21640893" cy="1031240"/>
          </a:xfrm>
        </p:grpSpPr>
        <p:sp>
          <p:nvSpPr>
            <p:cNvPr id="3" name="TextBox 3"/>
            <p:cNvSpPr txBox="1"/>
            <p:nvPr/>
          </p:nvSpPr>
          <p:spPr>
            <a:xfrm>
              <a:off x="47" y="-95250"/>
              <a:ext cx="13424098"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APPENDIX: CONSTANTS</a:t>
              </a:r>
            </a:p>
          </p:txBody>
        </p:sp>
        <p:sp>
          <p:nvSpPr>
            <p:cNvPr id="4" name="AutoShape 4"/>
            <p:cNvSpPr/>
            <p:nvPr/>
          </p:nvSpPr>
          <p:spPr>
            <a:xfrm flipV="1">
              <a:off x="47" y="967740"/>
              <a:ext cx="21640800" cy="31750"/>
            </a:xfrm>
            <a:prstGeom prst="line">
              <a:avLst/>
            </a:prstGeom>
            <a:ln w="63500" cap="flat">
              <a:solidFill>
                <a:srgbClr val="A28231"/>
              </a:solidFill>
              <a:prstDash val="solid"/>
              <a:headEnd type="none" w="sm" len="sm"/>
              <a:tailEnd type="none" w="sm" len="sm"/>
            </a:ln>
          </p:spPr>
          <p:txBody>
            <a:bodyPr/>
            <a:lstStyle/>
            <a:p>
              <a:endParaRPr lang="en-GB"/>
            </a:p>
          </p:txBody>
        </p:sp>
      </p:grpSp>
      <p:sp>
        <p:nvSpPr>
          <p:cNvPr id="5" name="TextBox 5"/>
          <p:cNvSpPr txBox="1"/>
          <p:nvPr/>
        </p:nvSpPr>
        <p:spPr>
          <a:xfrm>
            <a:off x="1013407" y="1222628"/>
            <a:ext cx="767655" cy="604171"/>
          </a:xfrm>
          <a:prstGeom prst="rect">
            <a:avLst/>
          </a:prstGeom>
        </p:spPr>
        <p:txBody>
          <a:bodyPr lIns="0" tIns="0" rIns="0" bIns="0" rtlCol="0" anchor="t">
            <a:spAutoFit/>
          </a:bodyPr>
          <a:lstStyle/>
          <a:p>
            <a:pPr algn="ctr">
              <a:lnSpc>
                <a:spcPts val="5024"/>
              </a:lnSpc>
            </a:pPr>
            <a:r>
              <a:rPr lang="en-US" sz="3588">
                <a:solidFill>
                  <a:srgbClr val="1D1D1F"/>
                </a:solidFill>
                <a:latin typeface="Canva Sans Bold"/>
              </a:rPr>
              <a:t>Air:</a:t>
            </a:r>
          </a:p>
        </p:txBody>
      </p:sp>
      <p:grpSp>
        <p:nvGrpSpPr>
          <p:cNvPr id="6" name="Group 6"/>
          <p:cNvGrpSpPr/>
          <p:nvPr/>
        </p:nvGrpSpPr>
        <p:grpSpPr>
          <a:xfrm>
            <a:off x="1028700" y="1846198"/>
            <a:ext cx="2858215" cy="701072"/>
            <a:chOff x="0" y="0"/>
            <a:chExt cx="3810953" cy="934762"/>
          </a:xfrm>
        </p:grpSpPr>
        <p:sp>
          <p:nvSpPr>
            <p:cNvPr id="7" name="Freeform 7"/>
            <p:cNvSpPr/>
            <p:nvPr/>
          </p:nvSpPr>
          <p:spPr>
            <a:xfrm>
              <a:off x="0" y="0"/>
              <a:ext cx="3810953" cy="934762"/>
            </a:xfrm>
            <a:custGeom>
              <a:avLst/>
              <a:gdLst/>
              <a:ahLst/>
              <a:cxnLst/>
              <a:rect l="l" t="t" r="r" b="b"/>
              <a:pathLst>
                <a:path w="3810953" h="934762">
                  <a:moveTo>
                    <a:pt x="0" y="0"/>
                  </a:moveTo>
                  <a:lnTo>
                    <a:pt x="3810953" y="0"/>
                  </a:lnTo>
                  <a:lnTo>
                    <a:pt x="3810953" y="934762"/>
                  </a:lnTo>
                  <a:lnTo>
                    <a:pt x="0" y="9347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grpSp>
        <p:nvGrpSpPr>
          <p:cNvPr id="8" name="Group 8"/>
          <p:cNvGrpSpPr/>
          <p:nvPr/>
        </p:nvGrpSpPr>
        <p:grpSpPr>
          <a:xfrm>
            <a:off x="1028700" y="2756820"/>
            <a:ext cx="3243290" cy="298462"/>
            <a:chOff x="0" y="0"/>
            <a:chExt cx="4324387" cy="397950"/>
          </a:xfrm>
        </p:grpSpPr>
        <p:sp>
          <p:nvSpPr>
            <p:cNvPr id="9" name="Freeform 9"/>
            <p:cNvSpPr/>
            <p:nvPr/>
          </p:nvSpPr>
          <p:spPr>
            <a:xfrm>
              <a:off x="0" y="0"/>
              <a:ext cx="4324387" cy="397950"/>
            </a:xfrm>
            <a:custGeom>
              <a:avLst/>
              <a:gdLst/>
              <a:ahLst/>
              <a:cxnLst/>
              <a:rect l="l" t="t" r="r" b="b"/>
              <a:pathLst>
                <a:path w="4324387" h="397950">
                  <a:moveTo>
                    <a:pt x="0" y="0"/>
                  </a:moveTo>
                  <a:lnTo>
                    <a:pt x="4324387" y="0"/>
                  </a:lnTo>
                  <a:lnTo>
                    <a:pt x="4324387" y="397950"/>
                  </a:lnTo>
                  <a:lnTo>
                    <a:pt x="0" y="3979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grpSp>
      <p:grpSp>
        <p:nvGrpSpPr>
          <p:cNvPr id="10" name="Group 10"/>
          <p:cNvGrpSpPr/>
          <p:nvPr/>
        </p:nvGrpSpPr>
        <p:grpSpPr>
          <a:xfrm>
            <a:off x="1028665" y="3831252"/>
            <a:ext cx="1417696" cy="298462"/>
            <a:chOff x="0" y="0"/>
            <a:chExt cx="1890261" cy="397950"/>
          </a:xfrm>
        </p:grpSpPr>
        <p:sp>
          <p:nvSpPr>
            <p:cNvPr id="11" name="Freeform 11"/>
            <p:cNvSpPr/>
            <p:nvPr/>
          </p:nvSpPr>
          <p:spPr>
            <a:xfrm>
              <a:off x="0" y="0"/>
              <a:ext cx="1890261" cy="397950"/>
            </a:xfrm>
            <a:custGeom>
              <a:avLst/>
              <a:gdLst/>
              <a:ahLst/>
              <a:cxnLst/>
              <a:rect l="l" t="t" r="r" b="b"/>
              <a:pathLst>
                <a:path w="1890261" h="397950">
                  <a:moveTo>
                    <a:pt x="0" y="0"/>
                  </a:moveTo>
                  <a:lnTo>
                    <a:pt x="1890261" y="0"/>
                  </a:lnTo>
                  <a:lnTo>
                    <a:pt x="1890261" y="397950"/>
                  </a:lnTo>
                  <a:lnTo>
                    <a:pt x="0" y="3979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grpSp>
      <p:sp>
        <p:nvSpPr>
          <p:cNvPr id="12" name="TextBox 12"/>
          <p:cNvSpPr txBox="1"/>
          <p:nvPr/>
        </p:nvSpPr>
        <p:spPr>
          <a:xfrm>
            <a:off x="953209" y="3117512"/>
            <a:ext cx="1754981" cy="580390"/>
          </a:xfrm>
          <a:prstGeom prst="rect">
            <a:avLst/>
          </a:prstGeom>
        </p:spPr>
        <p:txBody>
          <a:bodyPr lIns="0" tIns="0" rIns="0" bIns="0" rtlCol="0" anchor="t">
            <a:spAutoFit/>
          </a:bodyPr>
          <a:lstStyle/>
          <a:p>
            <a:pPr algn="ctr">
              <a:lnSpc>
                <a:spcPts val="4759"/>
              </a:lnSpc>
            </a:pPr>
            <a:r>
              <a:rPr lang="en-US" sz="3399">
                <a:solidFill>
                  <a:srgbClr val="1D1D1F"/>
                </a:solidFill>
                <a:latin typeface="Canva Sans Bold"/>
              </a:rPr>
              <a:t>Turbine:</a:t>
            </a:r>
          </a:p>
        </p:txBody>
      </p:sp>
      <p:sp>
        <p:nvSpPr>
          <p:cNvPr id="13" name="TextBox 13"/>
          <p:cNvSpPr txBox="1"/>
          <p:nvPr/>
        </p:nvSpPr>
        <p:spPr>
          <a:xfrm>
            <a:off x="952798" y="4272589"/>
            <a:ext cx="1935063" cy="580390"/>
          </a:xfrm>
          <a:prstGeom prst="rect">
            <a:avLst/>
          </a:prstGeom>
        </p:spPr>
        <p:txBody>
          <a:bodyPr lIns="0" tIns="0" rIns="0" bIns="0" rtlCol="0" anchor="t">
            <a:spAutoFit/>
          </a:bodyPr>
          <a:lstStyle/>
          <a:p>
            <a:pPr algn="ctr">
              <a:lnSpc>
                <a:spcPts val="4759"/>
              </a:lnSpc>
            </a:pPr>
            <a:r>
              <a:rPr lang="en-US" sz="3399">
                <a:solidFill>
                  <a:srgbClr val="1D1D1F"/>
                </a:solidFill>
                <a:latin typeface="Canva Sans Bold"/>
              </a:rPr>
              <a:t>Radiator:</a:t>
            </a:r>
          </a:p>
        </p:txBody>
      </p:sp>
      <p:grpSp>
        <p:nvGrpSpPr>
          <p:cNvPr id="14" name="Group 14"/>
          <p:cNvGrpSpPr/>
          <p:nvPr/>
        </p:nvGrpSpPr>
        <p:grpSpPr>
          <a:xfrm>
            <a:off x="1028665" y="4872029"/>
            <a:ext cx="3091905" cy="701072"/>
            <a:chOff x="0" y="0"/>
            <a:chExt cx="4122540" cy="934762"/>
          </a:xfrm>
        </p:grpSpPr>
        <p:sp>
          <p:nvSpPr>
            <p:cNvPr id="15" name="Freeform 15"/>
            <p:cNvSpPr/>
            <p:nvPr/>
          </p:nvSpPr>
          <p:spPr>
            <a:xfrm>
              <a:off x="0" y="0"/>
              <a:ext cx="4122540" cy="934762"/>
            </a:xfrm>
            <a:custGeom>
              <a:avLst/>
              <a:gdLst/>
              <a:ahLst/>
              <a:cxnLst/>
              <a:rect l="l" t="t" r="r" b="b"/>
              <a:pathLst>
                <a:path w="4122540" h="934762">
                  <a:moveTo>
                    <a:pt x="0" y="0"/>
                  </a:moveTo>
                  <a:lnTo>
                    <a:pt x="4122540" y="0"/>
                  </a:lnTo>
                  <a:lnTo>
                    <a:pt x="4122540" y="934762"/>
                  </a:lnTo>
                  <a:lnTo>
                    <a:pt x="0" y="934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grpSp>
      <p:grpSp>
        <p:nvGrpSpPr>
          <p:cNvPr id="16" name="Group 16"/>
          <p:cNvGrpSpPr/>
          <p:nvPr/>
        </p:nvGrpSpPr>
        <p:grpSpPr>
          <a:xfrm>
            <a:off x="1028700" y="5782651"/>
            <a:ext cx="2238057" cy="317455"/>
            <a:chOff x="0" y="0"/>
            <a:chExt cx="2984075" cy="423273"/>
          </a:xfrm>
        </p:grpSpPr>
        <p:sp>
          <p:nvSpPr>
            <p:cNvPr id="17" name="Freeform 17"/>
            <p:cNvSpPr/>
            <p:nvPr/>
          </p:nvSpPr>
          <p:spPr>
            <a:xfrm>
              <a:off x="0" y="0"/>
              <a:ext cx="2984075" cy="423273"/>
            </a:xfrm>
            <a:custGeom>
              <a:avLst/>
              <a:gdLst/>
              <a:ahLst/>
              <a:cxnLst/>
              <a:rect l="l" t="t" r="r" b="b"/>
              <a:pathLst>
                <a:path w="2984075" h="423273">
                  <a:moveTo>
                    <a:pt x="0" y="0"/>
                  </a:moveTo>
                  <a:lnTo>
                    <a:pt x="2984075" y="0"/>
                  </a:lnTo>
                  <a:lnTo>
                    <a:pt x="2984075" y="423273"/>
                  </a:lnTo>
                  <a:lnTo>
                    <a:pt x="0" y="42327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grpSp>
      <p:grpSp>
        <p:nvGrpSpPr>
          <p:cNvPr id="18" name="Group 18"/>
          <p:cNvGrpSpPr/>
          <p:nvPr/>
        </p:nvGrpSpPr>
        <p:grpSpPr>
          <a:xfrm>
            <a:off x="1028700" y="6309656"/>
            <a:ext cx="2029357" cy="471335"/>
            <a:chOff x="0" y="0"/>
            <a:chExt cx="2705810" cy="628446"/>
          </a:xfrm>
        </p:grpSpPr>
        <p:sp>
          <p:nvSpPr>
            <p:cNvPr id="19" name="Freeform 19"/>
            <p:cNvSpPr/>
            <p:nvPr/>
          </p:nvSpPr>
          <p:spPr>
            <a:xfrm>
              <a:off x="0" y="0"/>
              <a:ext cx="2705810" cy="628446"/>
            </a:xfrm>
            <a:custGeom>
              <a:avLst/>
              <a:gdLst/>
              <a:ahLst/>
              <a:cxnLst/>
              <a:rect l="l" t="t" r="r" b="b"/>
              <a:pathLst>
                <a:path w="2705810" h="628446">
                  <a:moveTo>
                    <a:pt x="0" y="0"/>
                  </a:moveTo>
                  <a:lnTo>
                    <a:pt x="2705810" y="0"/>
                  </a:lnTo>
                  <a:lnTo>
                    <a:pt x="2705810" y="628446"/>
                  </a:lnTo>
                  <a:lnTo>
                    <a:pt x="0" y="62844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GB"/>
            </a:p>
          </p:txBody>
        </p:sp>
      </p:grpSp>
      <p:sp>
        <p:nvSpPr>
          <p:cNvPr id="20" name="TextBox 20"/>
          <p:cNvSpPr txBox="1"/>
          <p:nvPr/>
        </p:nvSpPr>
        <p:spPr>
          <a:xfrm>
            <a:off x="1046786" y="7560484"/>
            <a:ext cx="2043559" cy="341496"/>
          </a:xfrm>
          <a:prstGeom prst="rect">
            <a:avLst/>
          </a:prstGeom>
        </p:spPr>
        <p:txBody>
          <a:bodyPr lIns="0" tIns="0" rIns="0" bIns="0" rtlCol="0" anchor="t">
            <a:spAutoFit/>
          </a:bodyPr>
          <a:lstStyle/>
          <a:p>
            <a:pPr algn="ctr">
              <a:lnSpc>
                <a:spcPts val="2702"/>
              </a:lnSpc>
            </a:pPr>
            <a:r>
              <a:rPr lang="en-US" sz="1930" u="sng">
                <a:solidFill>
                  <a:srgbClr val="1D1D1F"/>
                </a:solidFill>
                <a:latin typeface="Canva Sans Bold"/>
              </a:rPr>
              <a:t>Nusselt number::</a:t>
            </a:r>
          </a:p>
        </p:txBody>
      </p:sp>
      <p:grpSp>
        <p:nvGrpSpPr>
          <p:cNvPr id="21" name="Group 21"/>
          <p:cNvGrpSpPr/>
          <p:nvPr/>
        </p:nvGrpSpPr>
        <p:grpSpPr>
          <a:xfrm>
            <a:off x="1045694" y="8035330"/>
            <a:ext cx="1446394" cy="298462"/>
            <a:chOff x="0" y="0"/>
            <a:chExt cx="1928526" cy="397950"/>
          </a:xfrm>
        </p:grpSpPr>
        <p:sp>
          <p:nvSpPr>
            <p:cNvPr id="22" name="Freeform 22"/>
            <p:cNvSpPr/>
            <p:nvPr/>
          </p:nvSpPr>
          <p:spPr>
            <a:xfrm>
              <a:off x="0" y="0"/>
              <a:ext cx="1928526" cy="397950"/>
            </a:xfrm>
            <a:custGeom>
              <a:avLst/>
              <a:gdLst/>
              <a:ahLst/>
              <a:cxnLst/>
              <a:rect l="l" t="t" r="r" b="b"/>
              <a:pathLst>
                <a:path w="1928526" h="397950">
                  <a:moveTo>
                    <a:pt x="0" y="0"/>
                  </a:moveTo>
                  <a:lnTo>
                    <a:pt x="1928526" y="0"/>
                  </a:lnTo>
                  <a:lnTo>
                    <a:pt x="1928526" y="397950"/>
                  </a:lnTo>
                  <a:lnTo>
                    <a:pt x="0" y="39795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GB"/>
            </a:p>
          </p:txBody>
        </p:sp>
      </p:grpSp>
      <p:grpSp>
        <p:nvGrpSpPr>
          <p:cNvPr id="23" name="Group 23"/>
          <p:cNvGrpSpPr/>
          <p:nvPr/>
        </p:nvGrpSpPr>
        <p:grpSpPr>
          <a:xfrm>
            <a:off x="1045729" y="8400467"/>
            <a:ext cx="1492311" cy="298462"/>
            <a:chOff x="0" y="0"/>
            <a:chExt cx="1989749" cy="397950"/>
          </a:xfrm>
        </p:grpSpPr>
        <p:sp>
          <p:nvSpPr>
            <p:cNvPr id="24" name="Freeform 24"/>
            <p:cNvSpPr/>
            <p:nvPr/>
          </p:nvSpPr>
          <p:spPr>
            <a:xfrm>
              <a:off x="0" y="0"/>
              <a:ext cx="1989749" cy="397950"/>
            </a:xfrm>
            <a:custGeom>
              <a:avLst/>
              <a:gdLst/>
              <a:ahLst/>
              <a:cxnLst/>
              <a:rect l="l" t="t" r="r" b="b"/>
              <a:pathLst>
                <a:path w="1989749" h="397950">
                  <a:moveTo>
                    <a:pt x="0" y="0"/>
                  </a:moveTo>
                  <a:lnTo>
                    <a:pt x="1989749" y="0"/>
                  </a:lnTo>
                  <a:lnTo>
                    <a:pt x="1989749" y="397950"/>
                  </a:lnTo>
                  <a:lnTo>
                    <a:pt x="0" y="3979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GB"/>
            </a:p>
          </p:txBody>
        </p:sp>
      </p:grpSp>
      <p:grpSp>
        <p:nvGrpSpPr>
          <p:cNvPr id="25" name="Group 25"/>
          <p:cNvGrpSpPr/>
          <p:nvPr/>
        </p:nvGrpSpPr>
        <p:grpSpPr>
          <a:xfrm>
            <a:off x="1028665" y="6800040"/>
            <a:ext cx="1544945" cy="299022"/>
            <a:chOff x="0" y="0"/>
            <a:chExt cx="2059927" cy="398696"/>
          </a:xfrm>
        </p:grpSpPr>
        <p:sp>
          <p:nvSpPr>
            <p:cNvPr id="26" name="Freeform 26"/>
            <p:cNvSpPr/>
            <p:nvPr/>
          </p:nvSpPr>
          <p:spPr>
            <a:xfrm>
              <a:off x="0" y="0"/>
              <a:ext cx="2059927" cy="398696"/>
            </a:xfrm>
            <a:custGeom>
              <a:avLst/>
              <a:gdLst/>
              <a:ahLst/>
              <a:cxnLst/>
              <a:rect l="l" t="t" r="r" b="b"/>
              <a:pathLst>
                <a:path w="2059927" h="398696">
                  <a:moveTo>
                    <a:pt x="0" y="0"/>
                  </a:moveTo>
                  <a:lnTo>
                    <a:pt x="2059927" y="0"/>
                  </a:lnTo>
                  <a:lnTo>
                    <a:pt x="2059927" y="398696"/>
                  </a:lnTo>
                  <a:lnTo>
                    <a:pt x="0" y="39869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GB"/>
            </a:p>
          </p:txBody>
        </p:sp>
      </p:grpSp>
      <p:grpSp>
        <p:nvGrpSpPr>
          <p:cNvPr id="27" name="Group 27"/>
          <p:cNvGrpSpPr/>
          <p:nvPr/>
        </p:nvGrpSpPr>
        <p:grpSpPr>
          <a:xfrm>
            <a:off x="1045694" y="7157305"/>
            <a:ext cx="2841221" cy="317455"/>
            <a:chOff x="0" y="0"/>
            <a:chExt cx="3788294" cy="423273"/>
          </a:xfrm>
        </p:grpSpPr>
        <p:sp>
          <p:nvSpPr>
            <p:cNvPr id="28" name="Freeform 28"/>
            <p:cNvSpPr/>
            <p:nvPr/>
          </p:nvSpPr>
          <p:spPr>
            <a:xfrm>
              <a:off x="0" y="0"/>
              <a:ext cx="3788294" cy="423273"/>
            </a:xfrm>
            <a:custGeom>
              <a:avLst/>
              <a:gdLst/>
              <a:ahLst/>
              <a:cxnLst/>
              <a:rect l="l" t="t" r="r" b="b"/>
              <a:pathLst>
                <a:path w="3788294" h="423273">
                  <a:moveTo>
                    <a:pt x="0" y="0"/>
                  </a:moveTo>
                  <a:lnTo>
                    <a:pt x="3788294" y="0"/>
                  </a:lnTo>
                  <a:lnTo>
                    <a:pt x="3788294" y="423273"/>
                  </a:lnTo>
                  <a:lnTo>
                    <a:pt x="0" y="42327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GB"/>
            </a:p>
          </p:txBody>
        </p:sp>
      </p:grpSp>
      <p:grpSp>
        <p:nvGrpSpPr>
          <p:cNvPr id="29" name="Group 29"/>
          <p:cNvGrpSpPr/>
          <p:nvPr/>
        </p:nvGrpSpPr>
        <p:grpSpPr>
          <a:xfrm>
            <a:off x="2887861" y="3831252"/>
            <a:ext cx="2480968" cy="298462"/>
            <a:chOff x="0" y="0"/>
            <a:chExt cx="3307957" cy="397950"/>
          </a:xfrm>
        </p:grpSpPr>
        <p:sp>
          <p:nvSpPr>
            <p:cNvPr id="30" name="Freeform 30"/>
            <p:cNvSpPr/>
            <p:nvPr/>
          </p:nvSpPr>
          <p:spPr>
            <a:xfrm>
              <a:off x="0" y="0"/>
              <a:ext cx="3307957" cy="397950"/>
            </a:xfrm>
            <a:custGeom>
              <a:avLst/>
              <a:gdLst/>
              <a:ahLst/>
              <a:cxnLst/>
              <a:rect l="l" t="t" r="r" b="b"/>
              <a:pathLst>
                <a:path w="3307957" h="397950">
                  <a:moveTo>
                    <a:pt x="0" y="0"/>
                  </a:moveTo>
                  <a:lnTo>
                    <a:pt x="3307957" y="0"/>
                  </a:lnTo>
                  <a:lnTo>
                    <a:pt x="3307957" y="397950"/>
                  </a:lnTo>
                  <a:lnTo>
                    <a:pt x="0" y="39795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GB"/>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2601885" y="1463560"/>
            <a:ext cx="13084230" cy="7359879"/>
          </a:xfrm>
          <a:custGeom>
            <a:avLst/>
            <a:gdLst/>
            <a:ahLst/>
            <a:cxnLst/>
            <a:rect l="l" t="t" r="r" b="b"/>
            <a:pathLst>
              <a:path w="13084230" h="7359879">
                <a:moveTo>
                  <a:pt x="0" y="0"/>
                </a:moveTo>
                <a:lnTo>
                  <a:pt x="13084230" y="0"/>
                </a:lnTo>
                <a:lnTo>
                  <a:pt x="13084230" y="7359880"/>
                </a:lnTo>
                <a:lnTo>
                  <a:pt x="0" y="7359880"/>
                </a:lnTo>
                <a:lnTo>
                  <a:pt x="0" y="0"/>
                </a:lnTo>
                <a:close/>
              </a:path>
            </a:pathLst>
          </a:custGeom>
          <a:blipFill>
            <a:blip r:embed="rId2"/>
            <a:stretch>
              <a:fillRect/>
            </a:stretch>
          </a:blipFill>
        </p:spPr>
        <p:txBody>
          <a:bodyPr/>
          <a:lstStyle/>
          <a:p>
            <a:endParaRPr lang="en-GB"/>
          </a:p>
        </p:txBody>
      </p:sp>
      <p:grpSp>
        <p:nvGrpSpPr>
          <p:cNvPr id="3" name="Group 3"/>
          <p:cNvGrpSpPr/>
          <p:nvPr/>
        </p:nvGrpSpPr>
        <p:grpSpPr>
          <a:xfrm>
            <a:off x="1028665" y="302895"/>
            <a:ext cx="16230670" cy="773430"/>
            <a:chOff x="0" y="0"/>
            <a:chExt cx="21640893" cy="1031240"/>
          </a:xfrm>
        </p:grpSpPr>
        <p:sp>
          <p:nvSpPr>
            <p:cNvPr id="4" name="TextBox 4"/>
            <p:cNvSpPr txBox="1"/>
            <p:nvPr/>
          </p:nvSpPr>
          <p:spPr>
            <a:xfrm>
              <a:off x="47" y="-95250"/>
              <a:ext cx="13424098"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APPENDIX: COMPRESSOR POWER</a:t>
              </a:r>
            </a:p>
          </p:txBody>
        </p:sp>
        <p:sp>
          <p:nvSpPr>
            <p:cNvPr id="5" name="AutoShape 5"/>
            <p:cNvSpPr/>
            <p:nvPr/>
          </p:nvSpPr>
          <p:spPr>
            <a:xfrm flipV="1">
              <a:off x="47" y="967740"/>
              <a:ext cx="21640800" cy="31750"/>
            </a:xfrm>
            <a:prstGeom prst="line">
              <a:avLst/>
            </a:prstGeom>
            <a:ln w="63500" cap="flat">
              <a:solidFill>
                <a:srgbClr val="A28231"/>
              </a:solidFill>
              <a:prstDash val="solid"/>
              <a:headEnd type="none" w="sm" len="sm"/>
              <a:tailEnd type="none" w="sm" len="sm"/>
            </a:ln>
          </p:spPr>
          <p:txBody>
            <a:bodyPr/>
            <a:lstStyle/>
            <a:p>
              <a:endParaRPr lang="en-GB"/>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1028665" y="302895"/>
            <a:ext cx="16230670" cy="773430"/>
            <a:chOff x="0" y="0"/>
            <a:chExt cx="21640893" cy="1031240"/>
          </a:xfrm>
        </p:grpSpPr>
        <p:sp>
          <p:nvSpPr>
            <p:cNvPr id="3" name="TextBox 3"/>
            <p:cNvSpPr txBox="1"/>
            <p:nvPr/>
          </p:nvSpPr>
          <p:spPr>
            <a:xfrm>
              <a:off x="47" y="-95250"/>
              <a:ext cx="13424098"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APPENDIX: MASS FLOW RATES</a:t>
              </a:r>
            </a:p>
          </p:txBody>
        </p:sp>
        <p:sp>
          <p:nvSpPr>
            <p:cNvPr id="4" name="AutoShape 4"/>
            <p:cNvSpPr/>
            <p:nvPr/>
          </p:nvSpPr>
          <p:spPr>
            <a:xfrm flipV="1">
              <a:off x="47" y="967740"/>
              <a:ext cx="21640800" cy="31750"/>
            </a:xfrm>
            <a:prstGeom prst="line">
              <a:avLst/>
            </a:prstGeom>
            <a:ln w="63500" cap="flat">
              <a:solidFill>
                <a:srgbClr val="A28231"/>
              </a:solidFill>
              <a:prstDash val="solid"/>
              <a:headEnd type="none" w="sm" len="sm"/>
              <a:tailEnd type="none" w="sm" len="sm"/>
            </a:ln>
          </p:spPr>
          <p:txBody>
            <a:bodyPr/>
            <a:lstStyle/>
            <a:p>
              <a:endParaRPr lang="en-GB"/>
            </a:p>
          </p:txBody>
        </p:sp>
      </p:grpSp>
      <p:sp>
        <p:nvSpPr>
          <p:cNvPr id="5" name="Freeform 5"/>
          <p:cNvSpPr/>
          <p:nvPr/>
        </p:nvSpPr>
        <p:spPr>
          <a:xfrm>
            <a:off x="2729958" y="1196394"/>
            <a:ext cx="12828085" cy="9374228"/>
          </a:xfrm>
          <a:custGeom>
            <a:avLst/>
            <a:gdLst/>
            <a:ahLst/>
            <a:cxnLst/>
            <a:rect l="l" t="t" r="r" b="b"/>
            <a:pathLst>
              <a:path w="12828085" h="9374228">
                <a:moveTo>
                  <a:pt x="0" y="0"/>
                </a:moveTo>
                <a:lnTo>
                  <a:pt x="12828084" y="0"/>
                </a:lnTo>
                <a:lnTo>
                  <a:pt x="12828084" y="9374228"/>
                </a:lnTo>
                <a:lnTo>
                  <a:pt x="0" y="9374228"/>
                </a:lnTo>
                <a:lnTo>
                  <a:pt x="0" y="0"/>
                </a:lnTo>
                <a:close/>
              </a:path>
            </a:pathLst>
          </a:custGeom>
          <a:blipFill>
            <a:blip r:embed="rId2"/>
            <a:stretch>
              <a:fillRect l="-4892" t="-13054" r="-8561" b="-7698"/>
            </a:stretch>
          </a:blipFill>
        </p:spPr>
        <p:txBody>
          <a:bodyPr/>
          <a:lstStyle/>
          <a:p>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1028665" y="302895"/>
            <a:ext cx="16230670" cy="773430"/>
            <a:chOff x="0" y="0"/>
            <a:chExt cx="21640893" cy="1031240"/>
          </a:xfrm>
        </p:grpSpPr>
        <p:sp>
          <p:nvSpPr>
            <p:cNvPr id="3" name="TextBox 3"/>
            <p:cNvSpPr txBox="1"/>
            <p:nvPr/>
          </p:nvSpPr>
          <p:spPr>
            <a:xfrm>
              <a:off x="47" y="-95250"/>
              <a:ext cx="13424098"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APPENDIX: UML</a:t>
              </a:r>
            </a:p>
          </p:txBody>
        </p:sp>
        <p:sp>
          <p:nvSpPr>
            <p:cNvPr id="4" name="AutoShape 4"/>
            <p:cNvSpPr/>
            <p:nvPr/>
          </p:nvSpPr>
          <p:spPr>
            <a:xfrm flipV="1">
              <a:off x="47" y="967740"/>
              <a:ext cx="21640800" cy="31750"/>
            </a:xfrm>
            <a:prstGeom prst="line">
              <a:avLst/>
            </a:prstGeom>
            <a:ln w="63500" cap="flat">
              <a:solidFill>
                <a:srgbClr val="A28231"/>
              </a:solidFill>
              <a:prstDash val="solid"/>
              <a:headEnd type="none" w="sm" len="sm"/>
              <a:tailEnd type="none" w="sm" len="sm"/>
            </a:ln>
          </p:spPr>
          <p:txBody>
            <a:bodyPr/>
            <a:lstStyle/>
            <a:p>
              <a:endParaRPr lang="en-GB"/>
            </a:p>
          </p:txBody>
        </p:sp>
      </p:grpSp>
      <p:grpSp>
        <p:nvGrpSpPr>
          <p:cNvPr id="5" name="Group 5"/>
          <p:cNvGrpSpPr/>
          <p:nvPr/>
        </p:nvGrpSpPr>
        <p:grpSpPr>
          <a:xfrm rot="-5400000">
            <a:off x="4824371" y="-439371"/>
            <a:ext cx="8639259" cy="12235206"/>
            <a:chOff x="0" y="0"/>
            <a:chExt cx="11519012" cy="16313608"/>
          </a:xfrm>
        </p:grpSpPr>
        <p:grpSp>
          <p:nvGrpSpPr>
            <p:cNvPr id="6" name="Group 6"/>
            <p:cNvGrpSpPr/>
            <p:nvPr/>
          </p:nvGrpSpPr>
          <p:grpSpPr>
            <a:xfrm>
              <a:off x="0" y="494908"/>
              <a:ext cx="2564521" cy="1169781"/>
              <a:chOff x="0" y="0"/>
              <a:chExt cx="3860800" cy="1761067"/>
            </a:xfrm>
          </p:grpSpPr>
          <p:sp>
            <p:nvSpPr>
              <p:cNvPr id="7" name="Freeform 7"/>
              <p:cNvSpPr/>
              <p:nvPr/>
            </p:nvSpPr>
            <p:spPr>
              <a:xfrm>
                <a:off x="0" y="0"/>
                <a:ext cx="3860800" cy="1761067"/>
              </a:xfrm>
              <a:custGeom>
                <a:avLst/>
                <a:gdLst/>
                <a:ahLst/>
                <a:cxnLst/>
                <a:rect l="l" t="t" r="r" b="b"/>
                <a:pathLst>
                  <a:path w="3860800" h="1761067">
                    <a:moveTo>
                      <a:pt x="0" y="0"/>
                    </a:moveTo>
                    <a:lnTo>
                      <a:pt x="3860800" y="0"/>
                    </a:lnTo>
                    <a:lnTo>
                      <a:pt x="3860800" y="1761067"/>
                    </a:lnTo>
                    <a:lnTo>
                      <a:pt x="0" y="1761067"/>
                    </a:lnTo>
                    <a:close/>
                  </a:path>
                </a:pathLst>
              </a:custGeom>
              <a:solidFill>
                <a:srgbClr val="D9D9D9"/>
              </a:solidFill>
            </p:spPr>
            <p:txBody>
              <a:bodyPr/>
              <a:lstStyle/>
              <a:p>
                <a:endParaRPr lang="en-GB"/>
              </a:p>
            </p:txBody>
          </p:sp>
          <p:sp>
            <p:nvSpPr>
              <p:cNvPr id="8" name="TextBox 8"/>
              <p:cNvSpPr txBox="1"/>
              <p:nvPr/>
            </p:nvSpPr>
            <p:spPr>
              <a:xfrm>
                <a:off x="0" y="-9525"/>
                <a:ext cx="3860800" cy="1770592"/>
              </a:xfrm>
              <a:prstGeom prst="rect">
                <a:avLst/>
              </a:prstGeom>
            </p:spPr>
            <p:txBody>
              <a:bodyPr lIns="50800" tIns="50800" rIns="50800" bIns="50800" rtlCol="0" anchor="ctr"/>
              <a:lstStyle/>
              <a:p>
                <a:pPr algn="ctr">
                  <a:lnSpc>
                    <a:spcPts val="1584"/>
                  </a:lnSpc>
                </a:pPr>
                <a:endParaRPr/>
              </a:p>
            </p:txBody>
          </p:sp>
        </p:grpSp>
        <p:grpSp>
          <p:nvGrpSpPr>
            <p:cNvPr id="9" name="Group 9"/>
            <p:cNvGrpSpPr/>
            <p:nvPr/>
          </p:nvGrpSpPr>
          <p:grpSpPr>
            <a:xfrm>
              <a:off x="21222" y="3369126"/>
              <a:ext cx="2564521" cy="2038760"/>
              <a:chOff x="0" y="0"/>
              <a:chExt cx="3860800" cy="3069285"/>
            </a:xfrm>
          </p:grpSpPr>
          <p:sp>
            <p:nvSpPr>
              <p:cNvPr id="10" name="Freeform 10"/>
              <p:cNvSpPr/>
              <p:nvPr/>
            </p:nvSpPr>
            <p:spPr>
              <a:xfrm>
                <a:off x="0" y="0"/>
                <a:ext cx="3860800" cy="3069285"/>
              </a:xfrm>
              <a:custGeom>
                <a:avLst/>
                <a:gdLst/>
                <a:ahLst/>
                <a:cxnLst/>
                <a:rect l="l" t="t" r="r" b="b"/>
                <a:pathLst>
                  <a:path w="3860800" h="3069285">
                    <a:moveTo>
                      <a:pt x="0" y="0"/>
                    </a:moveTo>
                    <a:lnTo>
                      <a:pt x="3860800" y="0"/>
                    </a:lnTo>
                    <a:lnTo>
                      <a:pt x="3860800" y="3069285"/>
                    </a:lnTo>
                    <a:lnTo>
                      <a:pt x="0" y="3069285"/>
                    </a:lnTo>
                    <a:close/>
                  </a:path>
                </a:pathLst>
              </a:custGeom>
              <a:solidFill>
                <a:srgbClr val="D9D9D9"/>
              </a:solidFill>
            </p:spPr>
            <p:txBody>
              <a:bodyPr/>
              <a:lstStyle/>
              <a:p>
                <a:endParaRPr lang="en-GB"/>
              </a:p>
            </p:txBody>
          </p:sp>
          <p:sp>
            <p:nvSpPr>
              <p:cNvPr id="11" name="TextBox 11"/>
              <p:cNvSpPr txBox="1"/>
              <p:nvPr/>
            </p:nvSpPr>
            <p:spPr>
              <a:xfrm>
                <a:off x="0" y="-9525"/>
                <a:ext cx="3860800" cy="3078810"/>
              </a:xfrm>
              <a:prstGeom prst="rect">
                <a:avLst/>
              </a:prstGeom>
            </p:spPr>
            <p:txBody>
              <a:bodyPr lIns="50800" tIns="50800" rIns="50800" bIns="50800" rtlCol="0" anchor="ctr"/>
              <a:lstStyle/>
              <a:p>
                <a:pPr algn="ctr">
                  <a:lnSpc>
                    <a:spcPts val="1584"/>
                  </a:lnSpc>
                </a:pPr>
                <a:endParaRPr/>
              </a:p>
            </p:txBody>
          </p:sp>
        </p:grpSp>
        <p:grpSp>
          <p:nvGrpSpPr>
            <p:cNvPr id="12" name="Group 12"/>
            <p:cNvGrpSpPr/>
            <p:nvPr/>
          </p:nvGrpSpPr>
          <p:grpSpPr>
            <a:xfrm>
              <a:off x="4258947" y="22496"/>
              <a:ext cx="2564521" cy="2114605"/>
              <a:chOff x="0" y="0"/>
              <a:chExt cx="3860800" cy="3183467"/>
            </a:xfrm>
          </p:grpSpPr>
          <p:sp>
            <p:nvSpPr>
              <p:cNvPr id="13" name="Freeform 13"/>
              <p:cNvSpPr/>
              <p:nvPr/>
            </p:nvSpPr>
            <p:spPr>
              <a:xfrm>
                <a:off x="0" y="0"/>
                <a:ext cx="3860800" cy="3183467"/>
              </a:xfrm>
              <a:custGeom>
                <a:avLst/>
                <a:gdLst/>
                <a:ahLst/>
                <a:cxnLst/>
                <a:rect l="l" t="t" r="r" b="b"/>
                <a:pathLst>
                  <a:path w="3860800" h="3183467">
                    <a:moveTo>
                      <a:pt x="0" y="0"/>
                    </a:moveTo>
                    <a:lnTo>
                      <a:pt x="3860800" y="0"/>
                    </a:lnTo>
                    <a:lnTo>
                      <a:pt x="3860800" y="3183467"/>
                    </a:lnTo>
                    <a:lnTo>
                      <a:pt x="0" y="3183467"/>
                    </a:lnTo>
                    <a:close/>
                  </a:path>
                </a:pathLst>
              </a:custGeom>
              <a:solidFill>
                <a:srgbClr val="D9D9D9"/>
              </a:solidFill>
            </p:spPr>
            <p:txBody>
              <a:bodyPr/>
              <a:lstStyle/>
              <a:p>
                <a:endParaRPr lang="en-GB"/>
              </a:p>
            </p:txBody>
          </p:sp>
          <p:sp>
            <p:nvSpPr>
              <p:cNvPr id="14" name="TextBox 14"/>
              <p:cNvSpPr txBox="1"/>
              <p:nvPr/>
            </p:nvSpPr>
            <p:spPr>
              <a:xfrm>
                <a:off x="0" y="-9525"/>
                <a:ext cx="3860800" cy="3192992"/>
              </a:xfrm>
              <a:prstGeom prst="rect">
                <a:avLst/>
              </a:prstGeom>
            </p:spPr>
            <p:txBody>
              <a:bodyPr lIns="50800" tIns="50800" rIns="50800" bIns="50800" rtlCol="0" anchor="ctr"/>
              <a:lstStyle/>
              <a:p>
                <a:pPr algn="ctr">
                  <a:lnSpc>
                    <a:spcPts val="1584"/>
                  </a:lnSpc>
                </a:pPr>
                <a:endParaRPr/>
              </a:p>
            </p:txBody>
          </p:sp>
        </p:grpSp>
        <p:grpSp>
          <p:nvGrpSpPr>
            <p:cNvPr id="15" name="Group 15"/>
            <p:cNvGrpSpPr/>
            <p:nvPr/>
          </p:nvGrpSpPr>
          <p:grpSpPr>
            <a:xfrm>
              <a:off x="32470" y="3419405"/>
              <a:ext cx="2558897" cy="174898"/>
              <a:chOff x="0" y="0"/>
              <a:chExt cx="760319" cy="51967"/>
            </a:xfrm>
          </p:grpSpPr>
          <p:sp>
            <p:nvSpPr>
              <p:cNvPr id="16" name="Freeform 16"/>
              <p:cNvSpPr/>
              <p:nvPr/>
            </p:nvSpPr>
            <p:spPr>
              <a:xfrm>
                <a:off x="0" y="0"/>
                <a:ext cx="760319" cy="51967"/>
              </a:xfrm>
              <a:custGeom>
                <a:avLst/>
                <a:gdLst/>
                <a:ahLst/>
                <a:cxnLst/>
                <a:rect l="l" t="t" r="r" b="b"/>
                <a:pathLst>
                  <a:path w="760319" h="51967">
                    <a:moveTo>
                      <a:pt x="0" y="0"/>
                    </a:moveTo>
                    <a:lnTo>
                      <a:pt x="760319" y="0"/>
                    </a:lnTo>
                    <a:lnTo>
                      <a:pt x="760319" y="51967"/>
                    </a:lnTo>
                    <a:lnTo>
                      <a:pt x="0" y="51967"/>
                    </a:lnTo>
                    <a:close/>
                  </a:path>
                </a:pathLst>
              </a:custGeom>
              <a:solidFill>
                <a:srgbClr val="5CE1E6"/>
              </a:solidFill>
            </p:spPr>
            <p:txBody>
              <a:bodyPr/>
              <a:lstStyle/>
              <a:p>
                <a:endParaRPr lang="en-GB"/>
              </a:p>
            </p:txBody>
          </p:sp>
          <p:sp>
            <p:nvSpPr>
              <p:cNvPr id="17" name="TextBox 17"/>
              <p:cNvSpPr txBox="1"/>
              <p:nvPr/>
            </p:nvSpPr>
            <p:spPr>
              <a:xfrm>
                <a:off x="0" y="-9525"/>
                <a:ext cx="760319" cy="61492"/>
              </a:xfrm>
              <a:prstGeom prst="rect">
                <a:avLst/>
              </a:prstGeom>
            </p:spPr>
            <p:txBody>
              <a:bodyPr lIns="50800" tIns="50800" rIns="50800" bIns="50800" rtlCol="0" anchor="ctr"/>
              <a:lstStyle/>
              <a:p>
                <a:pPr algn="ctr">
                  <a:lnSpc>
                    <a:spcPts val="1584"/>
                  </a:lnSpc>
                </a:pPr>
                <a:endParaRPr/>
              </a:p>
            </p:txBody>
          </p:sp>
        </p:grpSp>
        <p:sp>
          <p:nvSpPr>
            <p:cNvPr id="18" name="TextBox 18"/>
            <p:cNvSpPr txBox="1"/>
            <p:nvPr/>
          </p:nvSpPr>
          <p:spPr>
            <a:xfrm>
              <a:off x="58568" y="3409836"/>
              <a:ext cx="1431383" cy="151436"/>
            </a:xfrm>
            <a:prstGeom prst="rect">
              <a:avLst/>
            </a:prstGeom>
          </p:spPr>
          <p:txBody>
            <a:bodyPr lIns="0" tIns="0" rIns="0" bIns="0" rtlCol="0" anchor="t">
              <a:spAutoFit/>
            </a:bodyPr>
            <a:lstStyle/>
            <a:p>
              <a:pPr algn="ctr">
                <a:lnSpc>
                  <a:spcPts val="991"/>
                </a:lnSpc>
              </a:pPr>
              <a:r>
                <a:rPr lang="en-US" sz="708">
                  <a:solidFill>
                    <a:srgbClr val="000000"/>
                  </a:solidFill>
                  <a:latin typeface="Canva Sans Bold"/>
                </a:rPr>
                <a:t>Temperature generation</a:t>
              </a:r>
            </a:p>
          </p:txBody>
        </p:sp>
        <p:grpSp>
          <p:nvGrpSpPr>
            <p:cNvPr id="19" name="Group 19"/>
            <p:cNvGrpSpPr/>
            <p:nvPr/>
          </p:nvGrpSpPr>
          <p:grpSpPr>
            <a:xfrm>
              <a:off x="32470" y="8093309"/>
              <a:ext cx="2564521" cy="2205746"/>
              <a:chOff x="0" y="0"/>
              <a:chExt cx="3860800" cy="3320677"/>
            </a:xfrm>
          </p:grpSpPr>
          <p:sp>
            <p:nvSpPr>
              <p:cNvPr id="20" name="Freeform 20"/>
              <p:cNvSpPr/>
              <p:nvPr/>
            </p:nvSpPr>
            <p:spPr>
              <a:xfrm>
                <a:off x="0" y="0"/>
                <a:ext cx="3860800" cy="3320677"/>
              </a:xfrm>
              <a:custGeom>
                <a:avLst/>
                <a:gdLst/>
                <a:ahLst/>
                <a:cxnLst/>
                <a:rect l="l" t="t" r="r" b="b"/>
                <a:pathLst>
                  <a:path w="3860800" h="3320677">
                    <a:moveTo>
                      <a:pt x="0" y="0"/>
                    </a:moveTo>
                    <a:lnTo>
                      <a:pt x="3860800" y="0"/>
                    </a:lnTo>
                    <a:lnTo>
                      <a:pt x="3860800" y="3320677"/>
                    </a:lnTo>
                    <a:lnTo>
                      <a:pt x="0" y="3320677"/>
                    </a:lnTo>
                    <a:close/>
                  </a:path>
                </a:pathLst>
              </a:custGeom>
              <a:solidFill>
                <a:srgbClr val="D9D9D9"/>
              </a:solidFill>
            </p:spPr>
            <p:txBody>
              <a:bodyPr/>
              <a:lstStyle/>
              <a:p>
                <a:endParaRPr lang="en-GB"/>
              </a:p>
            </p:txBody>
          </p:sp>
          <p:sp>
            <p:nvSpPr>
              <p:cNvPr id="21" name="TextBox 21"/>
              <p:cNvSpPr txBox="1"/>
              <p:nvPr/>
            </p:nvSpPr>
            <p:spPr>
              <a:xfrm>
                <a:off x="0" y="-9525"/>
                <a:ext cx="3860800" cy="3330202"/>
              </a:xfrm>
              <a:prstGeom prst="rect">
                <a:avLst/>
              </a:prstGeom>
            </p:spPr>
            <p:txBody>
              <a:bodyPr lIns="50800" tIns="50800" rIns="50800" bIns="50800" rtlCol="0" anchor="ctr"/>
              <a:lstStyle/>
              <a:p>
                <a:pPr algn="ctr">
                  <a:lnSpc>
                    <a:spcPts val="1584"/>
                  </a:lnSpc>
                </a:pPr>
                <a:endParaRPr/>
              </a:p>
            </p:txBody>
          </p:sp>
        </p:grpSp>
        <p:grpSp>
          <p:nvGrpSpPr>
            <p:cNvPr id="22" name="Group 22"/>
            <p:cNvGrpSpPr/>
            <p:nvPr/>
          </p:nvGrpSpPr>
          <p:grpSpPr>
            <a:xfrm>
              <a:off x="8953028" y="5600032"/>
              <a:ext cx="2564521" cy="2649435"/>
              <a:chOff x="0" y="0"/>
              <a:chExt cx="3860800" cy="3988636"/>
            </a:xfrm>
          </p:grpSpPr>
          <p:sp>
            <p:nvSpPr>
              <p:cNvPr id="23" name="Freeform 23"/>
              <p:cNvSpPr/>
              <p:nvPr/>
            </p:nvSpPr>
            <p:spPr>
              <a:xfrm>
                <a:off x="0" y="0"/>
                <a:ext cx="3860800" cy="3988636"/>
              </a:xfrm>
              <a:custGeom>
                <a:avLst/>
                <a:gdLst/>
                <a:ahLst/>
                <a:cxnLst/>
                <a:rect l="l" t="t" r="r" b="b"/>
                <a:pathLst>
                  <a:path w="3860800" h="3988636">
                    <a:moveTo>
                      <a:pt x="0" y="0"/>
                    </a:moveTo>
                    <a:lnTo>
                      <a:pt x="3860800" y="0"/>
                    </a:lnTo>
                    <a:lnTo>
                      <a:pt x="3860800" y="3988636"/>
                    </a:lnTo>
                    <a:lnTo>
                      <a:pt x="0" y="3988636"/>
                    </a:lnTo>
                    <a:close/>
                  </a:path>
                </a:pathLst>
              </a:custGeom>
              <a:solidFill>
                <a:srgbClr val="D9D9D9"/>
              </a:solidFill>
            </p:spPr>
            <p:txBody>
              <a:bodyPr/>
              <a:lstStyle/>
              <a:p>
                <a:endParaRPr lang="en-GB"/>
              </a:p>
            </p:txBody>
          </p:sp>
          <p:sp>
            <p:nvSpPr>
              <p:cNvPr id="24" name="TextBox 24"/>
              <p:cNvSpPr txBox="1"/>
              <p:nvPr/>
            </p:nvSpPr>
            <p:spPr>
              <a:xfrm>
                <a:off x="0" y="-9525"/>
                <a:ext cx="3860800" cy="3998161"/>
              </a:xfrm>
              <a:prstGeom prst="rect">
                <a:avLst/>
              </a:prstGeom>
            </p:spPr>
            <p:txBody>
              <a:bodyPr lIns="50800" tIns="50800" rIns="50800" bIns="50800" rtlCol="0" anchor="ctr"/>
              <a:lstStyle/>
              <a:p>
                <a:pPr algn="ctr">
                  <a:lnSpc>
                    <a:spcPts val="1584"/>
                  </a:lnSpc>
                </a:pPr>
                <a:endParaRPr/>
              </a:p>
            </p:txBody>
          </p:sp>
        </p:grpSp>
        <p:grpSp>
          <p:nvGrpSpPr>
            <p:cNvPr id="25" name="Group 25"/>
            <p:cNvGrpSpPr/>
            <p:nvPr/>
          </p:nvGrpSpPr>
          <p:grpSpPr>
            <a:xfrm>
              <a:off x="774260" y="13523691"/>
              <a:ext cx="1131375" cy="837809"/>
              <a:chOff x="0" y="0"/>
              <a:chExt cx="1703247" cy="1261294"/>
            </a:xfrm>
          </p:grpSpPr>
          <p:sp>
            <p:nvSpPr>
              <p:cNvPr id="26" name="Freeform 26"/>
              <p:cNvSpPr/>
              <p:nvPr/>
            </p:nvSpPr>
            <p:spPr>
              <a:xfrm>
                <a:off x="0" y="0"/>
                <a:ext cx="1703247" cy="1261294"/>
              </a:xfrm>
              <a:custGeom>
                <a:avLst/>
                <a:gdLst/>
                <a:ahLst/>
                <a:cxnLst/>
                <a:rect l="l" t="t" r="r" b="b"/>
                <a:pathLst>
                  <a:path w="1703247" h="1261294">
                    <a:moveTo>
                      <a:pt x="0" y="0"/>
                    </a:moveTo>
                    <a:lnTo>
                      <a:pt x="1703247" y="0"/>
                    </a:lnTo>
                    <a:lnTo>
                      <a:pt x="1703247" y="1261294"/>
                    </a:lnTo>
                    <a:lnTo>
                      <a:pt x="0" y="1261294"/>
                    </a:lnTo>
                    <a:close/>
                  </a:path>
                </a:pathLst>
              </a:custGeom>
              <a:solidFill>
                <a:srgbClr val="D9D9D9"/>
              </a:solidFill>
            </p:spPr>
            <p:txBody>
              <a:bodyPr/>
              <a:lstStyle/>
              <a:p>
                <a:endParaRPr lang="en-GB"/>
              </a:p>
            </p:txBody>
          </p:sp>
          <p:sp>
            <p:nvSpPr>
              <p:cNvPr id="27" name="TextBox 27"/>
              <p:cNvSpPr txBox="1"/>
              <p:nvPr/>
            </p:nvSpPr>
            <p:spPr>
              <a:xfrm>
                <a:off x="0" y="-9525"/>
                <a:ext cx="1703247" cy="1270819"/>
              </a:xfrm>
              <a:prstGeom prst="rect">
                <a:avLst/>
              </a:prstGeom>
            </p:spPr>
            <p:txBody>
              <a:bodyPr lIns="50800" tIns="50800" rIns="50800" bIns="50800" rtlCol="0" anchor="ctr"/>
              <a:lstStyle/>
              <a:p>
                <a:pPr algn="ctr">
                  <a:lnSpc>
                    <a:spcPts val="1584"/>
                  </a:lnSpc>
                </a:pPr>
                <a:endParaRPr/>
              </a:p>
            </p:txBody>
          </p:sp>
        </p:grpSp>
        <p:grpSp>
          <p:nvGrpSpPr>
            <p:cNvPr id="28" name="Group 28"/>
            <p:cNvGrpSpPr/>
            <p:nvPr/>
          </p:nvGrpSpPr>
          <p:grpSpPr>
            <a:xfrm>
              <a:off x="4939974" y="12959905"/>
              <a:ext cx="2564521" cy="1965382"/>
              <a:chOff x="0" y="0"/>
              <a:chExt cx="3860800" cy="2958817"/>
            </a:xfrm>
          </p:grpSpPr>
          <p:sp>
            <p:nvSpPr>
              <p:cNvPr id="29" name="Freeform 29"/>
              <p:cNvSpPr/>
              <p:nvPr/>
            </p:nvSpPr>
            <p:spPr>
              <a:xfrm>
                <a:off x="0" y="0"/>
                <a:ext cx="3860800" cy="2958817"/>
              </a:xfrm>
              <a:custGeom>
                <a:avLst/>
                <a:gdLst/>
                <a:ahLst/>
                <a:cxnLst/>
                <a:rect l="l" t="t" r="r" b="b"/>
                <a:pathLst>
                  <a:path w="3860800" h="2958817">
                    <a:moveTo>
                      <a:pt x="0" y="0"/>
                    </a:moveTo>
                    <a:lnTo>
                      <a:pt x="3860800" y="0"/>
                    </a:lnTo>
                    <a:lnTo>
                      <a:pt x="3860800" y="2958817"/>
                    </a:lnTo>
                    <a:lnTo>
                      <a:pt x="0" y="2958817"/>
                    </a:lnTo>
                    <a:close/>
                  </a:path>
                </a:pathLst>
              </a:custGeom>
              <a:solidFill>
                <a:srgbClr val="D9D9D9"/>
              </a:solidFill>
            </p:spPr>
            <p:txBody>
              <a:bodyPr/>
              <a:lstStyle/>
              <a:p>
                <a:endParaRPr lang="en-GB"/>
              </a:p>
            </p:txBody>
          </p:sp>
          <p:sp>
            <p:nvSpPr>
              <p:cNvPr id="30" name="TextBox 30"/>
              <p:cNvSpPr txBox="1"/>
              <p:nvPr/>
            </p:nvSpPr>
            <p:spPr>
              <a:xfrm>
                <a:off x="0" y="-9525"/>
                <a:ext cx="3860800" cy="2968342"/>
              </a:xfrm>
              <a:prstGeom prst="rect">
                <a:avLst/>
              </a:prstGeom>
            </p:spPr>
            <p:txBody>
              <a:bodyPr lIns="50800" tIns="50800" rIns="50800" bIns="50800" rtlCol="0" anchor="ctr"/>
              <a:lstStyle/>
              <a:p>
                <a:pPr algn="ctr">
                  <a:lnSpc>
                    <a:spcPts val="1584"/>
                  </a:lnSpc>
                </a:pPr>
                <a:endParaRPr/>
              </a:p>
            </p:txBody>
          </p:sp>
        </p:grpSp>
        <p:grpSp>
          <p:nvGrpSpPr>
            <p:cNvPr id="31" name="Group 31"/>
            <p:cNvGrpSpPr/>
            <p:nvPr/>
          </p:nvGrpSpPr>
          <p:grpSpPr>
            <a:xfrm>
              <a:off x="4945598" y="12959905"/>
              <a:ext cx="2558897" cy="174898"/>
              <a:chOff x="0" y="0"/>
              <a:chExt cx="760319" cy="51967"/>
            </a:xfrm>
          </p:grpSpPr>
          <p:sp>
            <p:nvSpPr>
              <p:cNvPr id="32" name="Freeform 32"/>
              <p:cNvSpPr/>
              <p:nvPr/>
            </p:nvSpPr>
            <p:spPr>
              <a:xfrm>
                <a:off x="0" y="0"/>
                <a:ext cx="760319" cy="51967"/>
              </a:xfrm>
              <a:custGeom>
                <a:avLst/>
                <a:gdLst/>
                <a:ahLst/>
                <a:cxnLst/>
                <a:rect l="l" t="t" r="r" b="b"/>
                <a:pathLst>
                  <a:path w="760319" h="51967">
                    <a:moveTo>
                      <a:pt x="0" y="0"/>
                    </a:moveTo>
                    <a:lnTo>
                      <a:pt x="760319" y="0"/>
                    </a:lnTo>
                    <a:lnTo>
                      <a:pt x="760319" y="51967"/>
                    </a:lnTo>
                    <a:lnTo>
                      <a:pt x="0" y="51967"/>
                    </a:lnTo>
                    <a:close/>
                  </a:path>
                </a:pathLst>
              </a:custGeom>
              <a:solidFill>
                <a:srgbClr val="5CE1E6"/>
              </a:solidFill>
            </p:spPr>
            <p:txBody>
              <a:bodyPr/>
              <a:lstStyle/>
              <a:p>
                <a:endParaRPr lang="en-GB"/>
              </a:p>
            </p:txBody>
          </p:sp>
          <p:sp>
            <p:nvSpPr>
              <p:cNvPr id="33" name="TextBox 33"/>
              <p:cNvSpPr txBox="1"/>
              <p:nvPr/>
            </p:nvSpPr>
            <p:spPr>
              <a:xfrm>
                <a:off x="0" y="-9525"/>
                <a:ext cx="760319" cy="61492"/>
              </a:xfrm>
              <a:prstGeom prst="rect">
                <a:avLst/>
              </a:prstGeom>
            </p:spPr>
            <p:txBody>
              <a:bodyPr lIns="50800" tIns="50800" rIns="50800" bIns="50800" rtlCol="0" anchor="ctr"/>
              <a:lstStyle/>
              <a:p>
                <a:pPr algn="ctr">
                  <a:lnSpc>
                    <a:spcPts val="1584"/>
                  </a:lnSpc>
                </a:pPr>
                <a:endParaRPr/>
              </a:p>
            </p:txBody>
          </p:sp>
        </p:grpSp>
        <p:grpSp>
          <p:nvGrpSpPr>
            <p:cNvPr id="34" name="Group 34"/>
            <p:cNvGrpSpPr/>
            <p:nvPr/>
          </p:nvGrpSpPr>
          <p:grpSpPr>
            <a:xfrm>
              <a:off x="58568" y="8093370"/>
              <a:ext cx="2558897" cy="174898"/>
              <a:chOff x="0" y="0"/>
              <a:chExt cx="760319" cy="51967"/>
            </a:xfrm>
          </p:grpSpPr>
          <p:sp>
            <p:nvSpPr>
              <p:cNvPr id="35" name="Freeform 35"/>
              <p:cNvSpPr/>
              <p:nvPr/>
            </p:nvSpPr>
            <p:spPr>
              <a:xfrm>
                <a:off x="0" y="0"/>
                <a:ext cx="760319" cy="51967"/>
              </a:xfrm>
              <a:custGeom>
                <a:avLst/>
                <a:gdLst/>
                <a:ahLst/>
                <a:cxnLst/>
                <a:rect l="l" t="t" r="r" b="b"/>
                <a:pathLst>
                  <a:path w="760319" h="51967">
                    <a:moveTo>
                      <a:pt x="0" y="0"/>
                    </a:moveTo>
                    <a:lnTo>
                      <a:pt x="760319" y="0"/>
                    </a:lnTo>
                    <a:lnTo>
                      <a:pt x="760319" y="51967"/>
                    </a:lnTo>
                    <a:lnTo>
                      <a:pt x="0" y="51967"/>
                    </a:lnTo>
                    <a:close/>
                  </a:path>
                </a:pathLst>
              </a:custGeom>
              <a:solidFill>
                <a:srgbClr val="5CE1E6"/>
              </a:solidFill>
            </p:spPr>
            <p:txBody>
              <a:bodyPr/>
              <a:lstStyle/>
              <a:p>
                <a:endParaRPr lang="en-GB"/>
              </a:p>
            </p:txBody>
          </p:sp>
          <p:sp>
            <p:nvSpPr>
              <p:cNvPr id="36" name="TextBox 36"/>
              <p:cNvSpPr txBox="1"/>
              <p:nvPr/>
            </p:nvSpPr>
            <p:spPr>
              <a:xfrm>
                <a:off x="0" y="-9525"/>
                <a:ext cx="760319" cy="61492"/>
              </a:xfrm>
              <a:prstGeom prst="rect">
                <a:avLst/>
              </a:prstGeom>
            </p:spPr>
            <p:txBody>
              <a:bodyPr lIns="50800" tIns="50800" rIns="50800" bIns="50800" rtlCol="0" anchor="ctr"/>
              <a:lstStyle/>
              <a:p>
                <a:pPr algn="ctr">
                  <a:lnSpc>
                    <a:spcPts val="1584"/>
                  </a:lnSpc>
                </a:pPr>
                <a:endParaRPr/>
              </a:p>
            </p:txBody>
          </p:sp>
        </p:grpSp>
        <p:sp>
          <p:nvSpPr>
            <p:cNvPr id="37" name="TextBox 37"/>
            <p:cNvSpPr txBox="1"/>
            <p:nvPr/>
          </p:nvSpPr>
          <p:spPr>
            <a:xfrm>
              <a:off x="32470" y="8083784"/>
              <a:ext cx="1405768" cy="151436"/>
            </a:xfrm>
            <a:prstGeom prst="rect">
              <a:avLst/>
            </a:prstGeom>
          </p:spPr>
          <p:txBody>
            <a:bodyPr lIns="0" tIns="0" rIns="0" bIns="0" rtlCol="0" anchor="t">
              <a:spAutoFit/>
            </a:bodyPr>
            <a:lstStyle/>
            <a:p>
              <a:pPr algn="ctr">
                <a:lnSpc>
                  <a:spcPts val="991"/>
                </a:lnSpc>
              </a:pPr>
              <a:r>
                <a:rPr lang="en-US" sz="708">
                  <a:solidFill>
                    <a:srgbClr val="000000"/>
                  </a:solidFill>
                  <a:latin typeface="Canva Sans Bold"/>
                </a:rPr>
                <a:t>Heat transfer calculator</a:t>
              </a:r>
            </a:p>
          </p:txBody>
        </p:sp>
        <p:grpSp>
          <p:nvGrpSpPr>
            <p:cNvPr id="38" name="Group 38"/>
            <p:cNvGrpSpPr/>
            <p:nvPr/>
          </p:nvGrpSpPr>
          <p:grpSpPr>
            <a:xfrm>
              <a:off x="58568" y="15053405"/>
              <a:ext cx="2564521" cy="1260203"/>
              <a:chOff x="0" y="0"/>
              <a:chExt cx="3860800" cy="1897193"/>
            </a:xfrm>
          </p:grpSpPr>
          <p:sp>
            <p:nvSpPr>
              <p:cNvPr id="39" name="Freeform 39"/>
              <p:cNvSpPr/>
              <p:nvPr/>
            </p:nvSpPr>
            <p:spPr>
              <a:xfrm>
                <a:off x="0" y="0"/>
                <a:ext cx="3860800" cy="1897193"/>
              </a:xfrm>
              <a:custGeom>
                <a:avLst/>
                <a:gdLst/>
                <a:ahLst/>
                <a:cxnLst/>
                <a:rect l="l" t="t" r="r" b="b"/>
                <a:pathLst>
                  <a:path w="3860800" h="1897193">
                    <a:moveTo>
                      <a:pt x="0" y="0"/>
                    </a:moveTo>
                    <a:lnTo>
                      <a:pt x="3860800" y="0"/>
                    </a:lnTo>
                    <a:lnTo>
                      <a:pt x="3860800" y="1897193"/>
                    </a:lnTo>
                    <a:lnTo>
                      <a:pt x="0" y="1897193"/>
                    </a:lnTo>
                    <a:close/>
                  </a:path>
                </a:pathLst>
              </a:custGeom>
              <a:solidFill>
                <a:srgbClr val="D9D9D9"/>
              </a:solidFill>
            </p:spPr>
            <p:txBody>
              <a:bodyPr/>
              <a:lstStyle/>
              <a:p>
                <a:endParaRPr lang="en-GB"/>
              </a:p>
            </p:txBody>
          </p:sp>
          <p:sp>
            <p:nvSpPr>
              <p:cNvPr id="40" name="TextBox 40"/>
              <p:cNvSpPr txBox="1"/>
              <p:nvPr/>
            </p:nvSpPr>
            <p:spPr>
              <a:xfrm>
                <a:off x="0" y="-9525"/>
                <a:ext cx="3860800" cy="1906718"/>
              </a:xfrm>
              <a:prstGeom prst="rect">
                <a:avLst/>
              </a:prstGeom>
            </p:spPr>
            <p:txBody>
              <a:bodyPr lIns="50800" tIns="50800" rIns="50800" bIns="50800" rtlCol="0" anchor="ctr"/>
              <a:lstStyle/>
              <a:p>
                <a:pPr algn="ctr">
                  <a:lnSpc>
                    <a:spcPts val="1584"/>
                  </a:lnSpc>
                </a:pPr>
                <a:endParaRPr/>
              </a:p>
            </p:txBody>
          </p:sp>
        </p:grpSp>
        <p:sp>
          <p:nvSpPr>
            <p:cNvPr id="41" name="AutoShape 41"/>
            <p:cNvSpPr/>
            <p:nvPr/>
          </p:nvSpPr>
          <p:spPr>
            <a:xfrm flipV="1">
              <a:off x="2596990" y="1079798"/>
              <a:ext cx="1661957" cy="5624"/>
            </a:xfrm>
            <a:prstGeom prst="line">
              <a:avLst/>
            </a:prstGeom>
            <a:ln w="56990" cap="flat">
              <a:solidFill>
                <a:srgbClr val="000000"/>
              </a:solidFill>
              <a:prstDash val="sysDot"/>
              <a:headEnd type="none" w="sm" len="sm"/>
              <a:tailEnd type="arrow" w="med" len="sm"/>
            </a:ln>
          </p:spPr>
          <p:txBody>
            <a:bodyPr/>
            <a:lstStyle/>
            <a:p>
              <a:endParaRPr lang="en-GB"/>
            </a:p>
          </p:txBody>
        </p:sp>
        <p:sp>
          <p:nvSpPr>
            <p:cNvPr id="42" name="AutoShape 42"/>
            <p:cNvSpPr/>
            <p:nvPr/>
          </p:nvSpPr>
          <p:spPr>
            <a:xfrm>
              <a:off x="1303482" y="1664689"/>
              <a:ext cx="0" cy="1704438"/>
            </a:xfrm>
            <a:prstGeom prst="line">
              <a:avLst/>
            </a:prstGeom>
            <a:ln w="56990" cap="flat">
              <a:solidFill>
                <a:srgbClr val="000000"/>
              </a:solidFill>
              <a:prstDash val="sysDot"/>
              <a:headEnd type="none" w="sm" len="sm"/>
              <a:tailEnd type="arrow" w="med" len="sm"/>
            </a:ln>
          </p:spPr>
          <p:txBody>
            <a:bodyPr/>
            <a:lstStyle/>
            <a:p>
              <a:endParaRPr lang="en-GB"/>
            </a:p>
          </p:txBody>
        </p:sp>
        <p:sp>
          <p:nvSpPr>
            <p:cNvPr id="43" name="AutoShape 43"/>
            <p:cNvSpPr/>
            <p:nvPr/>
          </p:nvSpPr>
          <p:spPr>
            <a:xfrm flipV="1">
              <a:off x="2028152" y="1895271"/>
              <a:ext cx="2230795" cy="1524090"/>
            </a:xfrm>
            <a:prstGeom prst="line">
              <a:avLst/>
            </a:prstGeom>
            <a:ln w="56990" cap="flat">
              <a:solidFill>
                <a:srgbClr val="000000"/>
              </a:solidFill>
              <a:prstDash val="solid"/>
              <a:headEnd type="none" w="sm" len="sm"/>
              <a:tailEnd type="none" w="sm" len="sm"/>
            </a:ln>
          </p:spPr>
          <p:txBody>
            <a:bodyPr/>
            <a:lstStyle/>
            <a:p>
              <a:endParaRPr lang="en-GB"/>
            </a:p>
          </p:txBody>
        </p:sp>
        <p:sp>
          <p:nvSpPr>
            <p:cNvPr id="44" name="AutoShape 44"/>
            <p:cNvSpPr/>
            <p:nvPr/>
          </p:nvSpPr>
          <p:spPr>
            <a:xfrm>
              <a:off x="1303482" y="5407887"/>
              <a:ext cx="11248" cy="2685422"/>
            </a:xfrm>
            <a:prstGeom prst="line">
              <a:avLst/>
            </a:prstGeom>
            <a:ln w="56990" cap="flat">
              <a:solidFill>
                <a:srgbClr val="000000"/>
              </a:solidFill>
              <a:prstDash val="sysDot"/>
              <a:headEnd type="none" w="sm" len="sm"/>
              <a:tailEnd type="arrow" w="med" len="sm"/>
            </a:ln>
          </p:spPr>
          <p:txBody>
            <a:bodyPr/>
            <a:lstStyle/>
            <a:p>
              <a:endParaRPr lang="en-GB"/>
            </a:p>
          </p:txBody>
        </p:sp>
        <p:sp>
          <p:nvSpPr>
            <p:cNvPr id="45" name="AutoShape 45"/>
            <p:cNvSpPr/>
            <p:nvPr/>
          </p:nvSpPr>
          <p:spPr>
            <a:xfrm flipH="1">
              <a:off x="2585742" y="2137101"/>
              <a:ext cx="2877441" cy="2251406"/>
            </a:xfrm>
            <a:prstGeom prst="line">
              <a:avLst/>
            </a:prstGeom>
            <a:ln w="56990" cap="flat">
              <a:solidFill>
                <a:srgbClr val="000000"/>
              </a:solidFill>
              <a:prstDash val="sysDot"/>
              <a:headEnd type="none" w="sm" len="sm"/>
              <a:tailEnd type="arrow" w="med" len="sm"/>
            </a:ln>
          </p:spPr>
          <p:txBody>
            <a:bodyPr/>
            <a:lstStyle/>
            <a:p>
              <a:endParaRPr lang="en-GB"/>
            </a:p>
          </p:txBody>
        </p:sp>
        <p:sp>
          <p:nvSpPr>
            <p:cNvPr id="46" name="AutoShape 46"/>
            <p:cNvSpPr/>
            <p:nvPr/>
          </p:nvSpPr>
          <p:spPr>
            <a:xfrm>
              <a:off x="5649792" y="2137101"/>
              <a:ext cx="4585497" cy="3462932"/>
            </a:xfrm>
            <a:prstGeom prst="line">
              <a:avLst/>
            </a:prstGeom>
            <a:ln w="56990" cap="flat">
              <a:solidFill>
                <a:srgbClr val="000000"/>
              </a:solidFill>
              <a:prstDash val="solid"/>
              <a:headEnd type="none" w="sm" len="sm"/>
              <a:tailEnd type="none" w="sm" len="sm"/>
            </a:ln>
          </p:spPr>
          <p:txBody>
            <a:bodyPr/>
            <a:lstStyle/>
            <a:p>
              <a:endParaRPr lang="en-GB"/>
            </a:p>
          </p:txBody>
        </p:sp>
        <p:sp>
          <p:nvSpPr>
            <p:cNvPr id="47" name="AutoShape 47"/>
            <p:cNvSpPr/>
            <p:nvPr/>
          </p:nvSpPr>
          <p:spPr>
            <a:xfrm>
              <a:off x="1314730" y="10299055"/>
              <a:ext cx="25217" cy="3224636"/>
            </a:xfrm>
            <a:prstGeom prst="line">
              <a:avLst/>
            </a:prstGeom>
            <a:ln w="56990" cap="flat">
              <a:solidFill>
                <a:srgbClr val="000000"/>
              </a:solidFill>
              <a:prstDash val="solid"/>
              <a:headEnd type="none" w="sm" len="sm"/>
              <a:tailEnd type="none" w="sm" len="sm"/>
            </a:ln>
          </p:spPr>
          <p:txBody>
            <a:bodyPr/>
            <a:lstStyle/>
            <a:p>
              <a:endParaRPr lang="en-GB"/>
            </a:p>
          </p:txBody>
        </p:sp>
        <p:sp>
          <p:nvSpPr>
            <p:cNvPr id="48" name="AutoShape 48"/>
            <p:cNvSpPr/>
            <p:nvPr/>
          </p:nvSpPr>
          <p:spPr>
            <a:xfrm>
              <a:off x="2694326" y="9617399"/>
              <a:ext cx="3527908" cy="3342505"/>
            </a:xfrm>
            <a:prstGeom prst="line">
              <a:avLst/>
            </a:prstGeom>
            <a:ln w="56990" cap="flat">
              <a:solidFill>
                <a:srgbClr val="000000"/>
              </a:solidFill>
              <a:prstDash val="sysDot"/>
              <a:headEnd type="none" w="sm" len="sm"/>
              <a:tailEnd type="arrow" w="med" len="sm"/>
            </a:ln>
          </p:spPr>
          <p:txBody>
            <a:bodyPr/>
            <a:lstStyle/>
            <a:p>
              <a:endParaRPr lang="en-GB"/>
            </a:p>
          </p:txBody>
        </p:sp>
        <p:sp>
          <p:nvSpPr>
            <p:cNvPr id="49" name="AutoShape 49"/>
            <p:cNvSpPr/>
            <p:nvPr/>
          </p:nvSpPr>
          <p:spPr>
            <a:xfrm>
              <a:off x="7504494" y="13942596"/>
              <a:ext cx="1449997" cy="0"/>
            </a:xfrm>
            <a:prstGeom prst="line">
              <a:avLst/>
            </a:prstGeom>
            <a:ln w="56990" cap="flat">
              <a:solidFill>
                <a:srgbClr val="000000"/>
              </a:solidFill>
              <a:prstDash val="sysDot"/>
              <a:headEnd type="none" w="sm" len="sm"/>
              <a:tailEnd type="arrow" w="med" len="sm"/>
            </a:ln>
          </p:spPr>
          <p:txBody>
            <a:bodyPr/>
            <a:lstStyle/>
            <a:p>
              <a:endParaRPr lang="en-GB"/>
            </a:p>
          </p:txBody>
        </p:sp>
        <p:sp>
          <p:nvSpPr>
            <p:cNvPr id="50" name="AutoShape 50"/>
            <p:cNvSpPr/>
            <p:nvPr/>
          </p:nvSpPr>
          <p:spPr>
            <a:xfrm>
              <a:off x="10235288" y="8249468"/>
              <a:ext cx="1463" cy="4158151"/>
            </a:xfrm>
            <a:prstGeom prst="line">
              <a:avLst/>
            </a:prstGeom>
            <a:ln w="56990" cap="flat">
              <a:solidFill>
                <a:srgbClr val="000000"/>
              </a:solidFill>
              <a:prstDash val="sysDot"/>
              <a:headEnd type="none" w="sm" len="sm"/>
              <a:tailEnd type="arrow" w="med" len="sm"/>
            </a:ln>
          </p:spPr>
          <p:txBody>
            <a:bodyPr/>
            <a:lstStyle/>
            <a:p>
              <a:endParaRPr lang="en-GB"/>
            </a:p>
          </p:txBody>
        </p:sp>
        <p:sp>
          <p:nvSpPr>
            <p:cNvPr id="51" name="AutoShape 51"/>
            <p:cNvSpPr/>
            <p:nvPr/>
          </p:nvSpPr>
          <p:spPr>
            <a:xfrm>
              <a:off x="1339947" y="14361500"/>
              <a:ext cx="881" cy="691905"/>
            </a:xfrm>
            <a:prstGeom prst="line">
              <a:avLst/>
            </a:prstGeom>
            <a:ln w="56990" cap="flat">
              <a:solidFill>
                <a:srgbClr val="000000"/>
              </a:solidFill>
              <a:prstDash val="sysDot"/>
              <a:headEnd type="none" w="sm" len="sm"/>
              <a:tailEnd type="arrow" w="med" len="sm"/>
            </a:ln>
          </p:spPr>
          <p:txBody>
            <a:bodyPr/>
            <a:lstStyle/>
            <a:p>
              <a:endParaRPr lang="en-GB"/>
            </a:p>
          </p:txBody>
        </p:sp>
        <p:grpSp>
          <p:nvGrpSpPr>
            <p:cNvPr id="52" name="Group 52"/>
            <p:cNvGrpSpPr/>
            <p:nvPr/>
          </p:nvGrpSpPr>
          <p:grpSpPr>
            <a:xfrm>
              <a:off x="2908597" y="13523691"/>
              <a:ext cx="1131375" cy="837809"/>
              <a:chOff x="0" y="0"/>
              <a:chExt cx="1703247" cy="1261294"/>
            </a:xfrm>
          </p:grpSpPr>
          <p:sp>
            <p:nvSpPr>
              <p:cNvPr id="53" name="Freeform 53"/>
              <p:cNvSpPr/>
              <p:nvPr/>
            </p:nvSpPr>
            <p:spPr>
              <a:xfrm>
                <a:off x="0" y="0"/>
                <a:ext cx="1703247" cy="1261294"/>
              </a:xfrm>
              <a:custGeom>
                <a:avLst/>
                <a:gdLst/>
                <a:ahLst/>
                <a:cxnLst/>
                <a:rect l="l" t="t" r="r" b="b"/>
                <a:pathLst>
                  <a:path w="1703247" h="1261294">
                    <a:moveTo>
                      <a:pt x="0" y="0"/>
                    </a:moveTo>
                    <a:lnTo>
                      <a:pt x="1703247" y="0"/>
                    </a:lnTo>
                    <a:lnTo>
                      <a:pt x="1703247" y="1261294"/>
                    </a:lnTo>
                    <a:lnTo>
                      <a:pt x="0" y="1261294"/>
                    </a:lnTo>
                    <a:close/>
                  </a:path>
                </a:pathLst>
              </a:custGeom>
              <a:solidFill>
                <a:srgbClr val="D9D9D9"/>
              </a:solidFill>
            </p:spPr>
            <p:txBody>
              <a:bodyPr/>
              <a:lstStyle/>
              <a:p>
                <a:endParaRPr lang="en-GB"/>
              </a:p>
            </p:txBody>
          </p:sp>
          <p:sp>
            <p:nvSpPr>
              <p:cNvPr id="54" name="TextBox 54"/>
              <p:cNvSpPr txBox="1"/>
              <p:nvPr/>
            </p:nvSpPr>
            <p:spPr>
              <a:xfrm>
                <a:off x="0" y="-9525"/>
                <a:ext cx="1703247" cy="1270819"/>
              </a:xfrm>
              <a:prstGeom prst="rect">
                <a:avLst/>
              </a:prstGeom>
            </p:spPr>
            <p:txBody>
              <a:bodyPr lIns="50800" tIns="50800" rIns="50800" bIns="50800" rtlCol="0" anchor="ctr"/>
              <a:lstStyle/>
              <a:p>
                <a:pPr algn="ctr">
                  <a:lnSpc>
                    <a:spcPts val="1584"/>
                  </a:lnSpc>
                </a:pPr>
                <a:endParaRPr/>
              </a:p>
            </p:txBody>
          </p:sp>
        </p:grpSp>
        <p:sp>
          <p:nvSpPr>
            <p:cNvPr id="55" name="AutoShape 55"/>
            <p:cNvSpPr/>
            <p:nvPr/>
          </p:nvSpPr>
          <p:spPr>
            <a:xfrm>
              <a:off x="1905635" y="13942596"/>
              <a:ext cx="1002962" cy="0"/>
            </a:xfrm>
            <a:prstGeom prst="line">
              <a:avLst/>
            </a:prstGeom>
            <a:ln w="56990" cap="flat">
              <a:solidFill>
                <a:srgbClr val="000000"/>
              </a:solidFill>
              <a:prstDash val="sysDot"/>
              <a:headEnd type="none" w="sm" len="sm"/>
              <a:tailEnd type="arrow" w="med" len="sm"/>
            </a:ln>
          </p:spPr>
          <p:txBody>
            <a:bodyPr/>
            <a:lstStyle/>
            <a:p>
              <a:endParaRPr lang="en-GB"/>
            </a:p>
          </p:txBody>
        </p:sp>
        <p:sp>
          <p:nvSpPr>
            <p:cNvPr id="56" name="AutoShape 56"/>
            <p:cNvSpPr/>
            <p:nvPr/>
          </p:nvSpPr>
          <p:spPr>
            <a:xfrm flipV="1">
              <a:off x="4039972" y="13942596"/>
              <a:ext cx="900002" cy="0"/>
            </a:xfrm>
            <a:prstGeom prst="line">
              <a:avLst/>
            </a:prstGeom>
            <a:ln w="56990" cap="flat">
              <a:solidFill>
                <a:srgbClr val="000000"/>
              </a:solidFill>
              <a:prstDash val="sysDot"/>
              <a:headEnd type="none" w="sm" len="sm"/>
              <a:tailEnd type="arrow" w="med" len="sm"/>
            </a:ln>
          </p:spPr>
          <p:txBody>
            <a:bodyPr/>
            <a:lstStyle/>
            <a:p>
              <a:endParaRPr lang="en-GB"/>
            </a:p>
          </p:txBody>
        </p:sp>
        <p:grpSp>
          <p:nvGrpSpPr>
            <p:cNvPr id="57" name="Group 57"/>
            <p:cNvGrpSpPr/>
            <p:nvPr/>
          </p:nvGrpSpPr>
          <p:grpSpPr>
            <a:xfrm>
              <a:off x="8954491" y="12407619"/>
              <a:ext cx="2564521" cy="2877223"/>
              <a:chOff x="0" y="0"/>
              <a:chExt cx="3860800" cy="4331563"/>
            </a:xfrm>
          </p:grpSpPr>
          <p:sp>
            <p:nvSpPr>
              <p:cNvPr id="58" name="Freeform 58"/>
              <p:cNvSpPr/>
              <p:nvPr/>
            </p:nvSpPr>
            <p:spPr>
              <a:xfrm>
                <a:off x="0" y="0"/>
                <a:ext cx="3860800" cy="4331564"/>
              </a:xfrm>
              <a:custGeom>
                <a:avLst/>
                <a:gdLst/>
                <a:ahLst/>
                <a:cxnLst/>
                <a:rect l="l" t="t" r="r" b="b"/>
                <a:pathLst>
                  <a:path w="3860800" h="4331564">
                    <a:moveTo>
                      <a:pt x="0" y="0"/>
                    </a:moveTo>
                    <a:lnTo>
                      <a:pt x="3860800" y="0"/>
                    </a:lnTo>
                    <a:lnTo>
                      <a:pt x="3860800" y="4331564"/>
                    </a:lnTo>
                    <a:lnTo>
                      <a:pt x="0" y="4331564"/>
                    </a:lnTo>
                    <a:close/>
                  </a:path>
                </a:pathLst>
              </a:custGeom>
              <a:solidFill>
                <a:srgbClr val="D9D9D9"/>
              </a:solidFill>
            </p:spPr>
            <p:txBody>
              <a:bodyPr/>
              <a:lstStyle/>
              <a:p>
                <a:endParaRPr lang="en-GB"/>
              </a:p>
            </p:txBody>
          </p:sp>
          <p:sp>
            <p:nvSpPr>
              <p:cNvPr id="59" name="TextBox 59"/>
              <p:cNvSpPr txBox="1"/>
              <p:nvPr/>
            </p:nvSpPr>
            <p:spPr>
              <a:xfrm>
                <a:off x="0" y="-9525"/>
                <a:ext cx="3860800" cy="4341088"/>
              </a:xfrm>
              <a:prstGeom prst="rect">
                <a:avLst/>
              </a:prstGeom>
            </p:spPr>
            <p:txBody>
              <a:bodyPr lIns="50800" tIns="50800" rIns="50800" bIns="50800" rtlCol="0" anchor="ctr"/>
              <a:lstStyle/>
              <a:p>
                <a:pPr algn="ctr">
                  <a:lnSpc>
                    <a:spcPts val="1584"/>
                  </a:lnSpc>
                </a:pPr>
                <a:endParaRPr/>
              </a:p>
            </p:txBody>
          </p:sp>
        </p:grpSp>
        <p:grpSp>
          <p:nvGrpSpPr>
            <p:cNvPr id="60" name="Group 60"/>
            <p:cNvGrpSpPr/>
            <p:nvPr/>
          </p:nvGrpSpPr>
          <p:grpSpPr>
            <a:xfrm>
              <a:off x="8953028" y="12432687"/>
              <a:ext cx="2558897" cy="174898"/>
              <a:chOff x="0" y="0"/>
              <a:chExt cx="760319" cy="51967"/>
            </a:xfrm>
          </p:grpSpPr>
          <p:sp>
            <p:nvSpPr>
              <p:cNvPr id="61" name="Freeform 61"/>
              <p:cNvSpPr/>
              <p:nvPr/>
            </p:nvSpPr>
            <p:spPr>
              <a:xfrm>
                <a:off x="0" y="0"/>
                <a:ext cx="760319" cy="51967"/>
              </a:xfrm>
              <a:custGeom>
                <a:avLst/>
                <a:gdLst/>
                <a:ahLst/>
                <a:cxnLst/>
                <a:rect l="l" t="t" r="r" b="b"/>
                <a:pathLst>
                  <a:path w="760319" h="51967">
                    <a:moveTo>
                      <a:pt x="0" y="0"/>
                    </a:moveTo>
                    <a:lnTo>
                      <a:pt x="760319" y="0"/>
                    </a:lnTo>
                    <a:lnTo>
                      <a:pt x="760319" y="51967"/>
                    </a:lnTo>
                    <a:lnTo>
                      <a:pt x="0" y="51967"/>
                    </a:lnTo>
                    <a:close/>
                  </a:path>
                </a:pathLst>
              </a:custGeom>
              <a:solidFill>
                <a:srgbClr val="5CE1E6"/>
              </a:solidFill>
            </p:spPr>
            <p:txBody>
              <a:bodyPr/>
              <a:lstStyle/>
              <a:p>
                <a:endParaRPr lang="en-GB"/>
              </a:p>
            </p:txBody>
          </p:sp>
          <p:sp>
            <p:nvSpPr>
              <p:cNvPr id="62" name="TextBox 62"/>
              <p:cNvSpPr txBox="1"/>
              <p:nvPr/>
            </p:nvSpPr>
            <p:spPr>
              <a:xfrm>
                <a:off x="0" y="-9525"/>
                <a:ext cx="760319" cy="61492"/>
              </a:xfrm>
              <a:prstGeom prst="rect">
                <a:avLst/>
              </a:prstGeom>
            </p:spPr>
            <p:txBody>
              <a:bodyPr lIns="50800" tIns="50800" rIns="50800" bIns="50800" rtlCol="0" anchor="ctr"/>
              <a:lstStyle/>
              <a:p>
                <a:pPr algn="ctr">
                  <a:lnSpc>
                    <a:spcPts val="1584"/>
                  </a:lnSpc>
                </a:pPr>
                <a:endParaRPr/>
              </a:p>
            </p:txBody>
          </p:sp>
        </p:grpSp>
        <p:sp>
          <p:nvSpPr>
            <p:cNvPr id="63" name="TextBox 63"/>
            <p:cNvSpPr txBox="1"/>
            <p:nvPr/>
          </p:nvSpPr>
          <p:spPr>
            <a:xfrm>
              <a:off x="8954491" y="12398094"/>
              <a:ext cx="1060158" cy="151436"/>
            </a:xfrm>
            <a:prstGeom prst="rect">
              <a:avLst/>
            </a:prstGeom>
          </p:spPr>
          <p:txBody>
            <a:bodyPr lIns="0" tIns="0" rIns="0" bIns="0" rtlCol="0" anchor="t">
              <a:spAutoFit/>
            </a:bodyPr>
            <a:lstStyle/>
            <a:p>
              <a:pPr algn="ctr">
                <a:lnSpc>
                  <a:spcPts val="991"/>
                </a:lnSpc>
              </a:pPr>
              <a:r>
                <a:rPr lang="en-US" sz="708">
                  <a:solidFill>
                    <a:srgbClr val="000000"/>
                  </a:solidFill>
                  <a:latin typeface="Canva Sans Bold"/>
                </a:rPr>
                <a:t>Heat pump values</a:t>
              </a:r>
            </a:p>
          </p:txBody>
        </p:sp>
        <p:sp>
          <p:nvSpPr>
            <p:cNvPr id="64" name="TextBox 64"/>
            <p:cNvSpPr txBox="1"/>
            <p:nvPr/>
          </p:nvSpPr>
          <p:spPr>
            <a:xfrm>
              <a:off x="8954491" y="12620955"/>
              <a:ext cx="2408610" cy="2856618"/>
            </a:xfrm>
            <a:prstGeom prst="rect">
              <a:avLst/>
            </a:prstGeom>
          </p:spPr>
          <p:txBody>
            <a:bodyPr lIns="0" tIns="0" rIns="0" bIns="0" rtlCol="0" anchor="t">
              <a:spAutoFit/>
            </a:bodyPr>
            <a:lstStyle/>
            <a:p>
              <a:pPr>
                <a:lnSpc>
                  <a:spcPts val="989"/>
                </a:lnSpc>
              </a:pPr>
              <a:r>
                <a:rPr lang="en-US" sz="706">
                  <a:solidFill>
                    <a:srgbClr val="000000"/>
                  </a:solidFill>
                  <a:latin typeface="Canva Sans"/>
                </a:rPr>
                <a:t>a</a:t>
              </a:r>
              <a:r>
                <a:rPr lang="en-US" sz="706">
                  <a:solidFill>
                    <a:srgbClr val="000000"/>
                  </a:solidFill>
                  <a:latin typeface="Canva Sans Bold"/>
                </a:rPr>
                <a:t>ttributes: </a:t>
              </a:r>
            </a:p>
            <a:p>
              <a:pPr>
                <a:lnSpc>
                  <a:spcPts val="989"/>
                </a:lnSpc>
              </a:pPr>
              <a:r>
                <a:rPr lang="en-US" sz="706">
                  <a:solidFill>
                    <a:srgbClr val="000000"/>
                  </a:solidFill>
                  <a:latin typeface="Canva Sans"/>
                </a:rPr>
                <a:t>h_1</a:t>
              </a:r>
            </a:p>
            <a:p>
              <a:pPr>
                <a:lnSpc>
                  <a:spcPts val="989"/>
                </a:lnSpc>
              </a:pPr>
              <a:r>
                <a:rPr lang="en-US" sz="706">
                  <a:solidFill>
                    <a:srgbClr val="000000"/>
                  </a:solidFill>
                  <a:latin typeface="Canva Sans"/>
                </a:rPr>
                <a:t>h_2 </a:t>
              </a:r>
            </a:p>
            <a:p>
              <a:pPr>
                <a:lnSpc>
                  <a:spcPts val="989"/>
                </a:lnSpc>
              </a:pPr>
              <a:r>
                <a:rPr lang="en-US" sz="706">
                  <a:solidFill>
                    <a:srgbClr val="000000"/>
                  </a:solidFill>
                  <a:latin typeface="Canva Sans"/>
                </a:rPr>
                <a:t>h_3 </a:t>
              </a:r>
            </a:p>
            <a:p>
              <a:pPr>
                <a:lnSpc>
                  <a:spcPts val="989"/>
                </a:lnSpc>
              </a:pPr>
              <a:r>
                <a:rPr lang="en-US" sz="706">
                  <a:solidFill>
                    <a:srgbClr val="000000"/>
                  </a:solidFill>
                  <a:latin typeface="Canva Sans"/>
                </a:rPr>
                <a:t>h_4 </a:t>
              </a:r>
            </a:p>
            <a:p>
              <a:pPr>
                <a:lnSpc>
                  <a:spcPts val="989"/>
                </a:lnSpc>
              </a:pPr>
              <a:r>
                <a:rPr lang="en-US" sz="706">
                  <a:solidFill>
                    <a:srgbClr val="000000"/>
                  </a:solidFill>
                  <a:latin typeface="Canva Sans"/>
                </a:rPr>
                <a:t>h_5 </a:t>
              </a:r>
            </a:p>
            <a:p>
              <a:pPr>
                <a:lnSpc>
                  <a:spcPts val="989"/>
                </a:lnSpc>
              </a:pPr>
              <a:r>
                <a:rPr lang="en-US" sz="706">
                  <a:solidFill>
                    <a:srgbClr val="000000"/>
                  </a:solidFill>
                  <a:latin typeface="Canva Sans"/>
                </a:rPr>
                <a:t>h_6 </a:t>
              </a:r>
            </a:p>
            <a:p>
              <a:pPr>
                <a:lnSpc>
                  <a:spcPts val="989"/>
                </a:lnSpc>
              </a:pPr>
              <a:r>
                <a:rPr lang="en-US" sz="706">
                  <a:solidFill>
                    <a:srgbClr val="000000"/>
                  </a:solidFill>
                  <a:latin typeface="Canva Sans"/>
                </a:rPr>
                <a:t>h_7</a:t>
              </a:r>
            </a:p>
            <a:p>
              <a:pPr>
                <a:lnSpc>
                  <a:spcPts val="989"/>
                </a:lnSpc>
              </a:pPr>
              <a:endParaRPr lang="en-US" sz="706">
                <a:solidFill>
                  <a:srgbClr val="000000"/>
                </a:solidFill>
                <a:latin typeface="Canva Sans"/>
              </a:endParaRPr>
            </a:p>
            <a:p>
              <a:pPr>
                <a:lnSpc>
                  <a:spcPts val="989"/>
                </a:lnSpc>
              </a:pPr>
              <a:r>
                <a:rPr lang="en-US" sz="706">
                  <a:solidFill>
                    <a:srgbClr val="000000"/>
                  </a:solidFill>
                  <a:latin typeface="Canva Sans Bold"/>
                </a:rPr>
                <a:t>operations:</a:t>
              </a:r>
            </a:p>
            <a:p>
              <a:pPr>
                <a:lnSpc>
                  <a:spcPts val="989"/>
                </a:lnSpc>
              </a:pPr>
              <a:r>
                <a:rPr lang="en-US" sz="706">
                  <a:solidFill>
                    <a:srgbClr val="000000"/>
                  </a:solidFill>
                  <a:latin typeface="Canva Sans"/>
                </a:rPr>
                <a:t>M_2(Qc) </a:t>
              </a:r>
            </a:p>
            <a:p>
              <a:pPr>
                <a:lnSpc>
                  <a:spcPts val="989"/>
                </a:lnSpc>
              </a:pPr>
              <a:r>
                <a:rPr lang="en-US" sz="706">
                  <a:solidFill>
                    <a:srgbClr val="000000"/>
                  </a:solidFill>
                  <a:latin typeface="Canva Sans"/>
                </a:rPr>
                <a:t>M_1(M_2) </a:t>
              </a:r>
            </a:p>
            <a:p>
              <a:pPr>
                <a:lnSpc>
                  <a:spcPts val="989"/>
                </a:lnSpc>
              </a:pPr>
              <a:r>
                <a:rPr lang="en-US" sz="706">
                  <a:solidFill>
                    <a:srgbClr val="000000"/>
                  </a:solidFill>
                  <a:latin typeface="Canva Sans"/>
                </a:rPr>
                <a:t>W_c1(M_1,h_2,h_1) </a:t>
              </a:r>
            </a:p>
            <a:p>
              <a:pPr>
                <a:lnSpc>
                  <a:spcPts val="989"/>
                </a:lnSpc>
              </a:pPr>
              <a:r>
                <a:rPr lang="en-US" sz="706">
                  <a:solidFill>
                    <a:srgbClr val="000000"/>
                  </a:solidFill>
                  <a:latin typeface="Canva Sans"/>
                </a:rPr>
                <a:t>W_c2(M_2,h_4,h_3) </a:t>
              </a:r>
            </a:p>
            <a:p>
              <a:pPr>
                <a:lnSpc>
                  <a:spcPts val="989"/>
                </a:lnSpc>
              </a:pPr>
              <a:r>
                <a:rPr lang="en-US" sz="706">
                  <a:solidFill>
                    <a:srgbClr val="000000"/>
                  </a:solidFill>
                  <a:latin typeface="Canva Sans"/>
                </a:rPr>
                <a:t>Q_e(M_1,h_2,h_7) </a:t>
              </a:r>
            </a:p>
            <a:p>
              <a:pPr>
                <a:lnSpc>
                  <a:spcPts val="989"/>
                </a:lnSpc>
              </a:pPr>
              <a:r>
                <a:rPr lang="en-US" sz="706">
                  <a:solidFill>
                    <a:srgbClr val="000000"/>
                  </a:solidFill>
                  <a:latin typeface="Canva Sans"/>
                </a:rPr>
                <a:t>COP(Qc,W_c1,W_c2)</a:t>
              </a:r>
            </a:p>
            <a:p>
              <a:pPr>
                <a:lnSpc>
                  <a:spcPts val="989"/>
                </a:lnSpc>
              </a:pPr>
              <a:endParaRPr lang="en-US" sz="706">
                <a:solidFill>
                  <a:srgbClr val="000000"/>
                </a:solidFill>
                <a:latin typeface="Canva Sans"/>
              </a:endParaRPr>
            </a:p>
            <a:p>
              <a:pPr>
                <a:lnSpc>
                  <a:spcPts val="989"/>
                </a:lnSpc>
              </a:pPr>
              <a:endParaRPr lang="en-US" sz="706">
                <a:solidFill>
                  <a:srgbClr val="000000"/>
                </a:solidFill>
                <a:latin typeface="Canva Sans"/>
              </a:endParaRPr>
            </a:p>
          </p:txBody>
        </p:sp>
        <p:sp>
          <p:nvSpPr>
            <p:cNvPr id="65" name="TextBox 65"/>
            <p:cNvSpPr txBox="1"/>
            <p:nvPr/>
          </p:nvSpPr>
          <p:spPr>
            <a:xfrm>
              <a:off x="58568" y="-9525"/>
              <a:ext cx="1250538" cy="317342"/>
            </a:xfrm>
            <a:prstGeom prst="rect">
              <a:avLst/>
            </a:prstGeom>
          </p:spPr>
          <p:txBody>
            <a:bodyPr lIns="0" tIns="0" rIns="0" bIns="0" rtlCol="0" anchor="t">
              <a:spAutoFit/>
            </a:bodyPr>
            <a:lstStyle/>
            <a:p>
              <a:pPr>
                <a:lnSpc>
                  <a:spcPts val="991"/>
                </a:lnSpc>
              </a:pPr>
              <a:r>
                <a:rPr lang="en-US" sz="708">
                  <a:solidFill>
                    <a:srgbClr val="000000"/>
                  </a:solidFill>
                  <a:latin typeface="Canva Sans Bold"/>
                </a:rPr>
                <a:t>for i in range (2190):</a:t>
              </a:r>
            </a:p>
            <a:p>
              <a:pPr>
                <a:lnSpc>
                  <a:spcPts val="991"/>
                </a:lnSpc>
              </a:pPr>
              <a:r>
                <a:rPr lang="en-US" sz="708">
                  <a:solidFill>
                    <a:srgbClr val="000000"/>
                  </a:solidFill>
                  <a:latin typeface="Canva Sans Bold"/>
                </a:rPr>
                <a:t>        for k in range(24):</a:t>
              </a:r>
            </a:p>
          </p:txBody>
        </p:sp>
        <p:grpSp>
          <p:nvGrpSpPr>
            <p:cNvPr id="66" name="Group 66"/>
            <p:cNvGrpSpPr/>
            <p:nvPr/>
          </p:nvGrpSpPr>
          <p:grpSpPr>
            <a:xfrm>
              <a:off x="0" y="508807"/>
              <a:ext cx="2558897" cy="174898"/>
              <a:chOff x="0" y="0"/>
              <a:chExt cx="760319" cy="51967"/>
            </a:xfrm>
          </p:grpSpPr>
          <p:sp>
            <p:nvSpPr>
              <p:cNvPr id="67" name="Freeform 67"/>
              <p:cNvSpPr/>
              <p:nvPr/>
            </p:nvSpPr>
            <p:spPr>
              <a:xfrm>
                <a:off x="0" y="0"/>
                <a:ext cx="760319" cy="51967"/>
              </a:xfrm>
              <a:custGeom>
                <a:avLst/>
                <a:gdLst/>
                <a:ahLst/>
                <a:cxnLst/>
                <a:rect l="l" t="t" r="r" b="b"/>
                <a:pathLst>
                  <a:path w="760319" h="51967">
                    <a:moveTo>
                      <a:pt x="0" y="0"/>
                    </a:moveTo>
                    <a:lnTo>
                      <a:pt x="760319" y="0"/>
                    </a:lnTo>
                    <a:lnTo>
                      <a:pt x="760319" y="51967"/>
                    </a:lnTo>
                    <a:lnTo>
                      <a:pt x="0" y="51967"/>
                    </a:lnTo>
                    <a:close/>
                  </a:path>
                </a:pathLst>
              </a:custGeom>
              <a:solidFill>
                <a:srgbClr val="5CE1E6"/>
              </a:solidFill>
            </p:spPr>
            <p:txBody>
              <a:bodyPr/>
              <a:lstStyle/>
              <a:p>
                <a:endParaRPr lang="en-GB"/>
              </a:p>
            </p:txBody>
          </p:sp>
          <p:sp>
            <p:nvSpPr>
              <p:cNvPr id="68" name="TextBox 68"/>
              <p:cNvSpPr txBox="1"/>
              <p:nvPr/>
            </p:nvSpPr>
            <p:spPr>
              <a:xfrm>
                <a:off x="0" y="-9525"/>
                <a:ext cx="760319" cy="61492"/>
              </a:xfrm>
              <a:prstGeom prst="rect">
                <a:avLst/>
              </a:prstGeom>
            </p:spPr>
            <p:txBody>
              <a:bodyPr lIns="50800" tIns="50800" rIns="50800" bIns="50800" rtlCol="0" anchor="ctr"/>
              <a:lstStyle/>
              <a:p>
                <a:pPr algn="ctr">
                  <a:lnSpc>
                    <a:spcPts val="1584"/>
                  </a:lnSpc>
                </a:pPr>
                <a:endParaRPr/>
              </a:p>
            </p:txBody>
          </p:sp>
        </p:grpSp>
        <p:sp>
          <p:nvSpPr>
            <p:cNvPr id="69" name="TextBox 69"/>
            <p:cNvSpPr txBox="1"/>
            <p:nvPr/>
          </p:nvSpPr>
          <p:spPr>
            <a:xfrm>
              <a:off x="58568" y="504410"/>
              <a:ext cx="287788" cy="151436"/>
            </a:xfrm>
            <a:prstGeom prst="rect">
              <a:avLst/>
            </a:prstGeom>
          </p:spPr>
          <p:txBody>
            <a:bodyPr lIns="0" tIns="0" rIns="0" bIns="0" rtlCol="0" anchor="t">
              <a:spAutoFit/>
            </a:bodyPr>
            <a:lstStyle/>
            <a:p>
              <a:pPr algn="ctr">
                <a:lnSpc>
                  <a:spcPts val="991"/>
                </a:lnSpc>
              </a:pPr>
              <a:r>
                <a:rPr lang="en-US" sz="708">
                  <a:solidFill>
                    <a:srgbClr val="000000"/>
                  </a:solidFill>
                  <a:latin typeface="Canva Sans Bold"/>
                </a:rPr>
                <a:t>Time</a:t>
              </a:r>
            </a:p>
          </p:txBody>
        </p:sp>
        <p:grpSp>
          <p:nvGrpSpPr>
            <p:cNvPr id="70" name="Group 70"/>
            <p:cNvGrpSpPr/>
            <p:nvPr/>
          </p:nvGrpSpPr>
          <p:grpSpPr>
            <a:xfrm>
              <a:off x="4253323" y="17399"/>
              <a:ext cx="2558897" cy="174898"/>
              <a:chOff x="0" y="0"/>
              <a:chExt cx="760319" cy="51967"/>
            </a:xfrm>
          </p:grpSpPr>
          <p:sp>
            <p:nvSpPr>
              <p:cNvPr id="71" name="Freeform 71"/>
              <p:cNvSpPr/>
              <p:nvPr/>
            </p:nvSpPr>
            <p:spPr>
              <a:xfrm>
                <a:off x="0" y="0"/>
                <a:ext cx="760319" cy="51967"/>
              </a:xfrm>
              <a:custGeom>
                <a:avLst/>
                <a:gdLst/>
                <a:ahLst/>
                <a:cxnLst/>
                <a:rect l="l" t="t" r="r" b="b"/>
                <a:pathLst>
                  <a:path w="760319" h="51967">
                    <a:moveTo>
                      <a:pt x="0" y="0"/>
                    </a:moveTo>
                    <a:lnTo>
                      <a:pt x="760319" y="0"/>
                    </a:lnTo>
                    <a:lnTo>
                      <a:pt x="760319" y="51967"/>
                    </a:lnTo>
                    <a:lnTo>
                      <a:pt x="0" y="51967"/>
                    </a:lnTo>
                    <a:close/>
                  </a:path>
                </a:pathLst>
              </a:custGeom>
              <a:solidFill>
                <a:srgbClr val="5CE1E6"/>
              </a:solidFill>
            </p:spPr>
            <p:txBody>
              <a:bodyPr/>
              <a:lstStyle/>
              <a:p>
                <a:endParaRPr lang="en-GB"/>
              </a:p>
            </p:txBody>
          </p:sp>
          <p:sp>
            <p:nvSpPr>
              <p:cNvPr id="72" name="TextBox 72"/>
              <p:cNvSpPr txBox="1"/>
              <p:nvPr/>
            </p:nvSpPr>
            <p:spPr>
              <a:xfrm>
                <a:off x="0" y="-9525"/>
                <a:ext cx="760319" cy="61492"/>
              </a:xfrm>
              <a:prstGeom prst="rect">
                <a:avLst/>
              </a:prstGeom>
            </p:spPr>
            <p:txBody>
              <a:bodyPr lIns="50800" tIns="50800" rIns="50800" bIns="50800" rtlCol="0" anchor="ctr"/>
              <a:lstStyle/>
              <a:p>
                <a:pPr algn="ctr">
                  <a:lnSpc>
                    <a:spcPts val="1584"/>
                  </a:lnSpc>
                </a:pPr>
                <a:endParaRPr/>
              </a:p>
            </p:txBody>
          </p:sp>
        </p:grpSp>
        <p:sp>
          <p:nvSpPr>
            <p:cNvPr id="73" name="TextBox 73"/>
            <p:cNvSpPr txBox="1"/>
            <p:nvPr/>
          </p:nvSpPr>
          <p:spPr>
            <a:xfrm>
              <a:off x="4253323" y="12971"/>
              <a:ext cx="750402" cy="151436"/>
            </a:xfrm>
            <a:prstGeom prst="rect">
              <a:avLst/>
            </a:prstGeom>
          </p:spPr>
          <p:txBody>
            <a:bodyPr lIns="0" tIns="0" rIns="0" bIns="0" rtlCol="0" anchor="t">
              <a:spAutoFit/>
            </a:bodyPr>
            <a:lstStyle/>
            <a:p>
              <a:pPr algn="ctr">
                <a:lnSpc>
                  <a:spcPts val="991"/>
                </a:lnSpc>
              </a:pPr>
              <a:r>
                <a:rPr lang="en-US" sz="708">
                  <a:solidFill>
                    <a:srgbClr val="000000"/>
                  </a:solidFill>
                  <a:latin typeface="Canva Sans Bold"/>
                </a:rPr>
                <a:t>Data reading</a:t>
              </a:r>
            </a:p>
          </p:txBody>
        </p:sp>
        <p:grpSp>
          <p:nvGrpSpPr>
            <p:cNvPr id="74" name="Group 74"/>
            <p:cNvGrpSpPr/>
            <p:nvPr/>
          </p:nvGrpSpPr>
          <p:grpSpPr>
            <a:xfrm>
              <a:off x="8960115" y="5583539"/>
              <a:ext cx="2558897" cy="174898"/>
              <a:chOff x="0" y="0"/>
              <a:chExt cx="760319" cy="51967"/>
            </a:xfrm>
          </p:grpSpPr>
          <p:sp>
            <p:nvSpPr>
              <p:cNvPr id="75" name="Freeform 75"/>
              <p:cNvSpPr/>
              <p:nvPr/>
            </p:nvSpPr>
            <p:spPr>
              <a:xfrm>
                <a:off x="0" y="0"/>
                <a:ext cx="760319" cy="51967"/>
              </a:xfrm>
              <a:custGeom>
                <a:avLst/>
                <a:gdLst/>
                <a:ahLst/>
                <a:cxnLst/>
                <a:rect l="l" t="t" r="r" b="b"/>
                <a:pathLst>
                  <a:path w="760319" h="51967">
                    <a:moveTo>
                      <a:pt x="0" y="0"/>
                    </a:moveTo>
                    <a:lnTo>
                      <a:pt x="760319" y="0"/>
                    </a:lnTo>
                    <a:lnTo>
                      <a:pt x="760319" y="51967"/>
                    </a:lnTo>
                    <a:lnTo>
                      <a:pt x="0" y="51967"/>
                    </a:lnTo>
                    <a:close/>
                  </a:path>
                </a:pathLst>
              </a:custGeom>
              <a:solidFill>
                <a:srgbClr val="5CE1E6"/>
              </a:solidFill>
            </p:spPr>
            <p:txBody>
              <a:bodyPr/>
              <a:lstStyle/>
              <a:p>
                <a:endParaRPr lang="en-GB"/>
              </a:p>
            </p:txBody>
          </p:sp>
          <p:sp>
            <p:nvSpPr>
              <p:cNvPr id="76" name="TextBox 76"/>
              <p:cNvSpPr txBox="1"/>
              <p:nvPr/>
            </p:nvSpPr>
            <p:spPr>
              <a:xfrm>
                <a:off x="0" y="-9525"/>
                <a:ext cx="760319" cy="61492"/>
              </a:xfrm>
              <a:prstGeom prst="rect">
                <a:avLst/>
              </a:prstGeom>
            </p:spPr>
            <p:txBody>
              <a:bodyPr lIns="50800" tIns="50800" rIns="50800" bIns="50800" rtlCol="0" anchor="ctr"/>
              <a:lstStyle/>
              <a:p>
                <a:pPr algn="ctr">
                  <a:lnSpc>
                    <a:spcPts val="1584"/>
                  </a:lnSpc>
                </a:pPr>
                <a:endParaRPr/>
              </a:p>
            </p:txBody>
          </p:sp>
        </p:grpSp>
        <p:sp>
          <p:nvSpPr>
            <p:cNvPr id="77" name="TextBox 77"/>
            <p:cNvSpPr txBox="1"/>
            <p:nvPr/>
          </p:nvSpPr>
          <p:spPr>
            <a:xfrm>
              <a:off x="8953028" y="5590507"/>
              <a:ext cx="1816316" cy="151436"/>
            </a:xfrm>
            <a:prstGeom prst="rect">
              <a:avLst/>
            </a:prstGeom>
          </p:spPr>
          <p:txBody>
            <a:bodyPr lIns="0" tIns="0" rIns="0" bIns="0" rtlCol="0" anchor="t">
              <a:spAutoFit/>
            </a:bodyPr>
            <a:lstStyle/>
            <a:p>
              <a:pPr algn="ctr">
                <a:lnSpc>
                  <a:spcPts val="991"/>
                </a:lnSpc>
              </a:pPr>
              <a:r>
                <a:rPr lang="en-US" sz="708">
                  <a:solidFill>
                    <a:srgbClr val="000000"/>
                  </a:solidFill>
                  <a:latin typeface="Canva Sans Bold"/>
                </a:rPr>
                <a:t>refrigerant property extraction</a:t>
              </a:r>
            </a:p>
          </p:txBody>
        </p:sp>
        <p:sp>
          <p:nvSpPr>
            <p:cNvPr id="78" name="TextBox 78"/>
            <p:cNvSpPr txBox="1"/>
            <p:nvPr/>
          </p:nvSpPr>
          <p:spPr>
            <a:xfrm>
              <a:off x="1049438" y="13862208"/>
              <a:ext cx="582782" cy="151436"/>
            </a:xfrm>
            <a:prstGeom prst="rect">
              <a:avLst/>
            </a:prstGeom>
          </p:spPr>
          <p:txBody>
            <a:bodyPr lIns="0" tIns="0" rIns="0" bIns="0" rtlCol="0" anchor="t">
              <a:spAutoFit/>
            </a:bodyPr>
            <a:lstStyle/>
            <a:p>
              <a:pPr algn="ctr">
                <a:lnSpc>
                  <a:spcPts val="991"/>
                </a:lnSpc>
              </a:pPr>
              <a:r>
                <a:rPr lang="en-US" sz="708">
                  <a:solidFill>
                    <a:srgbClr val="000000"/>
                  </a:solidFill>
                  <a:latin typeface="Canva Sans Bold"/>
                </a:rPr>
                <a:t>Condition</a:t>
              </a:r>
            </a:p>
          </p:txBody>
        </p:sp>
        <p:sp>
          <p:nvSpPr>
            <p:cNvPr id="79" name="TextBox 79"/>
            <p:cNvSpPr txBox="1"/>
            <p:nvPr/>
          </p:nvSpPr>
          <p:spPr>
            <a:xfrm>
              <a:off x="4939974" y="12966873"/>
              <a:ext cx="1405768" cy="151436"/>
            </a:xfrm>
            <a:prstGeom prst="rect">
              <a:avLst/>
            </a:prstGeom>
          </p:spPr>
          <p:txBody>
            <a:bodyPr lIns="0" tIns="0" rIns="0" bIns="0" rtlCol="0" anchor="t">
              <a:spAutoFit/>
            </a:bodyPr>
            <a:lstStyle/>
            <a:p>
              <a:pPr algn="ctr">
                <a:lnSpc>
                  <a:spcPts val="991"/>
                </a:lnSpc>
              </a:pPr>
              <a:r>
                <a:rPr lang="en-US" sz="708">
                  <a:solidFill>
                    <a:srgbClr val="000000"/>
                  </a:solidFill>
                  <a:latin typeface="Canva Sans Bold"/>
                </a:rPr>
                <a:t>Heat transfer calculator</a:t>
              </a:r>
            </a:p>
          </p:txBody>
        </p:sp>
        <p:sp>
          <p:nvSpPr>
            <p:cNvPr id="80" name="TextBox 80"/>
            <p:cNvSpPr txBox="1"/>
            <p:nvPr/>
          </p:nvSpPr>
          <p:spPr>
            <a:xfrm>
              <a:off x="27755" y="751823"/>
              <a:ext cx="647038" cy="464103"/>
            </a:xfrm>
            <a:prstGeom prst="rect">
              <a:avLst/>
            </a:prstGeom>
          </p:spPr>
          <p:txBody>
            <a:bodyPr lIns="0" tIns="0" rIns="0" bIns="0" rtlCol="0" anchor="t">
              <a:spAutoFit/>
            </a:bodyPr>
            <a:lstStyle/>
            <a:p>
              <a:pPr algn="ctr">
                <a:lnSpc>
                  <a:spcPts val="989"/>
                </a:lnSpc>
              </a:pPr>
              <a:r>
                <a:rPr lang="en-US" sz="706">
                  <a:solidFill>
                    <a:srgbClr val="000000"/>
                  </a:solidFill>
                  <a:latin typeface="Canva Sans Bold"/>
                </a:rPr>
                <a:t>attributes:</a:t>
              </a:r>
              <a:r>
                <a:rPr lang="en-US" sz="706">
                  <a:solidFill>
                    <a:srgbClr val="000000"/>
                  </a:solidFill>
                  <a:latin typeface="Canva Sans"/>
                </a:rPr>
                <a:t> </a:t>
              </a:r>
            </a:p>
            <a:p>
              <a:pPr>
                <a:lnSpc>
                  <a:spcPts val="989"/>
                </a:lnSpc>
              </a:pPr>
              <a:r>
                <a:rPr lang="en-US" sz="706">
                  <a:solidFill>
                    <a:srgbClr val="000000"/>
                  </a:solidFill>
                  <a:latin typeface="Canva Sans"/>
                </a:rPr>
                <a:t>i</a:t>
              </a:r>
            </a:p>
            <a:p>
              <a:pPr>
                <a:lnSpc>
                  <a:spcPts val="989"/>
                </a:lnSpc>
              </a:pPr>
              <a:r>
                <a:rPr lang="en-US" sz="706">
                  <a:solidFill>
                    <a:srgbClr val="000000"/>
                  </a:solidFill>
                  <a:latin typeface="Canva Sans"/>
                </a:rPr>
                <a:t>k</a:t>
              </a:r>
            </a:p>
          </p:txBody>
        </p:sp>
        <p:sp>
          <p:nvSpPr>
            <p:cNvPr id="81" name="TextBox 81"/>
            <p:cNvSpPr txBox="1"/>
            <p:nvPr/>
          </p:nvSpPr>
          <p:spPr>
            <a:xfrm>
              <a:off x="21222" y="1263391"/>
              <a:ext cx="684889" cy="304602"/>
            </a:xfrm>
            <a:prstGeom prst="rect">
              <a:avLst/>
            </a:prstGeom>
          </p:spPr>
          <p:txBody>
            <a:bodyPr lIns="0" tIns="0" rIns="0" bIns="0" rtlCol="0" anchor="t">
              <a:spAutoFit/>
            </a:bodyPr>
            <a:lstStyle/>
            <a:p>
              <a:pPr algn="ctr">
                <a:lnSpc>
                  <a:spcPts val="989"/>
                </a:lnSpc>
              </a:pPr>
              <a:r>
                <a:rPr lang="en-US" sz="706">
                  <a:solidFill>
                    <a:srgbClr val="000000"/>
                  </a:solidFill>
                  <a:latin typeface="Canva Sans Bold"/>
                </a:rPr>
                <a:t>Operations</a:t>
              </a:r>
              <a:r>
                <a:rPr lang="en-US" sz="706">
                  <a:solidFill>
                    <a:srgbClr val="000000"/>
                  </a:solidFill>
                  <a:latin typeface="Canva Sans"/>
                </a:rPr>
                <a:t>:</a:t>
              </a:r>
            </a:p>
            <a:p>
              <a:pPr>
                <a:lnSpc>
                  <a:spcPts val="989"/>
                </a:lnSpc>
              </a:pPr>
              <a:r>
                <a:rPr lang="en-US" sz="706">
                  <a:solidFill>
                    <a:srgbClr val="000000"/>
                  </a:solidFill>
                  <a:latin typeface="Canva Sans"/>
                </a:rPr>
                <a:t>t = i +k/24</a:t>
              </a:r>
            </a:p>
          </p:txBody>
        </p:sp>
        <p:sp>
          <p:nvSpPr>
            <p:cNvPr id="82" name="TextBox 82"/>
            <p:cNvSpPr txBox="1"/>
            <p:nvPr/>
          </p:nvSpPr>
          <p:spPr>
            <a:xfrm>
              <a:off x="4287539" y="182771"/>
              <a:ext cx="906695" cy="942606"/>
            </a:xfrm>
            <a:prstGeom prst="rect">
              <a:avLst/>
            </a:prstGeom>
          </p:spPr>
          <p:txBody>
            <a:bodyPr lIns="0" tIns="0" rIns="0" bIns="0" rtlCol="0" anchor="t">
              <a:spAutoFit/>
            </a:bodyPr>
            <a:lstStyle/>
            <a:p>
              <a:pPr algn="just">
                <a:lnSpc>
                  <a:spcPts val="989"/>
                </a:lnSpc>
              </a:pPr>
              <a:r>
                <a:rPr lang="en-US" sz="706">
                  <a:solidFill>
                    <a:srgbClr val="000000"/>
                  </a:solidFill>
                  <a:latin typeface="Canva Sans"/>
                </a:rPr>
                <a:t>attributes: </a:t>
              </a:r>
            </a:p>
            <a:p>
              <a:pPr algn="just">
                <a:lnSpc>
                  <a:spcPts val="989"/>
                </a:lnSpc>
              </a:pPr>
              <a:r>
                <a:rPr lang="en-US" sz="706">
                  <a:solidFill>
                    <a:srgbClr val="000000"/>
                  </a:solidFill>
                  <a:latin typeface="Canva Sans"/>
                </a:rPr>
                <a:t>df_saturated</a:t>
              </a:r>
            </a:p>
            <a:p>
              <a:pPr algn="just">
                <a:lnSpc>
                  <a:spcPts val="989"/>
                </a:lnSpc>
              </a:pPr>
              <a:r>
                <a:rPr lang="en-US" sz="706">
                  <a:solidFill>
                    <a:srgbClr val="000000"/>
                  </a:solidFill>
                  <a:latin typeface="Canva Sans"/>
                </a:rPr>
                <a:t>df_superheated</a:t>
              </a:r>
            </a:p>
            <a:p>
              <a:pPr algn="just">
                <a:lnSpc>
                  <a:spcPts val="989"/>
                </a:lnSpc>
              </a:pPr>
              <a:r>
                <a:rPr lang="en-US" sz="706">
                  <a:solidFill>
                    <a:srgbClr val="000000"/>
                  </a:solidFill>
                  <a:latin typeface="Canva Sans"/>
                </a:rPr>
                <a:t>dF_aitremp</a:t>
              </a:r>
            </a:p>
            <a:p>
              <a:pPr algn="just">
                <a:lnSpc>
                  <a:spcPts val="989"/>
                </a:lnSpc>
              </a:pPr>
              <a:r>
                <a:rPr lang="en-US" sz="706">
                  <a:solidFill>
                    <a:srgbClr val="000000"/>
                  </a:solidFill>
                  <a:latin typeface="Canva Sans"/>
                </a:rPr>
                <a:t>df_soiltemp</a:t>
              </a:r>
            </a:p>
            <a:p>
              <a:pPr algn="just">
                <a:lnSpc>
                  <a:spcPts val="989"/>
                </a:lnSpc>
              </a:pPr>
              <a:r>
                <a:rPr lang="en-US" sz="706">
                  <a:solidFill>
                    <a:srgbClr val="000000"/>
                  </a:solidFill>
                  <a:latin typeface="Canva Sans"/>
                </a:rPr>
                <a:t>df_sunlight</a:t>
              </a:r>
            </a:p>
          </p:txBody>
        </p:sp>
        <p:sp>
          <p:nvSpPr>
            <p:cNvPr id="83" name="TextBox 83"/>
            <p:cNvSpPr txBox="1"/>
            <p:nvPr/>
          </p:nvSpPr>
          <p:spPr>
            <a:xfrm>
              <a:off x="4287539" y="1263391"/>
              <a:ext cx="1344699" cy="304602"/>
            </a:xfrm>
            <a:prstGeom prst="rect">
              <a:avLst/>
            </a:prstGeom>
          </p:spPr>
          <p:txBody>
            <a:bodyPr lIns="0" tIns="0" rIns="0" bIns="0" rtlCol="0" anchor="t">
              <a:spAutoFit/>
            </a:bodyPr>
            <a:lstStyle/>
            <a:p>
              <a:pPr algn="just">
                <a:lnSpc>
                  <a:spcPts val="989"/>
                </a:lnSpc>
              </a:pPr>
              <a:r>
                <a:rPr lang="en-US" sz="706">
                  <a:solidFill>
                    <a:srgbClr val="000000"/>
                  </a:solidFill>
                  <a:latin typeface="Canva Sans Bold"/>
                </a:rPr>
                <a:t>operation:</a:t>
              </a:r>
            </a:p>
            <a:p>
              <a:pPr algn="just">
                <a:lnSpc>
                  <a:spcPts val="989"/>
                </a:lnSpc>
              </a:pPr>
              <a:r>
                <a:rPr lang="en-US" sz="706">
                  <a:solidFill>
                    <a:srgbClr val="000000"/>
                  </a:solidFill>
                  <a:latin typeface="Canva Sans"/>
                </a:rPr>
                <a:t>pd_read.csv(attributes)</a:t>
              </a:r>
            </a:p>
          </p:txBody>
        </p:sp>
        <p:sp>
          <p:nvSpPr>
            <p:cNvPr id="84" name="TextBox 84"/>
            <p:cNvSpPr txBox="1"/>
            <p:nvPr/>
          </p:nvSpPr>
          <p:spPr>
            <a:xfrm>
              <a:off x="21222" y="3584777"/>
              <a:ext cx="1307143" cy="1102107"/>
            </a:xfrm>
            <a:prstGeom prst="rect">
              <a:avLst/>
            </a:prstGeom>
          </p:spPr>
          <p:txBody>
            <a:bodyPr lIns="0" tIns="0" rIns="0" bIns="0" rtlCol="0" anchor="t">
              <a:spAutoFit/>
            </a:bodyPr>
            <a:lstStyle/>
            <a:p>
              <a:pPr>
                <a:lnSpc>
                  <a:spcPts val="989"/>
                </a:lnSpc>
              </a:pPr>
              <a:r>
                <a:rPr lang="en-US" sz="706">
                  <a:solidFill>
                    <a:srgbClr val="000000"/>
                  </a:solidFill>
                  <a:latin typeface="Canva Sans Bold"/>
                </a:rPr>
                <a:t>attributes: </a:t>
              </a:r>
            </a:p>
            <a:p>
              <a:pPr>
                <a:lnSpc>
                  <a:spcPts val="989"/>
                </a:lnSpc>
              </a:pPr>
              <a:r>
                <a:rPr lang="en-US" sz="706">
                  <a:solidFill>
                    <a:srgbClr val="000000"/>
                  </a:solidFill>
                  <a:latin typeface="Canva Sans"/>
                </a:rPr>
                <a:t>Tmax_a</a:t>
              </a:r>
            </a:p>
            <a:p>
              <a:pPr>
                <a:lnSpc>
                  <a:spcPts val="989"/>
                </a:lnSpc>
              </a:pPr>
              <a:r>
                <a:rPr lang="en-US" sz="706">
                  <a:solidFill>
                    <a:srgbClr val="000000"/>
                  </a:solidFill>
                  <a:latin typeface="Canva Sans"/>
                </a:rPr>
                <a:t>Tmin_a</a:t>
              </a:r>
            </a:p>
            <a:p>
              <a:pPr>
                <a:lnSpc>
                  <a:spcPts val="989"/>
                </a:lnSpc>
              </a:pPr>
              <a:r>
                <a:rPr lang="en-US" sz="706">
                  <a:solidFill>
                    <a:srgbClr val="000000"/>
                  </a:solidFill>
                  <a:latin typeface="Canva Sans"/>
                </a:rPr>
                <a:t>Tmax_g</a:t>
              </a:r>
            </a:p>
            <a:p>
              <a:pPr>
                <a:lnSpc>
                  <a:spcPts val="989"/>
                </a:lnSpc>
              </a:pPr>
              <a:r>
                <a:rPr lang="en-US" sz="706">
                  <a:solidFill>
                    <a:srgbClr val="000000"/>
                  </a:solidFill>
                  <a:latin typeface="Canva Sans"/>
                </a:rPr>
                <a:t>Tmin_g</a:t>
              </a:r>
            </a:p>
            <a:p>
              <a:pPr>
                <a:lnSpc>
                  <a:spcPts val="989"/>
                </a:lnSpc>
              </a:pPr>
              <a:r>
                <a:rPr lang="en-US" sz="706">
                  <a:solidFill>
                    <a:srgbClr val="000000"/>
                  </a:solidFill>
                  <a:latin typeface="Canva Sans"/>
                </a:rPr>
                <a:t>Tmax_w</a:t>
              </a:r>
            </a:p>
            <a:p>
              <a:pPr>
                <a:lnSpc>
                  <a:spcPts val="989"/>
                </a:lnSpc>
              </a:pPr>
              <a:r>
                <a:rPr lang="en-US" sz="706">
                  <a:solidFill>
                    <a:srgbClr val="000000"/>
                  </a:solidFill>
                  <a:latin typeface="Canva Sans"/>
                </a:rPr>
                <a:t>Tmin_w</a:t>
              </a:r>
            </a:p>
          </p:txBody>
        </p:sp>
        <p:sp>
          <p:nvSpPr>
            <p:cNvPr id="85" name="TextBox 85"/>
            <p:cNvSpPr txBox="1"/>
            <p:nvPr/>
          </p:nvSpPr>
          <p:spPr>
            <a:xfrm>
              <a:off x="58568" y="4736210"/>
              <a:ext cx="1886442" cy="783105"/>
            </a:xfrm>
            <a:prstGeom prst="rect">
              <a:avLst/>
            </a:prstGeom>
          </p:spPr>
          <p:txBody>
            <a:bodyPr lIns="0" tIns="0" rIns="0" bIns="0" rtlCol="0" anchor="t">
              <a:spAutoFit/>
            </a:bodyPr>
            <a:lstStyle/>
            <a:p>
              <a:pPr>
                <a:lnSpc>
                  <a:spcPts val="989"/>
                </a:lnSpc>
              </a:pPr>
              <a:r>
                <a:rPr lang="en-US" sz="706">
                  <a:solidFill>
                    <a:srgbClr val="000000"/>
                  </a:solidFill>
                  <a:latin typeface="Canva Sans Bold"/>
                </a:rPr>
                <a:t>operations:</a:t>
              </a:r>
            </a:p>
            <a:p>
              <a:pPr>
                <a:lnSpc>
                  <a:spcPts val="989"/>
                </a:lnSpc>
              </a:pPr>
              <a:r>
                <a:rPr lang="en-US" sz="706">
                  <a:solidFill>
                    <a:srgbClr val="000000"/>
                  </a:solidFill>
                  <a:latin typeface="Canva Sans"/>
                </a:rPr>
                <a:t>ground_temperature_variation(t)</a:t>
              </a:r>
            </a:p>
            <a:p>
              <a:pPr>
                <a:lnSpc>
                  <a:spcPts val="989"/>
                </a:lnSpc>
              </a:pPr>
              <a:r>
                <a:rPr lang="en-US" sz="706">
                  <a:solidFill>
                    <a:srgbClr val="000000"/>
                  </a:solidFill>
                  <a:latin typeface="Canva Sans"/>
                </a:rPr>
                <a:t>external_temp_variation(t)</a:t>
              </a:r>
            </a:p>
            <a:p>
              <a:pPr>
                <a:lnSpc>
                  <a:spcPts val="989"/>
                </a:lnSpc>
              </a:pPr>
              <a:r>
                <a:rPr lang="en-US" sz="706">
                  <a:solidFill>
                    <a:srgbClr val="000000"/>
                  </a:solidFill>
                  <a:latin typeface="Canva Sans"/>
                </a:rPr>
                <a:t>water_temp_variation(t)</a:t>
              </a:r>
            </a:p>
            <a:p>
              <a:pPr>
                <a:lnSpc>
                  <a:spcPts val="989"/>
                </a:lnSpc>
              </a:pPr>
              <a:endParaRPr lang="en-US" sz="706">
                <a:solidFill>
                  <a:srgbClr val="000000"/>
                </a:solidFill>
                <a:latin typeface="Canva Sans"/>
              </a:endParaRPr>
            </a:p>
          </p:txBody>
        </p:sp>
        <p:sp>
          <p:nvSpPr>
            <p:cNvPr id="86" name="TextBox 86"/>
            <p:cNvSpPr txBox="1"/>
            <p:nvPr/>
          </p:nvSpPr>
          <p:spPr>
            <a:xfrm>
              <a:off x="58568" y="8239943"/>
              <a:ext cx="2408610" cy="2059113"/>
            </a:xfrm>
            <a:prstGeom prst="rect">
              <a:avLst/>
            </a:prstGeom>
          </p:spPr>
          <p:txBody>
            <a:bodyPr lIns="0" tIns="0" rIns="0" bIns="0" rtlCol="0" anchor="t">
              <a:spAutoFit/>
            </a:bodyPr>
            <a:lstStyle/>
            <a:p>
              <a:pPr>
                <a:lnSpc>
                  <a:spcPts val="989"/>
                </a:lnSpc>
              </a:pPr>
              <a:r>
                <a:rPr lang="en-US" sz="706">
                  <a:solidFill>
                    <a:srgbClr val="000000"/>
                  </a:solidFill>
                  <a:latin typeface="Canva Sans Bold"/>
                </a:rPr>
                <a:t>attributes:</a:t>
              </a:r>
              <a:r>
                <a:rPr lang="en-US" sz="706">
                  <a:solidFill>
                    <a:srgbClr val="000000"/>
                  </a:solidFill>
                  <a:latin typeface="Canva Sans"/>
                </a:rPr>
                <a:t> </a:t>
              </a:r>
            </a:p>
            <a:p>
              <a:pPr>
                <a:lnSpc>
                  <a:spcPts val="989"/>
                </a:lnSpc>
              </a:pPr>
              <a:r>
                <a:rPr lang="en-US" sz="706">
                  <a:solidFill>
                    <a:srgbClr val="000000"/>
                  </a:solidFill>
                  <a:latin typeface="Canva Sans"/>
                </a:rPr>
                <a:t>k(wall,ground)</a:t>
              </a:r>
            </a:p>
            <a:p>
              <a:pPr>
                <a:lnSpc>
                  <a:spcPts val="989"/>
                </a:lnSpc>
              </a:pPr>
              <a:r>
                <a:rPr lang="en-US" sz="706">
                  <a:solidFill>
                    <a:srgbClr val="000000"/>
                  </a:solidFill>
                  <a:latin typeface="Canva Sans"/>
                </a:rPr>
                <a:t>A(wall,ground)</a:t>
              </a:r>
            </a:p>
            <a:p>
              <a:pPr>
                <a:lnSpc>
                  <a:spcPts val="989"/>
                </a:lnSpc>
              </a:pPr>
              <a:r>
                <a:rPr lang="en-US" sz="706">
                  <a:solidFill>
                    <a:srgbClr val="000000"/>
                  </a:solidFill>
                  <a:latin typeface="Canva Sans"/>
                </a:rPr>
                <a:t>initial_internal_temperature</a:t>
              </a:r>
            </a:p>
            <a:p>
              <a:pPr>
                <a:lnSpc>
                  <a:spcPts val="989"/>
                </a:lnSpc>
              </a:pPr>
              <a:r>
                <a:rPr lang="en-US" sz="706">
                  <a:solidFill>
                    <a:srgbClr val="000000"/>
                  </a:solidFill>
                  <a:latin typeface="Canva Sans"/>
                </a:rPr>
                <a:t>d(wall,ground)</a:t>
              </a:r>
            </a:p>
            <a:p>
              <a:pPr>
                <a:lnSpc>
                  <a:spcPts val="989"/>
                </a:lnSpc>
              </a:pPr>
              <a:r>
                <a:rPr lang="en-US" sz="706">
                  <a:solidFill>
                    <a:srgbClr val="000000"/>
                  </a:solidFill>
                  <a:latin typeface="Canva Sans"/>
                </a:rPr>
                <a:t>m(air)</a:t>
              </a:r>
            </a:p>
            <a:p>
              <a:pPr>
                <a:lnSpc>
                  <a:spcPts val="989"/>
                </a:lnSpc>
              </a:pPr>
              <a:r>
                <a:rPr lang="en-US" sz="706">
                  <a:solidFill>
                    <a:srgbClr val="000000"/>
                  </a:solidFill>
                  <a:latin typeface="Canva Sans"/>
                </a:rPr>
                <a:t>c(air)</a:t>
              </a:r>
            </a:p>
            <a:p>
              <a:pPr>
                <a:lnSpc>
                  <a:spcPts val="989"/>
                </a:lnSpc>
              </a:pPr>
              <a:r>
                <a:rPr lang="en-US" sz="706">
                  <a:solidFill>
                    <a:srgbClr val="000000"/>
                  </a:solidFill>
                  <a:latin typeface="Canva Sans"/>
                </a:rPr>
                <a:t>transparency</a:t>
              </a:r>
            </a:p>
            <a:p>
              <a:pPr>
                <a:lnSpc>
                  <a:spcPts val="989"/>
                </a:lnSpc>
              </a:pPr>
              <a:endParaRPr lang="en-US" sz="706">
                <a:solidFill>
                  <a:srgbClr val="000000"/>
                </a:solidFill>
                <a:latin typeface="Canva Sans"/>
              </a:endParaRPr>
            </a:p>
            <a:p>
              <a:pPr>
                <a:lnSpc>
                  <a:spcPts val="989"/>
                </a:lnSpc>
              </a:pPr>
              <a:r>
                <a:rPr lang="en-US" sz="706">
                  <a:solidFill>
                    <a:srgbClr val="000000"/>
                  </a:solidFill>
                  <a:latin typeface="Canva Sans Bold"/>
                </a:rPr>
                <a:t>operations:</a:t>
              </a:r>
            </a:p>
            <a:p>
              <a:pPr>
                <a:lnSpc>
                  <a:spcPts val="989"/>
                </a:lnSpc>
              </a:pPr>
              <a:r>
                <a:rPr lang="en-US" sz="706">
                  <a:solidFill>
                    <a:srgbClr val="000000"/>
                  </a:solidFill>
                  <a:latin typeface="Canva Sans"/>
                </a:rPr>
                <a:t>Q_total(T_internal,external_temp,ground_temp, sunlight)</a:t>
              </a:r>
            </a:p>
            <a:p>
              <a:pPr>
                <a:lnSpc>
                  <a:spcPts val="989"/>
                </a:lnSpc>
              </a:pPr>
              <a:r>
                <a:rPr lang="en-US" sz="706">
                  <a:solidFill>
                    <a:srgbClr val="000000"/>
                  </a:solidFill>
                  <a:latin typeface="Canva Sans"/>
                </a:rPr>
                <a:t>T_internal(Q_total)</a:t>
              </a:r>
            </a:p>
          </p:txBody>
        </p:sp>
        <p:sp>
          <p:nvSpPr>
            <p:cNvPr id="87" name="TextBox 87"/>
            <p:cNvSpPr txBox="1"/>
            <p:nvPr/>
          </p:nvSpPr>
          <p:spPr>
            <a:xfrm>
              <a:off x="712577" y="15263816"/>
              <a:ext cx="1204305" cy="145101"/>
            </a:xfrm>
            <a:prstGeom prst="rect">
              <a:avLst/>
            </a:prstGeom>
          </p:spPr>
          <p:txBody>
            <a:bodyPr lIns="0" tIns="0" rIns="0" bIns="0" rtlCol="0" anchor="t">
              <a:spAutoFit/>
            </a:bodyPr>
            <a:lstStyle/>
            <a:p>
              <a:pPr>
                <a:lnSpc>
                  <a:spcPts val="989"/>
                </a:lnSpc>
              </a:pPr>
              <a:r>
                <a:rPr lang="en-US" sz="706">
                  <a:solidFill>
                    <a:srgbClr val="000000"/>
                  </a:solidFill>
                  <a:latin typeface="Canva Sans Bold"/>
                </a:rPr>
                <a:t>if T_internal &gt;= 18:</a:t>
              </a:r>
            </a:p>
          </p:txBody>
        </p:sp>
        <p:sp>
          <p:nvSpPr>
            <p:cNvPr id="88" name="TextBox 88"/>
            <p:cNvSpPr txBox="1"/>
            <p:nvPr/>
          </p:nvSpPr>
          <p:spPr>
            <a:xfrm>
              <a:off x="3280380" y="13862208"/>
              <a:ext cx="387808" cy="145101"/>
            </a:xfrm>
            <a:prstGeom prst="rect">
              <a:avLst/>
            </a:prstGeom>
          </p:spPr>
          <p:txBody>
            <a:bodyPr lIns="0" tIns="0" rIns="0" bIns="0" rtlCol="0" anchor="t">
              <a:spAutoFit/>
            </a:bodyPr>
            <a:lstStyle/>
            <a:p>
              <a:pPr>
                <a:lnSpc>
                  <a:spcPts val="989"/>
                </a:lnSpc>
              </a:pPr>
              <a:r>
                <a:rPr lang="en-US" sz="706">
                  <a:solidFill>
                    <a:srgbClr val="000000"/>
                  </a:solidFill>
                  <a:latin typeface="Canva Sans Bold"/>
                </a:rPr>
                <a:t>Else</a:t>
              </a:r>
            </a:p>
          </p:txBody>
        </p:sp>
        <p:sp>
          <p:nvSpPr>
            <p:cNvPr id="89" name="TextBox 89"/>
            <p:cNvSpPr txBox="1"/>
            <p:nvPr/>
          </p:nvSpPr>
          <p:spPr>
            <a:xfrm>
              <a:off x="4939974" y="13218577"/>
              <a:ext cx="2408610" cy="1580610"/>
            </a:xfrm>
            <a:prstGeom prst="rect">
              <a:avLst/>
            </a:prstGeom>
          </p:spPr>
          <p:txBody>
            <a:bodyPr lIns="0" tIns="0" rIns="0" bIns="0" rtlCol="0" anchor="t">
              <a:spAutoFit/>
            </a:bodyPr>
            <a:lstStyle/>
            <a:p>
              <a:pPr>
                <a:lnSpc>
                  <a:spcPts val="989"/>
                </a:lnSpc>
              </a:pPr>
              <a:r>
                <a:rPr lang="en-US" sz="706">
                  <a:solidFill>
                    <a:srgbClr val="000000"/>
                  </a:solidFill>
                  <a:latin typeface="Canva Sans Bold"/>
                </a:rPr>
                <a:t>attributes: </a:t>
              </a:r>
            </a:p>
            <a:p>
              <a:pPr>
                <a:lnSpc>
                  <a:spcPts val="989"/>
                </a:lnSpc>
              </a:pPr>
              <a:r>
                <a:rPr lang="en-US" sz="706">
                  <a:solidFill>
                    <a:srgbClr val="000000"/>
                  </a:solidFill>
                  <a:latin typeface="Canva Sans"/>
                </a:rPr>
                <a:t>T_internal</a:t>
              </a:r>
            </a:p>
            <a:p>
              <a:pPr>
                <a:lnSpc>
                  <a:spcPts val="989"/>
                </a:lnSpc>
              </a:pPr>
              <a:r>
                <a:rPr lang="en-US" sz="706">
                  <a:solidFill>
                    <a:srgbClr val="000000"/>
                  </a:solidFill>
                  <a:latin typeface="Canva Sans"/>
                </a:rPr>
                <a:t>m(air)</a:t>
              </a:r>
            </a:p>
            <a:p>
              <a:pPr>
                <a:lnSpc>
                  <a:spcPts val="989"/>
                </a:lnSpc>
              </a:pPr>
              <a:r>
                <a:rPr lang="en-US" sz="706">
                  <a:solidFill>
                    <a:srgbClr val="000000"/>
                  </a:solidFill>
                  <a:latin typeface="Canva Sans"/>
                </a:rPr>
                <a:t>c(air)</a:t>
              </a:r>
            </a:p>
            <a:p>
              <a:pPr>
                <a:lnSpc>
                  <a:spcPts val="989"/>
                </a:lnSpc>
              </a:pPr>
              <a:endParaRPr lang="en-US" sz="706">
                <a:solidFill>
                  <a:srgbClr val="000000"/>
                </a:solidFill>
                <a:latin typeface="Canva Sans"/>
              </a:endParaRPr>
            </a:p>
            <a:p>
              <a:pPr>
                <a:lnSpc>
                  <a:spcPts val="989"/>
                </a:lnSpc>
              </a:pPr>
              <a:r>
                <a:rPr lang="en-US" sz="706">
                  <a:solidFill>
                    <a:srgbClr val="000000"/>
                  </a:solidFill>
                  <a:latin typeface="Canva Sans Bold"/>
                </a:rPr>
                <a:t>operations:</a:t>
              </a:r>
            </a:p>
            <a:p>
              <a:pPr>
                <a:lnSpc>
                  <a:spcPts val="989"/>
                </a:lnSpc>
              </a:pPr>
              <a:r>
                <a:rPr lang="en-US" sz="706">
                  <a:solidFill>
                    <a:srgbClr val="000000"/>
                  </a:solidFill>
                  <a:latin typeface="Canva Sans"/>
                </a:rPr>
                <a:t>Q_total(T_internal,external_temp,ground_temp, sunlight)</a:t>
              </a:r>
            </a:p>
            <a:p>
              <a:pPr>
                <a:lnSpc>
                  <a:spcPts val="989"/>
                </a:lnSpc>
              </a:pPr>
              <a:r>
                <a:rPr lang="en-US" sz="706">
                  <a:solidFill>
                    <a:srgbClr val="000000"/>
                  </a:solidFill>
                  <a:latin typeface="Canva Sans"/>
                </a:rPr>
                <a:t>Q_c(T_internal,Q_total)</a:t>
              </a:r>
            </a:p>
            <a:p>
              <a:pPr>
                <a:lnSpc>
                  <a:spcPts val="989"/>
                </a:lnSpc>
              </a:pPr>
              <a:r>
                <a:rPr lang="en-US" sz="706">
                  <a:solidFill>
                    <a:srgbClr val="000000"/>
                  </a:solidFill>
                  <a:latin typeface="Canva Sans"/>
                </a:rPr>
                <a:t>T_internal(Q_total,Q_c)</a:t>
              </a:r>
            </a:p>
          </p:txBody>
        </p:sp>
        <p:sp>
          <p:nvSpPr>
            <p:cNvPr id="90" name="TextBox 90"/>
            <p:cNvSpPr txBox="1"/>
            <p:nvPr/>
          </p:nvSpPr>
          <p:spPr>
            <a:xfrm>
              <a:off x="8954491" y="5732418"/>
              <a:ext cx="2563058" cy="2218614"/>
            </a:xfrm>
            <a:prstGeom prst="rect">
              <a:avLst/>
            </a:prstGeom>
          </p:spPr>
          <p:txBody>
            <a:bodyPr lIns="0" tIns="0" rIns="0" bIns="0" rtlCol="0" anchor="t">
              <a:spAutoFit/>
            </a:bodyPr>
            <a:lstStyle/>
            <a:p>
              <a:pPr algn="just">
                <a:lnSpc>
                  <a:spcPts val="989"/>
                </a:lnSpc>
              </a:pPr>
              <a:r>
                <a:rPr lang="en-US" sz="706">
                  <a:solidFill>
                    <a:srgbClr val="000000"/>
                  </a:solidFill>
                  <a:latin typeface="Canva Sans Bold"/>
                </a:rPr>
                <a:t>attributes: </a:t>
              </a:r>
            </a:p>
            <a:p>
              <a:pPr algn="just">
                <a:lnSpc>
                  <a:spcPts val="989"/>
                </a:lnSpc>
              </a:pPr>
              <a:r>
                <a:rPr lang="en-US" sz="706">
                  <a:solidFill>
                    <a:srgbClr val="000000"/>
                  </a:solidFill>
                  <a:latin typeface="Canva Sans"/>
                </a:rPr>
                <a:t>df_saturated</a:t>
              </a:r>
            </a:p>
            <a:p>
              <a:pPr algn="just">
                <a:lnSpc>
                  <a:spcPts val="989"/>
                </a:lnSpc>
              </a:pPr>
              <a:r>
                <a:rPr lang="en-US" sz="706">
                  <a:solidFill>
                    <a:srgbClr val="000000"/>
                  </a:solidFill>
                  <a:latin typeface="Canva Sans"/>
                </a:rPr>
                <a:t>df_superheated</a:t>
              </a:r>
            </a:p>
            <a:p>
              <a:pPr algn="just">
                <a:lnSpc>
                  <a:spcPts val="989"/>
                </a:lnSpc>
              </a:pPr>
              <a:r>
                <a:rPr lang="en-US" sz="706">
                  <a:solidFill>
                    <a:srgbClr val="000000"/>
                  </a:solidFill>
                  <a:latin typeface="Canva Sans"/>
                </a:rPr>
                <a:t>dF_aitremp</a:t>
              </a:r>
            </a:p>
            <a:p>
              <a:pPr algn="just">
                <a:lnSpc>
                  <a:spcPts val="989"/>
                </a:lnSpc>
              </a:pPr>
              <a:r>
                <a:rPr lang="en-US" sz="706">
                  <a:solidFill>
                    <a:srgbClr val="000000"/>
                  </a:solidFill>
                  <a:latin typeface="Canva Sans"/>
                </a:rPr>
                <a:t>df_soiltemp</a:t>
              </a:r>
            </a:p>
            <a:p>
              <a:pPr algn="just">
                <a:lnSpc>
                  <a:spcPts val="989"/>
                </a:lnSpc>
              </a:pPr>
              <a:r>
                <a:rPr lang="en-US" sz="706">
                  <a:solidFill>
                    <a:srgbClr val="000000"/>
                  </a:solidFill>
                  <a:latin typeface="Canva Sans"/>
                </a:rPr>
                <a:t>T_1</a:t>
              </a:r>
            </a:p>
            <a:p>
              <a:pPr algn="just">
                <a:lnSpc>
                  <a:spcPts val="989"/>
                </a:lnSpc>
              </a:pPr>
              <a:r>
                <a:rPr lang="en-US" sz="706">
                  <a:solidFill>
                    <a:srgbClr val="000000"/>
                  </a:solidFill>
                  <a:latin typeface="Canva Sans"/>
                </a:rPr>
                <a:t>P_values</a:t>
              </a:r>
            </a:p>
            <a:p>
              <a:pPr algn="just">
                <a:lnSpc>
                  <a:spcPts val="989"/>
                </a:lnSpc>
              </a:pPr>
              <a:r>
                <a:rPr lang="en-US" sz="706">
                  <a:solidFill>
                    <a:srgbClr val="000000"/>
                  </a:solidFill>
                  <a:latin typeface="Canva Sans"/>
                </a:rPr>
                <a:t>h_values</a:t>
              </a:r>
            </a:p>
            <a:p>
              <a:pPr algn="just">
                <a:lnSpc>
                  <a:spcPts val="989"/>
                </a:lnSpc>
              </a:pPr>
              <a:r>
                <a:rPr lang="en-US" sz="706">
                  <a:solidFill>
                    <a:srgbClr val="000000"/>
                  </a:solidFill>
                  <a:latin typeface="Canva Sans"/>
                </a:rPr>
                <a:t>s_values</a:t>
              </a:r>
            </a:p>
            <a:p>
              <a:pPr algn="just">
                <a:lnSpc>
                  <a:spcPts val="989"/>
                </a:lnSpc>
              </a:pPr>
              <a:r>
                <a:rPr lang="en-US" sz="706">
                  <a:solidFill>
                    <a:srgbClr val="000000"/>
                  </a:solidFill>
                  <a:latin typeface="Canva Sans"/>
                </a:rPr>
                <a:t>T_values</a:t>
              </a:r>
            </a:p>
            <a:p>
              <a:pPr algn="just">
                <a:lnSpc>
                  <a:spcPts val="989"/>
                </a:lnSpc>
              </a:pPr>
              <a:endParaRPr lang="en-US" sz="706">
                <a:solidFill>
                  <a:srgbClr val="000000"/>
                </a:solidFill>
                <a:latin typeface="Canva Sans"/>
              </a:endParaRPr>
            </a:p>
            <a:p>
              <a:pPr algn="just">
                <a:lnSpc>
                  <a:spcPts val="989"/>
                </a:lnSpc>
              </a:pPr>
              <a:r>
                <a:rPr lang="en-US" sz="706">
                  <a:solidFill>
                    <a:srgbClr val="000000"/>
                  </a:solidFill>
                  <a:latin typeface="Canva Sans Bold"/>
                </a:rPr>
                <a:t>operations:</a:t>
              </a:r>
            </a:p>
            <a:p>
              <a:pPr algn="just">
                <a:lnSpc>
                  <a:spcPts val="989"/>
                </a:lnSpc>
              </a:pPr>
              <a:r>
                <a:rPr lang="en-US" sz="706">
                  <a:solidFill>
                    <a:srgbClr val="000000"/>
                  </a:solidFill>
                  <a:latin typeface="Canva Sans"/>
                </a:rPr>
                <a:t>extract_values(T_1, h_values, P_values, s_values, T_values)</a:t>
              </a:r>
            </a:p>
          </p:txBody>
        </p:sp>
        <p:sp>
          <p:nvSpPr>
            <p:cNvPr id="91" name="TextBox 91"/>
            <p:cNvSpPr txBox="1"/>
            <p:nvPr/>
          </p:nvSpPr>
          <p:spPr>
            <a:xfrm>
              <a:off x="110425" y="15518540"/>
              <a:ext cx="2408610" cy="623604"/>
            </a:xfrm>
            <a:prstGeom prst="rect">
              <a:avLst/>
            </a:prstGeom>
          </p:spPr>
          <p:txBody>
            <a:bodyPr lIns="0" tIns="0" rIns="0" bIns="0" rtlCol="0" anchor="t">
              <a:spAutoFit/>
            </a:bodyPr>
            <a:lstStyle/>
            <a:p>
              <a:pPr>
                <a:lnSpc>
                  <a:spcPts val="989"/>
                </a:lnSpc>
              </a:pPr>
              <a:r>
                <a:rPr lang="en-US" sz="706">
                  <a:solidFill>
                    <a:srgbClr val="000000"/>
                  </a:solidFill>
                  <a:latin typeface="Canva Sans"/>
                </a:rPr>
                <a:t>Q_c = 0</a:t>
              </a:r>
            </a:p>
            <a:p>
              <a:pPr>
                <a:lnSpc>
                  <a:spcPts val="989"/>
                </a:lnSpc>
              </a:pPr>
              <a:r>
                <a:rPr lang="en-US" sz="706">
                  <a:solidFill>
                    <a:srgbClr val="000000"/>
                  </a:solidFill>
                  <a:latin typeface="Canva Sans"/>
                </a:rPr>
                <a:t>T_internal = Heat_transfer_calculator.T_internal(Q_total)</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1028665" y="302895"/>
            <a:ext cx="16230670" cy="773430"/>
            <a:chOff x="0" y="0"/>
            <a:chExt cx="21640893" cy="1031240"/>
          </a:xfrm>
        </p:grpSpPr>
        <p:sp>
          <p:nvSpPr>
            <p:cNvPr id="3" name="TextBox 3"/>
            <p:cNvSpPr txBox="1"/>
            <p:nvPr/>
          </p:nvSpPr>
          <p:spPr>
            <a:xfrm>
              <a:off x="47" y="-95250"/>
              <a:ext cx="13424098" cy="1062990"/>
            </a:xfrm>
            <a:prstGeom prst="rect">
              <a:avLst/>
            </a:prstGeom>
          </p:spPr>
          <p:txBody>
            <a:bodyPr lIns="0" tIns="0" rIns="0" bIns="0" rtlCol="0" anchor="t">
              <a:spAutoFit/>
            </a:bodyPr>
            <a:lstStyle/>
            <a:p>
              <a:pPr>
                <a:lnSpc>
                  <a:spcPts val="6719"/>
                </a:lnSpc>
              </a:pPr>
              <a:r>
                <a:rPr lang="en-US" sz="4800">
                  <a:solidFill>
                    <a:srgbClr val="1D1D1F"/>
                  </a:solidFill>
                  <a:latin typeface="Raleway Heavy"/>
                </a:rPr>
                <a:t>ADDITIONAL REFERENCES</a:t>
              </a:r>
            </a:p>
          </p:txBody>
        </p:sp>
        <p:sp>
          <p:nvSpPr>
            <p:cNvPr id="4" name="AutoShape 4"/>
            <p:cNvSpPr/>
            <p:nvPr/>
          </p:nvSpPr>
          <p:spPr>
            <a:xfrm flipV="1">
              <a:off x="47" y="967740"/>
              <a:ext cx="21640800" cy="31750"/>
            </a:xfrm>
            <a:prstGeom prst="line">
              <a:avLst/>
            </a:prstGeom>
            <a:ln w="63500" cap="flat">
              <a:solidFill>
                <a:srgbClr val="A28231"/>
              </a:solidFill>
              <a:prstDash val="solid"/>
              <a:headEnd type="none" w="sm" len="sm"/>
              <a:tailEnd type="none" w="sm" len="sm"/>
            </a:ln>
          </p:spPr>
          <p:txBody>
            <a:bodyPr/>
            <a:lstStyle/>
            <a:p>
              <a:endParaRPr lang="en-GB"/>
            </a:p>
          </p:txBody>
        </p:sp>
      </p:grpSp>
      <p:sp>
        <p:nvSpPr>
          <p:cNvPr id="5" name="TextBox 5"/>
          <p:cNvSpPr txBox="1"/>
          <p:nvPr/>
        </p:nvSpPr>
        <p:spPr>
          <a:xfrm>
            <a:off x="1028735" y="1111142"/>
            <a:ext cx="17259265" cy="4180840"/>
          </a:xfrm>
          <a:prstGeom prst="rect">
            <a:avLst/>
          </a:prstGeom>
        </p:spPr>
        <p:txBody>
          <a:bodyPr lIns="0" tIns="0" rIns="0" bIns="0" rtlCol="0" anchor="t">
            <a:spAutoFit/>
          </a:bodyPr>
          <a:lstStyle/>
          <a:p>
            <a:pPr>
              <a:lnSpc>
                <a:spcPts val="4759"/>
              </a:lnSpc>
            </a:pPr>
            <a:r>
              <a:rPr lang="en-US" sz="3399">
                <a:solidFill>
                  <a:srgbClr val="1D1D1F"/>
                </a:solidFill>
                <a:latin typeface="Canva Sans"/>
              </a:rPr>
              <a:t>https://www.geturbanleaf.com/blogs/fruit/growing-avocado-indoors#:~:text=In%20order%20to%20provide%20an,500%20%CE%BCmol%2Fm%C2%B2%2Fs. </a:t>
            </a:r>
          </a:p>
          <a:p>
            <a:pPr>
              <a:lnSpc>
                <a:spcPts val="4759"/>
              </a:lnSpc>
            </a:pPr>
            <a:r>
              <a:rPr lang="en-US" sz="3399">
                <a:solidFill>
                  <a:srgbClr val="1D1D1F"/>
                </a:solidFill>
                <a:latin typeface="Canva Sans"/>
              </a:rPr>
              <a:t>conversion: https://www.waveformlighting.com/horticulture/convert-ppfd-to-lux-online-calculator</a:t>
            </a:r>
          </a:p>
          <a:p>
            <a:pPr>
              <a:lnSpc>
                <a:spcPts val="4759"/>
              </a:lnSpc>
            </a:pPr>
            <a:endParaRPr lang="en-US" sz="3399">
              <a:solidFill>
                <a:srgbClr val="1D1D1F"/>
              </a:solidFill>
              <a:latin typeface="Canva Sans"/>
            </a:endParaRPr>
          </a:p>
          <a:p>
            <a:pPr>
              <a:lnSpc>
                <a:spcPts val="4759"/>
              </a:lnSpc>
            </a:pPr>
            <a:endParaRPr lang="en-US" sz="3399">
              <a:solidFill>
                <a:srgbClr val="1D1D1F"/>
              </a:solidFill>
              <a:latin typeface="Canva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1973</Words>
  <Application>Microsoft Office PowerPoint</Application>
  <PresentationFormat>Custom</PresentationFormat>
  <Paragraphs>255</Paragraphs>
  <Slides>26</Slides>
  <Notes>11</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Greenhouse</dc:title>
  <cp:lastModifiedBy>Fraser Mclellan (student)</cp:lastModifiedBy>
  <cp:revision>40</cp:revision>
  <dcterms:created xsi:type="dcterms:W3CDTF">2006-08-16T00:00:00Z</dcterms:created>
  <dcterms:modified xsi:type="dcterms:W3CDTF">2024-03-16T21:38:37Z</dcterms:modified>
  <dc:identifier>DAF-RyMl858</dc:identifier>
</cp:coreProperties>
</file>